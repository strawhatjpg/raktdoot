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RaktDoot means 'messenger of blood'. Hook: India collects record blood, yet lakhs of units expire while families scramble. Families request in the RaktDoot app; donors are reached on WhatsApp, where they already are; staff verify and close every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paradox: India now collects about 1.58 crore units, more than the estimated 1.46 crore it needs, yet 17.4 lakh components were thrown away in 2025, mostly because they expired. 1 in 10 districts has no blood centre, and in the north almost 4 in 10 people can't reach blood within the golden hour. Accident victims and mothers with haemorrhage pay the price. The gap isn't only supply. It's getting the right unit to the right patient at the right time.
BEFORE PRESENTING: re-check the road-death figure against the latest MoRTH report (2023 report: ~1.73 lakh) and the 38% maternal haemorrhage share (Million Death Study, 2001-03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eRaktKosh exists and collection is at a record high. But the ministry itself flagged that many centres don't update eRaktKosh in real time. It also told Parliament it had received no reports of regional shortages, which points to a reporting gap. What's missing is a coordination layer between the portal and the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3 AM story. Each step is a real failure: stale info, spam appeals, donor fatigue, no closure. End on the root cause: coordination, not just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Vision statement. Pause after the headline. Three principles guide every design decision: accessible, trustworthy, respectful.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backend, three audiences, each on the channel that suits them: families request through the RaktDoot app, donors are reached on WhatsApp where they already are, and staff use a web dashboard. Every donation ends at a licensed blood 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pitch. Spend time here. Six design choices, each a deliberate answer to a failure in the current system. Points 3 and 5 build trust; points 1 and 6 make it accessible.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right column only. Benefits for families (speed, language), donors (respect, no spam, privacy) and the system (fewer wasted units through forecasting).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request lifecycle in packages/shared/src/lifecycle.ts, already implemented and unit-tested. DRAFT → AWAITING_CONFIRMATION → OPEN → CENTRES_LISTED → STOCK_CONFIRMED | OUTREACH_ACTIVE → DONOR_ACCEPTED → DONOR_ARRIVED → DONATION_CONFIRMED → CLOSED.
Multilingual: the AI only handles language (detect, transcribe, extract, normalise, translate). Safety-critical replies come from reviewed translation strings, and accuracy is measured per field with the evals/multilingual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Matching uses rules, not a black box. Weights from docs/PIPELINES.md. Waves protect donors from fatigue; stand-down messages stop appeals once the need is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Forecast → Copilot briefing → proposed campaign → coordinator approves → opted-in eligible donors. Cline was used to build the project AND runs inside the product through the Cline SDK.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and partners need to trust this. Every point here is a written policy in docs/SAFETY_PRIVACY.md and docs/REWARDS_POLICY.md, and several are enforced in code (verification gate, closer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Three experience channels, one for each user: the app for families, WhatsApp for donors, a console for staff. They all hit one secure API layer (auth, role-based access, validation, rate limits, signed WhatsApp webhooks). Behind it sit the core domain services, which call the intelligence layer: GenAI for language, predictive ML for demand forecasting, and the agentic Copilot built on the Cline SDK. The bottom rail is the foundation: a relational DB through Prisma, an async worker for timers and reminders, a shared TypeScript domain core that's already unit-tested, a consent ledger and audit log, and free-tier cloud hosting.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AI pillars. 1) Multilingual intake turns free-form text or voice in any supported language into a validated request. 2) Predictive analytics forecasts weekly demand ranges and shortage risk. 3) The agentic Copilot, built with the Cline SDK, answers coordinator questions using typed tools and only drafts actions; a person approves every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status: foundation stage. The shared rules are implemented and tested; the app, bot and forecast service are built in the hackathon coding phase. Challenges come from docs/CHALLENGES.md.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scope. eRaktKosh live sync and ABHA linkage need official partnerships; we design for them but don't claim them today. Expiry-based redistribution directly targets the 17.4 lakh discarded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ask: pilot partners. Then go to the live demo or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in the appendix. Re-check the latest figures before the final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0A1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102E"/>
          </a:solidFill>
          <a:ln w="12700">
            <a:solidFill>
              <a:srgbClr val="C8102E"/>
            </a:solidFill>
            <a:prstDash val="solid"/>
          </a:ln>
        </p:spPr>
      </p:sp>
      <p:sp>
        <p:nvSpPr>
          <p:cNvPr id="3" name="Text 1"/>
          <p:cNvSpPr/>
          <p:nvPr/>
        </p:nvSpPr>
        <p:spPr>
          <a:xfrm>
            <a:off x="411480" y="6446520"/>
            <a:ext cx="2743200" cy="274320"/>
          </a:xfrm>
          <a:prstGeom prst="rect">
            <a:avLst/>
          </a:prstGeom>
          <a:noFill/>
          <a:ln/>
        </p:spPr>
        <p:txBody>
          <a:bodyPr wrap="square" rtlCol="0" anchor="ctr"/>
          <a:lstStyle/>
          <a:p>
            <a:pPr indent="0" marL="0">
              <a:buNone/>
            </a:pPr>
            <a:r>
              <a:rPr lang="en-US" sz="1000" b="1" dirty="0">
                <a:solidFill>
                  <a:srgbClr val="F4A259"/>
                </a:solidFill>
                <a:latin typeface="Segoe UI" pitchFamily="34" charset="0"/>
                <a:ea typeface="Segoe UI" pitchFamily="34" charset="-122"/>
                <a:cs typeface="Segoe UI" pitchFamily="34" charset="-120"/>
              </a:rPr>
              <a:t>RaktDoot</a:t>
            </a:r>
            <a:endParaRPr lang="en-US" sz="1000" dirty="0"/>
          </a:p>
        </p:txBody>
      </p:sp>
      <p:sp>
        <p:nvSpPr>
          <p:cNvPr id="4" name="Text 2"/>
          <p:cNvSpPr/>
          <p:nvPr/>
        </p:nvSpPr>
        <p:spPr>
          <a:xfrm>
            <a:off x="11277295" y="6446520"/>
            <a:ext cx="548640" cy="274320"/>
          </a:xfrm>
          <a:prstGeom prst="rect">
            <a:avLst/>
          </a:prstGeom>
          <a:noFill/>
          <a:ln/>
        </p:spPr>
        <p:txBody>
          <a:bodyPr wrap="square" rtlCol="0" anchor="ctr"/>
          <a:lstStyle/>
          <a:p>
            <a:pPr algn="r" indent="0" marL="0">
              <a:buNone/>
            </a:pPr>
            <a:r>
              <a:rPr lang="en-US" sz="1000" dirty="0">
                <a:solidFill>
                  <a:srgbClr val="BBBBBB"/>
                </a:solidFill>
                <a:latin typeface="Segoe UI" pitchFamily="34" charset="0"/>
                <a:ea typeface="Segoe UI" pitchFamily="34" charset="-122"/>
                <a:cs typeface="Segoe UI" pitchFamily="34" charset="-120"/>
              </a:rPr>
              <a:t>1</a:t>
            </a:r>
            <a:endParaRPr lang="en-US" sz="1000" dirty="0"/>
          </a:p>
        </p:txBody>
      </p:sp>
      <p:sp>
        <p:nvSpPr>
          <p:cNvPr id="5" name="Shape 3"/>
          <p:cNvSpPr/>
          <p:nvPr/>
        </p:nvSpPr>
        <p:spPr>
          <a:xfrm>
            <a:off x="6629400" y="594360"/>
            <a:ext cx="5852160" cy="5852160"/>
          </a:xfrm>
          <a:prstGeom prst="ellipse">
            <a:avLst/>
          </a:prstGeom>
          <a:solidFill>
            <a:srgbClr val="C8102E">
              <a:alpha val="12000"/>
            </a:srgbClr>
          </a:solidFill>
          <a:ln w="12700">
            <a:solidFill>
              <a:srgbClr val="C8102E">
                <a:alpha val="0"/>
              </a:srgbClr>
            </a:solidFill>
            <a:prstDash val="solid"/>
          </a:ln>
        </p:spPr>
      </p:sp>
      <p:sp>
        <p:nvSpPr>
          <p:cNvPr id="6" name="Shape 4"/>
          <p:cNvSpPr/>
          <p:nvPr/>
        </p:nvSpPr>
        <p:spPr>
          <a:xfrm>
            <a:off x="7269480" y="1234440"/>
            <a:ext cx="4572000" cy="4572000"/>
          </a:xfrm>
          <a:prstGeom prst="ellipse">
            <a:avLst/>
          </a:prstGeom>
          <a:solidFill>
            <a:srgbClr val="C8102E">
              <a:alpha val="20000"/>
            </a:srgbClr>
          </a:solidFill>
          <a:ln w="12700">
            <a:solidFill>
              <a:srgbClr val="C8102E">
                <a:alpha val="0"/>
              </a:srgbClr>
            </a:solidFill>
            <a:prstDash val="solid"/>
          </a:ln>
        </p:spPr>
      </p:sp>
      <p:sp>
        <p:nvSpPr>
          <p:cNvPr id="7" name="Shape 5"/>
          <p:cNvSpPr/>
          <p:nvPr/>
        </p:nvSpPr>
        <p:spPr>
          <a:xfrm>
            <a:off x="7818120" y="1783080"/>
            <a:ext cx="3474720" cy="3474720"/>
          </a:xfrm>
          <a:prstGeom prst="ellipse">
            <a:avLst/>
          </a:prstGeom>
          <a:solidFill>
            <a:srgbClr val="C8102E">
              <a:alpha val="32000"/>
            </a:srgbClr>
          </a:solidFill>
          <a:ln w="12700">
            <a:solidFill>
              <a:srgbClr val="C8102E">
                <a:alpha val="0"/>
              </a:srgbClr>
            </a:solidFill>
            <a:prstDash val="solid"/>
          </a:ln>
        </p:spPr>
      </p:sp>
      <p:sp>
        <p:nvSpPr>
          <p:cNvPr id="8" name="Shape 6"/>
          <p:cNvSpPr/>
          <p:nvPr/>
        </p:nvSpPr>
        <p:spPr>
          <a:xfrm>
            <a:off x="7040880" y="1005840"/>
            <a:ext cx="5029200" cy="5029200"/>
          </a:xfrm>
          <a:prstGeom prst="ellipse">
            <a:avLst/>
          </a:prstGeom>
          <a:noFill/>
          <a:ln w="9525">
            <a:solidFill>
              <a:srgbClr val="F4A259">
                <a:alpha val="45000"/>
              </a:srgbClr>
            </a:solidFill>
            <a:prstDash val="dash"/>
          </a:ln>
        </p:spPr>
      </p:sp>
      <p:sp>
        <p:nvSpPr>
          <p:cNvPr id="9" name="Shape 7"/>
          <p:cNvSpPr/>
          <p:nvPr/>
        </p:nvSpPr>
        <p:spPr>
          <a:xfrm>
            <a:off x="8229600" y="1417320"/>
            <a:ext cx="2651760" cy="3566160"/>
          </a:xfrm>
          <a:custGeom>
            <a:avLst/>
            <a:gdLst/>
            <a:ahLst/>
            <a:cxnLst/>
            <a:rect l="l" t="t" r="r" b="b"/>
            <a:pathLst>
              <a:path w="2651760" h="3566160">
                <a:moveTo>
                  <a:pt x="1325880" y="0"/>
                </a:moveTo>
                <a:cubicBezTo>
                  <a:pt x="1644091" y="713232"/>
                  <a:pt x="2651760" y="1497787"/>
                  <a:pt x="2651760" y="2282342"/>
                </a:cubicBezTo>
                <a:cubicBezTo>
                  <a:pt x="2651760" y="3066898"/>
                  <a:pt x="2094890" y="3566160"/>
                  <a:pt x="1325880" y="3566160"/>
                </a:cubicBezTo>
                <a:cubicBezTo>
                  <a:pt x="556870" y="3566160"/>
                  <a:pt x="0" y="3066898"/>
                  <a:pt x="0" y="2282342"/>
                </a:cubicBezTo>
                <a:cubicBezTo>
                  <a:pt x="0" y="1497787"/>
                  <a:pt x="1007669" y="713232"/>
                  <a:pt x="1325880" y="0"/>
                </a:cubicBezTo>
                <a:close/>
              </a:path>
            </a:pathLst>
          </a:custGeom>
          <a:solidFill>
            <a:srgbClr val="C8102E"/>
          </a:solidFill>
          <a:ln w="12700">
            <a:solidFill>
              <a:srgbClr val="C8102E"/>
            </a:solidFill>
            <a:prstDash val="solid"/>
          </a:ln>
          <a:effectLst>
            <a:outerShdw sx="100000" sy="100000" kx="0" ky="0" algn="bl" rotWithShape="0" blurRad="228600" dist="76200" dir="5400000">
              <a:srgbClr val="000000">
                <a:alpha val="45000"/>
              </a:srgbClr>
            </a:outerShdw>
          </a:effectLst>
        </p:spPr>
      </p:sp>
      <p:sp>
        <p:nvSpPr>
          <p:cNvPr id="10" name="Shape 8"/>
          <p:cNvSpPr/>
          <p:nvPr/>
        </p:nvSpPr>
        <p:spPr>
          <a:xfrm rot="900000">
            <a:off x="8759952" y="3200400"/>
            <a:ext cx="424282" cy="927202"/>
          </a:xfrm>
          <a:prstGeom prst="ellipse">
            <a:avLst/>
          </a:prstGeom>
          <a:solidFill>
            <a:srgbClr val="FFFFFF">
              <a:alpha val="30000"/>
            </a:srgbClr>
          </a:solidFill>
          <a:ln w="12700">
            <a:solidFill>
              <a:srgbClr val="FFFFFF">
                <a:alpha val="0"/>
              </a:srgbClr>
            </a:solidFill>
            <a:prstDash val="solid"/>
          </a:ln>
        </p:spPr>
      </p:sp>
      <p:sp>
        <p:nvSpPr>
          <p:cNvPr id="11" name="Shape 9"/>
          <p:cNvSpPr/>
          <p:nvPr/>
        </p:nvSpPr>
        <p:spPr>
          <a:xfrm>
            <a:off x="8866022" y="4270248"/>
            <a:ext cx="185623" cy="185623"/>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7223760" y="2880360"/>
            <a:ext cx="4965192" cy="1463040"/>
          </a:xfrm>
          <a:custGeom>
            <a:avLst/>
            <a:gdLst/>
            <a:ahLst/>
            <a:cxnLst/>
            <a:rect l="l" t="t" r="r" b="b"/>
            <a:pathLst>
              <a:path w="4965192" h="1463040">
                <a:moveTo>
                  <a:pt x="0" y="868680"/>
                </a:moveTo>
                <a:lnTo>
                  <a:pt x="914400" y="868680"/>
                </a:lnTo>
                <a:lnTo>
                  <a:pt x="1143000" y="640080"/>
                </a:lnTo>
                <a:lnTo>
                  <a:pt x="1371600" y="868680"/>
                </a:lnTo>
                <a:lnTo>
                  <a:pt x="1874520" y="868680"/>
                </a:lnTo>
                <a:lnTo>
                  <a:pt x="2057400" y="1325880"/>
                </a:lnTo>
                <a:lnTo>
                  <a:pt x="2331720" y="0"/>
                </a:lnTo>
                <a:lnTo>
                  <a:pt x="2606040" y="1463040"/>
                </a:lnTo>
                <a:lnTo>
                  <a:pt x="2834640" y="868680"/>
                </a:lnTo>
                <a:lnTo>
                  <a:pt x="3291840" y="868680"/>
                </a:lnTo>
                <a:lnTo>
                  <a:pt x="3520440" y="640080"/>
                </a:lnTo>
                <a:lnTo>
                  <a:pt x="3749040" y="868680"/>
                </a:lnTo>
                <a:lnTo>
                  <a:pt x="4965192" y="868680"/>
                </a:lnTo>
              </a:path>
            </a:pathLst>
          </a:custGeom>
          <a:noFill/>
          <a:ln w="38100">
            <a:solidFill>
              <a:srgbClr val="FFFFFF"/>
            </a:solidFill>
            <a:prstDash val="solid"/>
          </a:ln>
        </p:spPr>
      </p:sp>
      <p:sp>
        <p:nvSpPr>
          <p:cNvPr id="13" name="Text 11"/>
          <p:cNvSpPr/>
          <p:nvPr/>
        </p:nvSpPr>
        <p:spPr>
          <a:xfrm>
            <a:off x="640080" y="685800"/>
            <a:ext cx="6400800" cy="320040"/>
          </a:xfrm>
          <a:prstGeom prst="rect">
            <a:avLst/>
          </a:prstGeom>
          <a:noFill/>
          <a:ln/>
        </p:spPr>
        <p:txBody>
          <a:bodyPr wrap="square" rtlCol="0" anchor="ctr"/>
          <a:lstStyle/>
          <a:p>
            <a:pPr indent="0" marL="0">
              <a:buNone/>
            </a:pPr>
            <a:r>
              <a:rPr lang="en-US" sz="1200" b="1" spc="300" kern="0" dirty="0">
                <a:solidFill>
                  <a:srgbClr val="F4A259"/>
                </a:solidFill>
                <a:latin typeface="Segoe UI" pitchFamily="34" charset="0"/>
                <a:ea typeface="Segoe UI" pitchFamily="34" charset="-122"/>
                <a:cs typeface="Segoe UI" pitchFamily="34" charset="-120"/>
              </a:rPr>
              <a:t>CLINE AI BUILDER HACKATHON  ·  ROUND 2</a:t>
            </a:r>
            <a:endParaRPr lang="en-US" sz="1200" dirty="0"/>
          </a:p>
        </p:txBody>
      </p:sp>
      <p:sp>
        <p:nvSpPr>
          <p:cNvPr id="14" name="Text 12"/>
          <p:cNvSpPr/>
          <p:nvPr/>
        </p:nvSpPr>
        <p:spPr>
          <a:xfrm>
            <a:off x="566928" y="1097280"/>
            <a:ext cx="6400800" cy="1234440"/>
          </a:xfrm>
          <a:prstGeom prst="rect">
            <a:avLst/>
          </a:prstGeom>
          <a:noFill/>
          <a:ln/>
        </p:spPr>
        <p:txBody>
          <a:bodyPr wrap="square" rtlCol="0" anchor="ctr"/>
          <a:lstStyle/>
          <a:p>
            <a:pPr indent="0" marL="0">
              <a:buNone/>
            </a:pPr>
            <a:r>
              <a:rPr lang="en-US" sz="8000" b="1" dirty="0">
                <a:solidFill>
                  <a:srgbClr val="FFFFFF"/>
                </a:solidFill>
                <a:latin typeface="Segoe UI" pitchFamily="34" charset="0"/>
                <a:ea typeface="Segoe UI" pitchFamily="34" charset="-122"/>
                <a:cs typeface="Segoe UI" pitchFamily="34" charset="-120"/>
              </a:rPr>
              <a:t>Rakt</a:t>
            </a:r>
            <a:pPr indent="0" marL="0">
              <a:buNone/>
            </a:pPr>
            <a:r>
              <a:rPr lang="en-US" sz="8000" b="1" dirty="0">
                <a:solidFill>
                  <a:srgbClr val="C8102E"/>
                </a:solidFill>
                <a:latin typeface="Segoe UI" pitchFamily="34" charset="0"/>
                <a:ea typeface="Segoe UI" pitchFamily="34" charset="-122"/>
                <a:cs typeface="Segoe UI" pitchFamily="34" charset="-120"/>
              </a:rPr>
              <a:t>Doot</a:t>
            </a:r>
            <a:endParaRPr lang="en-US" sz="8000" dirty="0"/>
          </a:p>
        </p:txBody>
      </p:sp>
      <p:sp>
        <p:nvSpPr>
          <p:cNvPr id="15" name="Text 13"/>
          <p:cNvSpPr/>
          <p:nvPr/>
        </p:nvSpPr>
        <p:spPr>
          <a:xfrm>
            <a:off x="640080" y="2286000"/>
            <a:ext cx="6400800" cy="411480"/>
          </a:xfrm>
          <a:prstGeom prst="rect">
            <a:avLst/>
          </a:prstGeom>
          <a:noFill/>
          <a:ln/>
        </p:spPr>
        <p:txBody>
          <a:bodyPr wrap="square" rtlCol="0" anchor="ctr"/>
          <a:lstStyle/>
          <a:p>
            <a:pPr indent="0" marL="0">
              <a:buNone/>
            </a:pPr>
            <a:r>
              <a:rPr lang="en-US" sz="1800" dirty="0">
                <a:solidFill>
                  <a:srgbClr val="F4A259"/>
                </a:solidFill>
                <a:latin typeface="Segoe UI" pitchFamily="34" charset="0"/>
                <a:ea typeface="Segoe UI" pitchFamily="34" charset="-122"/>
                <a:cs typeface="Segoe UI" pitchFamily="34" charset="-120"/>
              </a:rPr>
              <a:t>रक्तदूत  —  the messenger of blood</a:t>
            </a:r>
            <a:endParaRPr lang="en-US" sz="1800" dirty="0"/>
          </a:p>
        </p:txBody>
      </p:sp>
      <p:sp>
        <p:nvSpPr>
          <p:cNvPr id="16" name="Text 14"/>
          <p:cNvSpPr/>
          <p:nvPr/>
        </p:nvSpPr>
        <p:spPr>
          <a:xfrm>
            <a:off x="640080" y="2926080"/>
            <a:ext cx="6400800" cy="548640"/>
          </a:xfrm>
          <a:prstGeom prst="rect">
            <a:avLst/>
          </a:prstGeom>
          <a:noFill/>
          <a:ln/>
        </p:spPr>
        <p:txBody>
          <a:bodyPr wrap="square" rtlCol="0" anchor="ctr"/>
          <a:lstStyle/>
          <a:p>
            <a:pPr indent="0" marL="0">
              <a:buNone/>
            </a:pPr>
            <a:r>
              <a:rPr lang="en-US" sz="2800" b="1" dirty="0">
                <a:solidFill>
                  <a:srgbClr val="FFFFFF"/>
                </a:solidFill>
                <a:latin typeface="Segoe UI" pitchFamily="34" charset="0"/>
                <a:ea typeface="Segoe UI" pitchFamily="34" charset="-122"/>
                <a:cs typeface="Segoe UI" pitchFamily="34" charset="-120"/>
              </a:rPr>
              <a:t>Right blood. Right place. Right time.</a:t>
            </a:r>
            <a:endParaRPr lang="en-US" sz="2800" dirty="0"/>
          </a:p>
        </p:txBody>
      </p:sp>
      <p:sp>
        <p:nvSpPr>
          <p:cNvPr id="17" name="Text 15"/>
          <p:cNvSpPr/>
          <p:nvPr/>
        </p:nvSpPr>
        <p:spPr>
          <a:xfrm>
            <a:off x="640080" y="3474720"/>
            <a:ext cx="6035040" cy="731520"/>
          </a:xfrm>
          <a:prstGeom prst="rect">
            <a:avLst/>
          </a:prstGeom>
          <a:noFill/>
          <a:ln/>
        </p:spPr>
        <p:txBody>
          <a:bodyPr wrap="square" rtlCol="0" anchor="ctr"/>
          <a:lstStyle/>
          <a:p>
            <a:pPr indent="0" marL="0">
              <a:buNone/>
            </a:pPr>
            <a:r>
              <a:rPr lang="en-US" sz="1500" dirty="0">
                <a:solidFill>
                  <a:srgbClr val="CCCCCC"/>
                </a:solidFill>
                <a:latin typeface="Segoe UI" pitchFamily="34" charset="0"/>
                <a:ea typeface="Segoe UI" pitchFamily="34" charset="-122"/>
                <a:cs typeface="Segoe UI" pitchFamily="34" charset="-120"/>
              </a:rPr>
              <a:t>An AI-powered coordination layer that connects families, donors and licensed blood centres, from request to confirmed donation.</a:t>
            </a:r>
            <a:endParaRPr lang="en-US" sz="1500" dirty="0"/>
          </a:p>
        </p:txBody>
      </p:sp>
      <p:sp>
        <p:nvSpPr>
          <p:cNvPr id="18" name="Text 16"/>
          <p:cNvSpPr/>
          <p:nvPr/>
        </p:nvSpPr>
        <p:spPr>
          <a:xfrm>
            <a:off x="640080" y="4370832"/>
            <a:ext cx="1920240" cy="502920"/>
          </a:xfrm>
          <a:prstGeom prst="rect">
            <a:avLst/>
          </a:prstGeom>
          <a:noFill/>
          <a:ln/>
        </p:spPr>
        <p:txBody>
          <a:bodyPr wrap="square" rtlCol="0" anchor="ctr"/>
          <a:lstStyle/>
          <a:p>
            <a:pPr indent="0" marL="0">
              <a:buNone/>
            </a:pPr>
            <a:r>
              <a:rPr lang="en-US" sz="2600" b="1" dirty="0">
                <a:solidFill>
                  <a:srgbClr val="C8102E"/>
                </a:solidFill>
                <a:latin typeface="Segoe UI" pitchFamily="34" charset="0"/>
                <a:ea typeface="Segoe UI" pitchFamily="34" charset="-122"/>
                <a:cs typeface="Segoe UI" pitchFamily="34" charset="-120"/>
              </a:rPr>
              <a:t>1.46 Cr</a:t>
            </a:r>
            <a:endParaRPr lang="en-US" sz="2600" dirty="0"/>
          </a:p>
        </p:txBody>
      </p:sp>
      <p:sp>
        <p:nvSpPr>
          <p:cNvPr id="19" name="Text 17"/>
          <p:cNvSpPr/>
          <p:nvPr/>
        </p:nvSpPr>
        <p:spPr>
          <a:xfrm>
            <a:off x="640080" y="4846320"/>
            <a:ext cx="1920240" cy="457200"/>
          </a:xfrm>
          <a:prstGeom prst="rect">
            <a:avLst/>
          </a:prstGeom>
          <a:noFill/>
          <a:ln/>
        </p:spPr>
        <p:txBody>
          <a:bodyPr wrap="square" rtlCol="0" anchor="t"/>
          <a:lstStyle/>
          <a:p>
            <a:pPr indent="0" marL="0">
              <a:buNone/>
            </a:pPr>
            <a:r>
              <a:rPr lang="en-US" sz="1100" dirty="0">
                <a:solidFill>
                  <a:srgbClr val="BBBBBB"/>
                </a:solidFill>
                <a:latin typeface="Segoe UI" pitchFamily="34" charset="0"/>
                <a:ea typeface="Segoe UI" pitchFamily="34" charset="-122"/>
                <a:cs typeface="Segoe UI" pitchFamily="34" charset="-120"/>
              </a:rPr>
              <a:t>units needed / year</a:t>
            </a:r>
            <a:endParaRPr lang="en-US" sz="1100" dirty="0"/>
          </a:p>
        </p:txBody>
      </p:sp>
      <p:sp>
        <p:nvSpPr>
          <p:cNvPr id="20" name="Shape 18"/>
          <p:cNvSpPr/>
          <p:nvPr/>
        </p:nvSpPr>
        <p:spPr>
          <a:xfrm>
            <a:off x="2560320" y="4434840"/>
            <a:ext cx="0" cy="868680"/>
          </a:xfrm>
          <a:prstGeom prst="line">
            <a:avLst/>
          </a:prstGeom>
          <a:noFill/>
          <a:ln w="12700">
            <a:solidFill>
              <a:srgbClr val="6E3540"/>
            </a:solidFill>
            <a:prstDash val="solid"/>
          </a:ln>
        </p:spPr>
      </p:sp>
      <p:sp>
        <p:nvSpPr>
          <p:cNvPr id="21" name="Text 19"/>
          <p:cNvSpPr/>
          <p:nvPr/>
        </p:nvSpPr>
        <p:spPr>
          <a:xfrm>
            <a:off x="2697480" y="4370832"/>
            <a:ext cx="1920240" cy="502920"/>
          </a:xfrm>
          <a:prstGeom prst="rect">
            <a:avLst/>
          </a:prstGeom>
          <a:noFill/>
          <a:ln/>
        </p:spPr>
        <p:txBody>
          <a:bodyPr wrap="square" rtlCol="0" anchor="ctr"/>
          <a:lstStyle/>
          <a:p>
            <a:pPr indent="0" marL="0">
              <a:buNone/>
            </a:pPr>
            <a:r>
              <a:rPr lang="en-US" sz="2600" b="1" dirty="0">
                <a:solidFill>
                  <a:srgbClr val="F4A259"/>
                </a:solidFill>
                <a:latin typeface="Segoe UI" pitchFamily="34" charset="0"/>
                <a:ea typeface="Segoe UI" pitchFamily="34" charset="-122"/>
                <a:cs typeface="Segoe UI" pitchFamily="34" charset="-120"/>
              </a:rPr>
              <a:t>17.4 L</a:t>
            </a:r>
            <a:endParaRPr lang="en-US" sz="2600" dirty="0"/>
          </a:p>
        </p:txBody>
      </p:sp>
      <p:sp>
        <p:nvSpPr>
          <p:cNvPr id="22" name="Text 20"/>
          <p:cNvSpPr/>
          <p:nvPr/>
        </p:nvSpPr>
        <p:spPr>
          <a:xfrm>
            <a:off x="2697480" y="4846320"/>
            <a:ext cx="1920240" cy="457200"/>
          </a:xfrm>
          <a:prstGeom prst="rect">
            <a:avLst/>
          </a:prstGeom>
          <a:noFill/>
          <a:ln/>
        </p:spPr>
        <p:txBody>
          <a:bodyPr wrap="square" rtlCol="0" anchor="t"/>
          <a:lstStyle/>
          <a:p>
            <a:pPr indent="0" marL="0">
              <a:buNone/>
            </a:pPr>
            <a:r>
              <a:rPr lang="en-US" sz="1100" dirty="0">
                <a:solidFill>
                  <a:srgbClr val="BBBBBB"/>
                </a:solidFill>
                <a:latin typeface="Segoe UI" pitchFamily="34" charset="0"/>
                <a:ea typeface="Segoe UI" pitchFamily="34" charset="-122"/>
                <a:cs typeface="Segoe UI" pitchFamily="34" charset="-120"/>
              </a:rPr>
              <a:t>units discarded in 2025</a:t>
            </a:r>
            <a:endParaRPr lang="en-US" sz="1100" dirty="0"/>
          </a:p>
        </p:txBody>
      </p:sp>
      <p:sp>
        <p:nvSpPr>
          <p:cNvPr id="23" name="Shape 21"/>
          <p:cNvSpPr/>
          <p:nvPr/>
        </p:nvSpPr>
        <p:spPr>
          <a:xfrm>
            <a:off x="4617720" y="4434840"/>
            <a:ext cx="0" cy="868680"/>
          </a:xfrm>
          <a:prstGeom prst="line">
            <a:avLst/>
          </a:prstGeom>
          <a:noFill/>
          <a:ln w="12700">
            <a:solidFill>
              <a:srgbClr val="6E3540"/>
            </a:solidFill>
            <a:prstDash val="solid"/>
          </a:ln>
        </p:spPr>
      </p:sp>
      <p:sp>
        <p:nvSpPr>
          <p:cNvPr id="24" name="Text 22"/>
          <p:cNvSpPr/>
          <p:nvPr/>
        </p:nvSpPr>
        <p:spPr>
          <a:xfrm>
            <a:off x="4754880" y="4370832"/>
            <a:ext cx="1920240" cy="502920"/>
          </a:xfrm>
          <a:prstGeom prst="rect">
            <a:avLst/>
          </a:prstGeom>
          <a:noFill/>
          <a:ln/>
        </p:spPr>
        <p:txBody>
          <a:bodyPr wrap="square" rtlCol="0" anchor="ctr"/>
          <a:lstStyle/>
          <a:p>
            <a:pPr indent="0" marL="0">
              <a:buNone/>
            </a:pPr>
            <a:r>
              <a:rPr lang="en-US" sz="2600" b="1" dirty="0">
                <a:solidFill>
                  <a:srgbClr val="C8102E"/>
                </a:solidFill>
                <a:latin typeface="Segoe UI" pitchFamily="34" charset="0"/>
                <a:ea typeface="Segoe UI" pitchFamily="34" charset="-122"/>
                <a:cs typeface="Segoe UI" pitchFamily="34" charset="-120"/>
              </a:rPr>
              <a:t>~10%</a:t>
            </a:r>
            <a:endParaRPr lang="en-US" sz="2600" dirty="0"/>
          </a:p>
        </p:txBody>
      </p:sp>
      <p:sp>
        <p:nvSpPr>
          <p:cNvPr id="25" name="Text 23"/>
          <p:cNvSpPr/>
          <p:nvPr/>
        </p:nvSpPr>
        <p:spPr>
          <a:xfrm>
            <a:off x="4754880" y="4846320"/>
            <a:ext cx="1920240" cy="457200"/>
          </a:xfrm>
          <a:prstGeom prst="rect">
            <a:avLst/>
          </a:prstGeom>
          <a:noFill/>
          <a:ln/>
        </p:spPr>
        <p:txBody>
          <a:bodyPr wrap="square" rtlCol="0" anchor="t"/>
          <a:lstStyle/>
          <a:p>
            <a:pPr indent="0" marL="0">
              <a:buNone/>
            </a:pPr>
            <a:r>
              <a:rPr lang="en-US" sz="1100" dirty="0">
                <a:solidFill>
                  <a:srgbClr val="BBBBBB"/>
                </a:solidFill>
                <a:latin typeface="Segoe UI" pitchFamily="34" charset="0"/>
                <a:ea typeface="Segoe UI" pitchFamily="34" charset="-122"/>
                <a:cs typeface="Segoe UI" pitchFamily="34" charset="-120"/>
              </a:rPr>
              <a:t>districts with no blood centre</a:t>
            </a:r>
            <a:endParaRPr lang="en-US" sz="1100" dirty="0"/>
          </a:p>
        </p:txBody>
      </p:sp>
      <p:sp>
        <p:nvSpPr>
          <p:cNvPr id="26" name="Shape 24"/>
          <p:cNvSpPr/>
          <p:nvPr/>
        </p:nvSpPr>
        <p:spPr>
          <a:xfrm>
            <a:off x="640080" y="5623560"/>
            <a:ext cx="1874520" cy="365760"/>
          </a:xfrm>
          <a:prstGeom prst="roundRect">
            <a:avLst>
              <a:gd name="adj" fmla="val 50000"/>
            </a:avLst>
          </a:prstGeom>
          <a:solidFill>
            <a:srgbClr val="C8102E"/>
          </a:solidFill>
          <a:ln w="12700">
            <a:solidFill>
              <a:srgbClr val="C8102E"/>
            </a:solidFill>
            <a:prstDash val="solid"/>
          </a:ln>
        </p:spPr>
      </p:sp>
      <p:sp>
        <p:nvSpPr>
          <p:cNvPr id="27" name="Text 25"/>
          <p:cNvSpPr/>
          <p:nvPr/>
        </p:nvSpPr>
        <p:spPr>
          <a:xfrm>
            <a:off x="640080" y="5623560"/>
            <a:ext cx="1874520" cy="365760"/>
          </a:xfrm>
          <a:prstGeom prst="rect">
            <a:avLst/>
          </a:prstGeom>
          <a:noFill/>
          <a:ln/>
        </p:spPr>
        <p:txBody>
          <a:bodyPr wrap="square"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 App for requests</a:t>
            </a:r>
            <a:endParaRPr lang="en-US" sz="1100" dirty="0"/>
          </a:p>
        </p:txBody>
      </p:sp>
      <p:sp>
        <p:nvSpPr>
          <p:cNvPr id="28" name="Shape 26"/>
          <p:cNvSpPr/>
          <p:nvPr/>
        </p:nvSpPr>
        <p:spPr>
          <a:xfrm>
            <a:off x="2606040" y="5623560"/>
            <a:ext cx="2103120" cy="365760"/>
          </a:xfrm>
          <a:prstGeom prst="roundRect">
            <a:avLst>
              <a:gd name="adj" fmla="val 50000"/>
            </a:avLst>
          </a:prstGeom>
          <a:solidFill>
            <a:srgbClr val="1F8A70"/>
          </a:solidFill>
          <a:ln w="12700">
            <a:solidFill>
              <a:srgbClr val="1F8A70"/>
            </a:solidFill>
            <a:prstDash val="solid"/>
          </a:ln>
        </p:spPr>
      </p:sp>
      <p:sp>
        <p:nvSpPr>
          <p:cNvPr id="29" name="Text 27"/>
          <p:cNvSpPr/>
          <p:nvPr/>
        </p:nvSpPr>
        <p:spPr>
          <a:xfrm>
            <a:off x="2606040" y="5623560"/>
            <a:ext cx="2103120" cy="365760"/>
          </a:xfrm>
          <a:prstGeom prst="rect">
            <a:avLst/>
          </a:prstGeom>
          <a:noFill/>
          <a:ln/>
        </p:spPr>
        <p:txBody>
          <a:bodyPr wrap="square"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 WhatsApp for donors</a:t>
            </a:r>
            <a:endParaRPr lang="en-US" sz="1100" dirty="0"/>
          </a:p>
        </p:txBody>
      </p:sp>
      <p:sp>
        <p:nvSpPr>
          <p:cNvPr id="30" name="Shape 28"/>
          <p:cNvSpPr/>
          <p:nvPr/>
        </p:nvSpPr>
        <p:spPr>
          <a:xfrm>
            <a:off x="4800600" y="5623560"/>
            <a:ext cx="2057400" cy="365760"/>
          </a:xfrm>
          <a:prstGeom prst="roundRect">
            <a:avLst>
              <a:gd name="adj" fmla="val 50000"/>
            </a:avLst>
          </a:prstGeom>
          <a:solidFill>
            <a:srgbClr val="F4A259"/>
          </a:solidFill>
          <a:ln w="12700">
            <a:solidFill>
              <a:srgbClr val="F4A259"/>
            </a:solidFill>
            <a:prstDash val="solid"/>
          </a:ln>
        </p:spPr>
      </p:sp>
      <p:sp>
        <p:nvSpPr>
          <p:cNvPr id="31" name="Text 29"/>
          <p:cNvSpPr/>
          <p:nvPr/>
        </p:nvSpPr>
        <p:spPr>
          <a:xfrm>
            <a:off x="4800600" y="5623560"/>
            <a:ext cx="2057400" cy="365760"/>
          </a:xfrm>
          <a:prstGeom prst="rect">
            <a:avLst/>
          </a:prstGeom>
          <a:noFill/>
          <a:ln/>
        </p:spPr>
        <p:txBody>
          <a:bodyPr wrap="square" rtlCol="0" anchor="ctr"/>
          <a:lstStyle/>
          <a:p>
            <a:pPr algn="ctr" indent="0" marL="0">
              <a:buNone/>
            </a:pPr>
            <a:r>
              <a:rPr lang="en-US" sz="1100" b="1" dirty="0">
                <a:solidFill>
                  <a:srgbClr val="2B0A10"/>
                </a:solidFill>
                <a:latin typeface="Segoe UI" pitchFamily="34" charset="0"/>
                <a:ea typeface="Segoe UI" pitchFamily="34" charset="-122"/>
                <a:cs typeface="Segoe UI" pitchFamily="34" charset="-120"/>
              </a:rPr>
              <a:t>🤖 AI + human-verified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B0A1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102E"/>
          </a:solidFill>
          <a:ln w="12700">
            <a:solidFill>
              <a:srgbClr val="C8102E"/>
            </a:solidFill>
            <a:prstDash val="solid"/>
          </a:ln>
        </p:spPr>
      </p:sp>
      <p:sp>
        <p:nvSpPr>
          <p:cNvPr id="3" name="Text 1"/>
          <p:cNvSpPr/>
          <p:nvPr/>
        </p:nvSpPr>
        <p:spPr>
          <a:xfrm>
            <a:off x="411480" y="6446520"/>
            <a:ext cx="2743200" cy="274320"/>
          </a:xfrm>
          <a:prstGeom prst="rect">
            <a:avLst/>
          </a:prstGeom>
          <a:noFill/>
          <a:ln/>
        </p:spPr>
        <p:txBody>
          <a:bodyPr wrap="square" rtlCol="0" anchor="ctr"/>
          <a:lstStyle/>
          <a:p>
            <a:pPr indent="0" marL="0">
              <a:buNone/>
            </a:pPr>
            <a:r>
              <a:rPr lang="en-US" sz="1000" b="1" dirty="0">
                <a:solidFill>
                  <a:srgbClr val="F4A259"/>
                </a:solidFill>
                <a:latin typeface="Segoe UI" pitchFamily="34" charset="0"/>
                <a:ea typeface="Segoe UI" pitchFamily="34" charset="-122"/>
                <a:cs typeface="Segoe UI" pitchFamily="34" charset="-120"/>
              </a:rPr>
              <a:t>RaktDoot</a:t>
            </a:r>
            <a:endParaRPr lang="en-US" sz="1000" dirty="0"/>
          </a:p>
        </p:txBody>
      </p:sp>
      <p:sp>
        <p:nvSpPr>
          <p:cNvPr id="4" name="Text 2"/>
          <p:cNvSpPr/>
          <p:nvPr/>
        </p:nvSpPr>
        <p:spPr>
          <a:xfrm>
            <a:off x="11277295" y="6446520"/>
            <a:ext cx="548640" cy="274320"/>
          </a:xfrm>
          <a:prstGeom prst="rect">
            <a:avLst/>
          </a:prstGeom>
          <a:noFill/>
          <a:ln/>
        </p:spPr>
        <p:txBody>
          <a:bodyPr wrap="square" rtlCol="0" anchor="ctr"/>
          <a:lstStyle/>
          <a:p>
            <a:pPr algn="r" indent="0" marL="0">
              <a:buNone/>
            </a:pPr>
            <a:r>
              <a:rPr lang="en-US" sz="1000" dirty="0">
                <a:solidFill>
                  <a:srgbClr val="BBBBBB"/>
                </a:solidFill>
                <a:latin typeface="Segoe UI" pitchFamily="34" charset="0"/>
                <a:ea typeface="Segoe UI" pitchFamily="34" charset="-122"/>
                <a:cs typeface="Segoe UI" pitchFamily="34" charset="-120"/>
              </a:rPr>
              <a:t>2</a:t>
            </a:r>
            <a:endParaRPr lang="en-US" sz="1000" dirty="0"/>
          </a:p>
        </p:txBody>
      </p:sp>
      <p:sp>
        <p:nvSpPr>
          <p:cNvPr id="5" name="Text 3"/>
          <p:cNvSpPr/>
          <p:nvPr/>
        </p:nvSpPr>
        <p:spPr>
          <a:xfrm>
            <a:off x="548640" y="320040"/>
            <a:ext cx="9144000" cy="320040"/>
          </a:xfrm>
          <a:prstGeom prst="rect">
            <a:avLst/>
          </a:prstGeom>
          <a:noFill/>
          <a:ln/>
        </p:spPr>
        <p:txBody>
          <a:bodyPr wrap="square" rtlCol="0" anchor="ctr"/>
          <a:lstStyle/>
          <a:p>
            <a:pPr indent="0" marL="0">
              <a:buNone/>
            </a:pPr>
            <a:r>
              <a:rPr lang="en-US" sz="1200" b="1" spc="300" kern="0" dirty="0">
                <a:solidFill>
                  <a:srgbClr val="F4A259"/>
                </a:solidFill>
                <a:latin typeface="Segoe UI" pitchFamily="34" charset="0"/>
                <a:ea typeface="Segoe UI" pitchFamily="34" charset="-122"/>
                <a:cs typeface="Segoe UI" pitchFamily="34" charset="-120"/>
              </a:rPr>
              <a:t>THE SCALE OF THE CRISIS</a:t>
            </a:r>
            <a:endParaRPr lang="en-US" sz="1200" dirty="0"/>
          </a:p>
        </p:txBody>
      </p:sp>
      <p:sp>
        <p:nvSpPr>
          <p:cNvPr id="6" name="Text 4"/>
          <p:cNvSpPr/>
          <p:nvPr/>
        </p:nvSpPr>
        <p:spPr>
          <a:xfrm>
            <a:off x="548640" y="640080"/>
            <a:ext cx="11064240" cy="777240"/>
          </a:xfrm>
          <a:prstGeom prst="rect">
            <a:avLst/>
          </a:prstGeom>
          <a:noFill/>
          <a:ln/>
        </p:spPr>
        <p:txBody>
          <a:bodyPr wrap="square" rtlCol="0" anchor="ctr"/>
          <a:lstStyle/>
          <a:p>
            <a:pPr indent="0" marL="0">
              <a:buNone/>
            </a:pPr>
            <a:r>
              <a:rPr lang="en-US" sz="3000" b="1" dirty="0">
                <a:solidFill>
                  <a:srgbClr val="FFFFFF"/>
                </a:solidFill>
                <a:latin typeface="Segoe UI" pitchFamily="34" charset="0"/>
                <a:ea typeface="Segoe UI" pitchFamily="34" charset="-122"/>
                <a:cs typeface="Segoe UI" pitchFamily="34" charset="-120"/>
              </a:rPr>
              <a:t>India collects record blood — yet patients still wait</a:t>
            </a:r>
            <a:endParaRPr lang="en-US" sz="3000" dirty="0"/>
          </a:p>
        </p:txBody>
      </p:sp>
      <p:sp>
        <p:nvSpPr>
          <p:cNvPr id="7" name="Shape 5"/>
          <p:cNvSpPr/>
          <p:nvPr/>
        </p:nvSpPr>
        <p:spPr>
          <a:xfrm>
            <a:off x="548640" y="1600200"/>
            <a:ext cx="3520440" cy="2103120"/>
          </a:xfrm>
          <a:prstGeom prst="roundRect">
            <a:avLst>
              <a:gd name="adj" fmla="val 5217"/>
            </a:avLst>
          </a:prstGeom>
          <a:solidFill>
            <a:srgbClr val="5A0F1C"/>
          </a:solidFill>
          <a:ln w="19050">
            <a:solidFill>
              <a:srgbClr val="C8102E"/>
            </a:solidFill>
            <a:prstDash val="solid"/>
          </a:ln>
        </p:spPr>
      </p:sp>
      <p:sp>
        <p:nvSpPr>
          <p:cNvPr id="8" name="Text 6"/>
          <p:cNvSpPr/>
          <p:nvPr/>
        </p:nvSpPr>
        <p:spPr>
          <a:xfrm>
            <a:off x="731520" y="1709928"/>
            <a:ext cx="3154680" cy="1005840"/>
          </a:xfrm>
          <a:prstGeom prst="rect">
            <a:avLst/>
          </a:prstGeom>
          <a:noFill/>
          <a:ln/>
        </p:spPr>
        <p:txBody>
          <a:bodyPr wrap="square" rtlCol="0" anchor="ctr"/>
          <a:lstStyle/>
          <a:p>
            <a:pPr indent="0" marL="0">
              <a:buNone/>
            </a:pPr>
            <a:r>
              <a:rPr lang="en-US" sz="5200" b="1" dirty="0">
                <a:solidFill>
                  <a:srgbClr val="C8102E"/>
                </a:solidFill>
                <a:latin typeface="Segoe UI" pitchFamily="34" charset="0"/>
                <a:ea typeface="Segoe UI" pitchFamily="34" charset="-122"/>
                <a:cs typeface="Segoe UI" pitchFamily="34" charset="-120"/>
              </a:rPr>
              <a:t>1.46 Cr</a:t>
            </a:r>
            <a:endParaRPr lang="en-US" sz="5200" dirty="0"/>
          </a:p>
        </p:txBody>
      </p:sp>
      <p:sp>
        <p:nvSpPr>
          <p:cNvPr id="9" name="Text 7"/>
          <p:cNvSpPr/>
          <p:nvPr/>
        </p:nvSpPr>
        <p:spPr>
          <a:xfrm>
            <a:off x="731520" y="2743200"/>
            <a:ext cx="3154680" cy="868680"/>
          </a:xfrm>
          <a:prstGeom prst="rect">
            <a:avLst/>
          </a:prstGeom>
          <a:noFill/>
          <a:ln/>
        </p:spPr>
        <p:txBody>
          <a:bodyPr wrap="square" rtlCol="0" anchor="t"/>
          <a:lstStyle/>
          <a:p>
            <a:pPr indent="0" marL="0">
              <a:buNone/>
            </a:pPr>
            <a:r>
              <a:rPr lang="en-US" sz="1400" dirty="0">
                <a:solidFill>
                  <a:srgbClr val="FFFFFF"/>
                </a:solidFill>
                <a:latin typeface="Segoe UI" pitchFamily="34" charset="0"/>
                <a:ea typeface="Segoe UI" pitchFamily="34" charset="-122"/>
                <a:cs typeface="Segoe UI" pitchFamily="34" charset="-120"/>
              </a:rPr>
              <a:t>units of blood India needs every year</a:t>
            </a:r>
            <a:endParaRPr lang="en-US" sz="1400" dirty="0"/>
          </a:p>
        </p:txBody>
      </p:sp>
      <p:sp>
        <p:nvSpPr>
          <p:cNvPr id="10" name="Shape 8"/>
          <p:cNvSpPr/>
          <p:nvPr/>
        </p:nvSpPr>
        <p:spPr>
          <a:xfrm>
            <a:off x="4343400" y="1600200"/>
            <a:ext cx="3520440" cy="2103120"/>
          </a:xfrm>
          <a:prstGeom prst="roundRect">
            <a:avLst>
              <a:gd name="adj" fmla="val 5217"/>
            </a:avLst>
          </a:prstGeom>
          <a:solidFill>
            <a:srgbClr val="5A0F1C"/>
          </a:solidFill>
          <a:ln w="19050">
            <a:solidFill>
              <a:srgbClr val="F4A259"/>
            </a:solidFill>
            <a:prstDash val="solid"/>
          </a:ln>
        </p:spPr>
      </p:sp>
      <p:sp>
        <p:nvSpPr>
          <p:cNvPr id="11" name="Text 9"/>
          <p:cNvSpPr/>
          <p:nvPr/>
        </p:nvSpPr>
        <p:spPr>
          <a:xfrm>
            <a:off x="4526280" y="1709928"/>
            <a:ext cx="3154680" cy="1005840"/>
          </a:xfrm>
          <a:prstGeom prst="rect">
            <a:avLst/>
          </a:prstGeom>
          <a:noFill/>
          <a:ln/>
        </p:spPr>
        <p:txBody>
          <a:bodyPr wrap="square" rtlCol="0" anchor="ctr"/>
          <a:lstStyle/>
          <a:p>
            <a:pPr indent="0" marL="0">
              <a:buNone/>
            </a:pPr>
            <a:r>
              <a:rPr lang="en-US" sz="5200" b="1" dirty="0">
                <a:solidFill>
                  <a:srgbClr val="F4A259"/>
                </a:solidFill>
                <a:latin typeface="Segoe UI" pitchFamily="34" charset="0"/>
                <a:ea typeface="Segoe UI" pitchFamily="34" charset="-122"/>
                <a:cs typeface="Segoe UI" pitchFamily="34" charset="-120"/>
              </a:rPr>
              <a:t>17.4 L</a:t>
            </a:r>
            <a:endParaRPr lang="en-US" sz="5200" dirty="0"/>
          </a:p>
        </p:txBody>
      </p:sp>
      <p:sp>
        <p:nvSpPr>
          <p:cNvPr id="12" name="Text 10"/>
          <p:cNvSpPr/>
          <p:nvPr/>
        </p:nvSpPr>
        <p:spPr>
          <a:xfrm>
            <a:off x="4526280" y="2743200"/>
            <a:ext cx="3154680" cy="868680"/>
          </a:xfrm>
          <a:prstGeom prst="rect">
            <a:avLst/>
          </a:prstGeom>
          <a:noFill/>
          <a:ln/>
        </p:spPr>
        <p:txBody>
          <a:bodyPr wrap="square" rtlCol="0" anchor="t"/>
          <a:lstStyle/>
          <a:p>
            <a:pPr indent="0" marL="0">
              <a:buNone/>
            </a:pPr>
            <a:r>
              <a:rPr lang="en-US" sz="1400" dirty="0">
                <a:solidFill>
                  <a:srgbClr val="FFFFFF"/>
                </a:solidFill>
                <a:latin typeface="Segoe UI" pitchFamily="34" charset="0"/>
                <a:ea typeface="Segoe UI" pitchFamily="34" charset="-122"/>
                <a:cs typeface="Segoe UI" pitchFamily="34" charset="-120"/>
              </a:rPr>
              <a:t>blood components DISCARDED in 2025 — expiry was the #1 reason</a:t>
            </a:r>
            <a:endParaRPr lang="en-US" sz="1400" dirty="0"/>
          </a:p>
        </p:txBody>
      </p:sp>
      <p:sp>
        <p:nvSpPr>
          <p:cNvPr id="13" name="Shape 11"/>
          <p:cNvSpPr/>
          <p:nvPr/>
        </p:nvSpPr>
        <p:spPr>
          <a:xfrm>
            <a:off x="8138160" y="1600200"/>
            <a:ext cx="3520440" cy="2103120"/>
          </a:xfrm>
          <a:prstGeom prst="roundRect">
            <a:avLst>
              <a:gd name="adj" fmla="val 5217"/>
            </a:avLst>
          </a:prstGeom>
          <a:solidFill>
            <a:srgbClr val="5A0F1C"/>
          </a:solidFill>
          <a:ln w="19050">
            <a:solidFill>
              <a:srgbClr val="C8102E"/>
            </a:solidFill>
            <a:prstDash val="solid"/>
          </a:ln>
        </p:spPr>
      </p:sp>
      <p:sp>
        <p:nvSpPr>
          <p:cNvPr id="14" name="Text 12"/>
          <p:cNvSpPr/>
          <p:nvPr/>
        </p:nvSpPr>
        <p:spPr>
          <a:xfrm>
            <a:off x="8321040" y="1709928"/>
            <a:ext cx="3154680" cy="1005840"/>
          </a:xfrm>
          <a:prstGeom prst="rect">
            <a:avLst/>
          </a:prstGeom>
          <a:noFill/>
          <a:ln/>
        </p:spPr>
        <p:txBody>
          <a:bodyPr wrap="square" rtlCol="0" anchor="ctr"/>
          <a:lstStyle/>
          <a:p>
            <a:pPr indent="0" marL="0">
              <a:buNone/>
            </a:pPr>
            <a:r>
              <a:rPr lang="en-US" sz="5200" b="1" dirty="0">
                <a:solidFill>
                  <a:srgbClr val="C8102E"/>
                </a:solidFill>
                <a:latin typeface="Segoe UI" pitchFamily="34" charset="0"/>
                <a:ea typeface="Segoe UI" pitchFamily="34" charset="-122"/>
                <a:cs typeface="Segoe UI" pitchFamily="34" charset="-120"/>
              </a:rPr>
              <a:t>~10%</a:t>
            </a:r>
            <a:endParaRPr lang="en-US" sz="5200" dirty="0"/>
          </a:p>
        </p:txBody>
      </p:sp>
      <p:sp>
        <p:nvSpPr>
          <p:cNvPr id="15" name="Text 13"/>
          <p:cNvSpPr/>
          <p:nvPr/>
        </p:nvSpPr>
        <p:spPr>
          <a:xfrm>
            <a:off x="8321040" y="2743200"/>
            <a:ext cx="3154680" cy="868680"/>
          </a:xfrm>
          <a:prstGeom prst="rect">
            <a:avLst/>
          </a:prstGeom>
          <a:noFill/>
          <a:ln/>
        </p:spPr>
        <p:txBody>
          <a:bodyPr wrap="square" rtlCol="0" anchor="t"/>
          <a:lstStyle/>
          <a:p>
            <a:pPr indent="0" marL="0">
              <a:buNone/>
            </a:pPr>
            <a:r>
              <a:rPr lang="en-US" sz="1400" dirty="0">
                <a:solidFill>
                  <a:srgbClr val="FFFFFF"/>
                </a:solidFill>
                <a:latin typeface="Segoe UI" pitchFamily="34" charset="0"/>
                <a:ea typeface="Segoe UI" pitchFamily="34" charset="-122"/>
                <a:cs typeface="Segoe UI" pitchFamily="34" charset="-120"/>
              </a:rPr>
              <a:t>of districts still have no functional blood centre</a:t>
            </a:r>
            <a:endParaRPr lang="en-US" sz="1400" dirty="0"/>
          </a:p>
        </p:txBody>
      </p:sp>
      <p:sp>
        <p:nvSpPr>
          <p:cNvPr id="16" name="Shape 14"/>
          <p:cNvSpPr/>
          <p:nvPr/>
        </p:nvSpPr>
        <p:spPr>
          <a:xfrm>
            <a:off x="548640" y="3931920"/>
            <a:ext cx="3520440" cy="2103120"/>
          </a:xfrm>
          <a:prstGeom prst="roundRect">
            <a:avLst>
              <a:gd name="adj" fmla="val 5217"/>
            </a:avLst>
          </a:prstGeom>
          <a:solidFill>
            <a:srgbClr val="5A0F1C"/>
          </a:solidFill>
          <a:ln w="19050">
            <a:solidFill>
              <a:srgbClr val="F4A259"/>
            </a:solidFill>
            <a:prstDash val="solid"/>
          </a:ln>
        </p:spPr>
      </p:sp>
      <p:sp>
        <p:nvSpPr>
          <p:cNvPr id="17" name="Text 15"/>
          <p:cNvSpPr/>
          <p:nvPr/>
        </p:nvSpPr>
        <p:spPr>
          <a:xfrm>
            <a:off x="731520" y="4041648"/>
            <a:ext cx="3154680" cy="1005840"/>
          </a:xfrm>
          <a:prstGeom prst="rect">
            <a:avLst/>
          </a:prstGeom>
          <a:noFill/>
          <a:ln/>
        </p:spPr>
        <p:txBody>
          <a:bodyPr wrap="square" rtlCol="0" anchor="ctr"/>
          <a:lstStyle/>
          <a:p>
            <a:pPr indent="0" marL="0">
              <a:buNone/>
            </a:pPr>
            <a:r>
              <a:rPr lang="en-US" sz="5200" b="1" dirty="0">
                <a:solidFill>
                  <a:srgbClr val="F4A259"/>
                </a:solidFill>
                <a:latin typeface="Segoe UI" pitchFamily="34" charset="0"/>
                <a:ea typeface="Segoe UI" pitchFamily="34" charset="-122"/>
                <a:cs typeface="Segoe UI" pitchFamily="34" charset="-120"/>
              </a:rPr>
              <a:t>39%</a:t>
            </a:r>
            <a:endParaRPr lang="en-US" sz="5200" dirty="0"/>
          </a:p>
        </p:txBody>
      </p:sp>
      <p:sp>
        <p:nvSpPr>
          <p:cNvPr id="18" name="Text 16"/>
          <p:cNvSpPr/>
          <p:nvPr/>
        </p:nvSpPr>
        <p:spPr>
          <a:xfrm>
            <a:off x="731520" y="5074920"/>
            <a:ext cx="3154680" cy="868680"/>
          </a:xfrm>
          <a:prstGeom prst="rect">
            <a:avLst/>
          </a:prstGeom>
          <a:noFill/>
          <a:ln/>
        </p:spPr>
        <p:txBody>
          <a:bodyPr wrap="square" rtlCol="0" anchor="t"/>
          <a:lstStyle/>
          <a:p>
            <a:pPr indent="0" marL="0">
              <a:buNone/>
            </a:pPr>
            <a:r>
              <a:rPr lang="en-US" sz="1400" dirty="0">
                <a:solidFill>
                  <a:srgbClr val="FFFFFF"/>
                </a:solidFill>
                <a:latin typeface="Segoe UI" pitchFamily="34" charset="0"/>
                <a:ea typeface="Segoe UI" pitchFamily="34" charset="-122"/>
                <a:cs typeface="Segoe UI" pitchFamily="34" charset="-120"/>
              </a:rPr>
              <a:t>of people in 8 northern states can't reach a blood-equipped facility within 1 hour</a:t>
            </a:r>
            <a:endParaRPr lang="en-US" sz="1400" dirty="0"/>
          </a:p>
        </p:txBody>
      </p:sp>
      <p:sp>
        <p:nvSpPr>
          <p:cNvPr id="19" name="Shape 17"/>
          <p:cNvSpPr/>
          <p:nvPr/>
        </p:nvSpPr>
        <p:spPr>
          <a:xfrm>
            <a:off x="4343400" y="3931920"/>
            <a:ext cx="3520440" cy="2103120"/>
          </a:xfrm>
          <a:prstGeom prst="roundRect">
            <a:avLst>
              <a:gd name="adj" fmla="val 5217"/>
            </a:avLst>
          </a:prstGeom>
          <a:solidFill>
            <a:srgbClr val="5A0F1C"/>
          </a:solidFill>
          <a:ln w="19050">
            <a:solidFill>
              <a:srgbClr val="C8102E"/>
            </a:solidFill>
            <a:prstDash val="solid"/>
          </a:ln>
        </p:spPr>
      </p:sp>
      <p:sp>
        <p:nvSpPr>
          <p:cNvPr id="20" name="Text 18"/>
          <p:cNvSpPr/>
          <p:nvPr/>
        </p:nvSpPr>
        <p:spPr>
          <a:xfrm>
            <a:off x="4526280" y="4041648"/>
            <a:ext cx="3154680" cy="1005840"/>
          </a:xfrm>
          <a:prstGeom prst="rect">
            <a:avLst/>
          </a:prstGeom>
          <a:noFill/>
          <a:ln/>
        </p:spPr>
        <p:txBody>
          <a:bodyPr wrap="square" rtlCol="0" anchor="ctr"/>
          <a:lstStyle/>
          <a:p>
            <a:pPr indent="0" marL="0">
              <a:buNone/>
            </a:pPr>
            <a:r>
              <a:rPr lang="en-US" sz="5200" b="1" dirty="0">
                <a:solidFill>
                  <a:srgbClr val="C8102E"/>
                </a:solidFill>
                <a:latin typeface="Segoe UI" pitchFamily="34" charset="0"/>
                <a:ea typeface="Segoe UI" pitchFamily="34" charset="-122"/>
                <a:cs typeface="Segoe UI" pitchFamily="34" charset="-120"/>
              </a:rPr>
              <a:t>1.7 L+</a:t>
            </a:r>
            <a:endParaRPr lang="en-US" sz="5200" dirty="0"/>
          </a:p>
        </p:txBody>
      </p:sp>
      <p:sp>
        <p:nvSpPr>
          <p:cNvPr id="21" name="Text 19"/>
          <p:cNvSpPr/>
          <p:nvPr/>
        </p:nvSpPr>
        <p:spPr>
          <a:xfrm>
            <a:off x="4526280" y="5074920"/>
            <a:ext cx="3154680" cy="868680"/>
          </a:xfrm>
          <a:prstGeom prst="rect">
            <a:avLst/>
          </a:prstGeom>
          <a:noFill/>
          <a:ln/>
        </p:spPr>
        <p:txBody>
          <a:bodyPr wrap="square" rtlCol="0" anchor="t"/>
          <a:lstStyle/>
          <a:p>
            <a:pPr indent="0" marL="0">
              <a:buNone/>
            </a:pPr>
            <a:r>
              <a:rPr lang="en-US" sz="1400" dirty="0">
                <a:solidFill>
                  <a:srgbClr val="FFFFFF"/>
                </a:solidFill>
                <a:latin typeface="Segoe UI" pitchFamily="34" charset="0"/>
                <a:ea typeface="Segoe UI" pitchFamily="34" charset="-122"/>
                <a:cs typeface="Segoe UI" pitchFamily="34" charset="-120"/>
              </a:rPr>
              <a:t>road-crash deaths a year — trauma care runs on blood</a:t>
            </a:r>
            <a:endParaRPr lang="en-US" sz="1400" dirty="0"/>
          </a:p>
        </p:txBody>
      </p:sp>
      <p:sp>
        <p:nvSpPr>
          <p:cNvPr id="22" name="Shape 20"/>
          <p:cNvSpPr/>
          <p:nvPr/>
        </p:nvSpPr>
        <p:spPr>
          <a:xfrm>
            <a:off x="8138160" y="3931920"/>
            <a:ext cx="3520440" cy="2103120"/>
          </a:xfrm>
          <a:prstGeom prst="roundRect">
            <a:avLst>
              <a:gd name="adj" fmla="val 5217"/>
            </a:avLst>
          </a:prstGeom>
          <a:solidFill>
            <a:srgbClr val="5A0F1C"/>
          </a:solidFill>
          <a:ln w="19050">
            <a:solidFill>
              <a:srgbClr val="F4A259"/>
            </a:solidFill>
            <a:prstDash val="solid"/>
          </a:ln>
        </p:spPr>
      </p:sp>
      <p:sp>
        <p:nvSpPr>
          <p:cNvPr id="23" name="Text 21"/>
          <p:cNvSpPr/>
          <p:nvPr/>
        </p:nvSpPr>
        <p:spPr>
          <a:xfrm>
            <a:off x="8321040" y="4041648"/>
            <a:ext cx="3154680" cy="1005840"/>
          </a:xfrm>
          <a:prstGeom prst="rect">
            <a:avLst/>
          </a:prstGeom>
          <a:noFill/>
          <a:ln/>
        </p:spPr>
        <p:txBody>
          <a:bodyPr wrap="square" rtlCol="0" anchor="ctr"/>
          <a:lstStyle/>
          <a:p>
            <a:pPr indent="0" marL="0">
              <a:buNone/>
            </a:pPr>
            <a:r>
              <a:rPr lang="en-US" sz="5200" b="1" dirty="0">
                <a:solidFill>
                  <a:srgbClr val="F4A259"/>
                </a:solidFill>
                <a:latin typeface="Segoe UI" pitchFamily="34" charset="0"/>
                <a:ea typeface="Segoe UI" pitchFamily="34" charset="-122"/>
                <a:cs typeface="Segoe UI" pitchFamily="34" charset="-120"/>
              </a:rPr>
              <a:t>38%</a:t>
            </a:r>
            <a:endParaRPr lang="en-US" sz="5200" dirty="0"/>
          </a:p>
        </p:txBody>
      </p:sp>
      <p:sp>
        <p:nvSpPr>
          <p:cNvPr id="24" name="Text 22"/>
          <p:cNvSpPr/>
          <p:nvPr/>
        </p:nvSpPr>
        <p:spPr>
          <a:xfrm>
            <a:off x="8321040" y="5074920"/>
            <a:ext cx="3154680" cy="868680"/>
          </a:xfrm>
          <a:prstGeom prst="rect">
            <a:avLst/>
          </a:prstGeom>
          <a:noFill/>
          <a:ln/>
        </p:spPr>
        <p:txBody>
          <a:bodyPr wrap="square" rtlCol="0" anchor="t"/>
          <a:lstStyle/>
          <a:p>
            <a:pPr indent="0" marL="0">
              <a:buNone/>
            </a:pPr>
            <a:r>
              <a:rPr lang="en-US" sz="1400" dirty="0">
                <a:solidFill>
                  <a:srgbClr val="FFFFFF"/>
                </a:solidFill>
                <a:latin typeface="Segoe UI" pitchFamily="34" charset="0"/>
                <a:ea typeface="Segoe UI" pitchFamily="34" charset="-122"/>
                <a:cs typeface="Segoe UI" pitchFamily="34" charset="-120"/>
              </a:rPr>
              <a:t>of maternal deaths in India caused by haemorrhage, the leading cause</a:t>
            </a:r>
            <a:endParaRPr lang="en-US" sz="1400" dirty="0"/>
          </a:p>
        </p:txBody>
      </p:sp>
      <p:sp>
        <p:nvSpPr>
          <p:cNvPr id="25" name="Text 23"/>
          <p:cNvSpPr/>
          <p:nvPr/>
        </p:nvSpPr>
        <p:spPr>
          <a:xfrm>
            <a:off x="548640" y="6080760"/>
            <a:ext cx="10972800" cy="320040"/>
          </a:xfrm>
          <a:prstGeom prst="rect">
            <a:avLst/>
          </a:prstGeom>
          <a:noFill/>
          <a:ln/>
        </p:spPr>
        <p:txBody>
          <a:bodyPr wrap="square" rtlCol="0" anchor="ctr"/>
          <a:lstStyle/>
          <a:p>
            <a:pPr indent="0" marL="0">
              <a:buNone/>
            </a:pPr>
            <a:r>
              <a:rPr lang="en-US" sz="900" i="1" dirty="0">
                <a:solidFill>
                  <a:srgbClr val="AAAAAA"/>
                </a:solidFill>
                <a:latin typeface="Segoe UI" pitchFamily="34" charset="0"/>
                <a:ea typeface="Segoe UI" pitchFamily="34" charset="-122"/>
                <a:cs typeface="Segoe UI" pitchFamily="34" charset="-120"/>
              </a:rPr>
              <a:t>Sources: Govt. in Parliament (2025); Rajya Sabha data via TOI (Aug 2026); MoHFW review (Apr 2026); BMJ Global Health (2024); MoRTH Road Accidents in India; Million Death Study, PLOS One (2014). See Sources slide.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8F5"/>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102E"/>
          </a:solidFill>
          <a:ln w="12700">
            <a:solidFill>
              <a:srgbClr val="C8102E"/>
            </a:solidFill>
            <a:prstDash val="solid"/>
          </a:ln>
        </p:spPr>
      </p:sp>
      <p:sp>
        <p:nvSpPr>
          <p:cNvPr id="3" name="Text 1"/>
          <p:cNvSpPr/>
          <p:nvPr/>
        </p:nvSpPr>
        <p:spPr>
          <a:xfrm>
            <a:off x="411480" y="6446520"/>
            <a:ext cx="2743200" cy="274320"/>
          </a:xfrm>
          <a:prstGeom prst="rect">
            <a:avLst/>
          </a:prstGeom>
          <a:noFill/>
          <a:ln/>
        </p:spPr>
        <p:txBody>
          <a:bodyPr wrap="square" rtlCol="0" anchor="ctr"/>
          <a:lstStyle/>
          <a:p>
            <a:pPr indent="0" marL="0">
              <a:buNone/>
            </a:pPr>
            <a:r>
              <a:rPr lang="en-US" sz="1000" b="1" dirty="0">
                <a:solidFill>
                  <a:srgbClr val="C8102E"/>
                </a:solidFill>
                <a:latin typeface="Segoe UI" pitchFamily="34" charset="0"/>
                <a:ea typeface="Segoe UI" pitchFamily="34" charset="-122"/>
                <a:cs typeface="Segoe UI" pitchFamily="34" charset="-120"/>
              </a:rPr>
              <a:t>RaktDoot</a:t>
            </a:r>
            <a:endParaRPr lang="en-US" sz="1000" dirty="0"/>
          </a:p>
        </p:txBody>
      </p:sp>
      <p:sp>
        <p:nvSpPr>
          <p:cNvPr id="4" name="Text 2"/>
          <p:cNvSpPr/>
          <p:nvPr/>
        </p:nvSpPr>
        <p:spPr>
          <a:xfrm>
            <a:off x="11277295" y="6446520"/>
            <a:ext cx="548640" cy="274320"/>
          </a:xfrm>
          <a:prstGeom prst="rect">
            <a:avLst/>
          </a:prstGeom>
          <a:noFill/>
          <a:ln/>
        </p:spPr>
        <p:txBody>
          <a:bodyPr wrap="square" rtlCol="0" anchor="ctr"/>
          <a:lstStyle/>
          <a:p>
            <a:pPr algn="r" indent="0" marL="0">
              <a:buNone/>
            </a:pPr>
            <a:r>
              <a:rPr lang="en-US" sz="1000" dirty="0">
                <a:solidFill>
                  <a:srgbClr val="5F5F5F"/>
                </a:solidFill>
                <a:latin typeface="Segoe UI" pitchFamily="34" charset="0"/>
                <a:ea typeface="Segoe UI" pitchFamily="34" charset="-122"/>
                <a:cs typeface="Segoe UI" pitchFamily="34" charset="-120"/>
              </a:rPr>
              <a:t>3</a:t>
            </a:r>
            <a:endParaRPr lang="en-US" sz="1000" dirty="0"/>
          </a:p>
        </p:txBody>
      </p:sp>
      <p:sp>
        <p:nvSpPr>
          <p:cNvPr id="5" name="Text 3"/>
          <p:cNvSpPr/>
          <p:nvPr/>
        </p:nvSpPr>
        <p:spPr>
          <a:xfrm>
            <a:off x="548640" y="320040"/>
            <a:ext cx="9144000" cy="320040"/>
          </a:xfrm>
          <a:prstGeom prst="rect">
            <a:avLst/>
          </a:prstGeom>
          <a:noFill/>
          <a:ln/>
        </p:spPr>
        <p:txBody>
          <a:bodyPr wrap="square" rtlCol="0" anchor="ctr"/>
          <a:lstStyle/>
          <a:p>
            <a:pPr indent="0" marL="0">
              <a:buNone/>
            </a:pPr>
            <a:r>
              <a:rPr lang="en-US" sz="1200" b="1" spc="300" kern="0" dirty="0">
                <a:solidFill>
                  <a:srgbClr val="C8102E"/>
                </a:solidFill>
                <a:latin typeface="Segoe UI" pitchFamily="34" charset="0"/>
                <a:ea typeface="Segoe UI" pitchFamily="34" charset="-122"/>
                <a:cs typeface="Segoe UI" pitchFamily="34" charset="-120"/>
              </a:rPr>
              <a:t>WHERE THE SYSTEM BREAKS</a:t>
            </a:r>
            <a:endParaRPr lang="en-US" sz="1200" dirty="0"/>
          </a:p>
        </p:txBody>
      </p:sp>
      <p:sp>
        <p:nvSpPr>
          <p:cNvPr id="6" name="Text 4"/>
          <p:cNvSpPr/>
          <p:nvPr/>
        </p:nvSpPr>
        <p:spPr>
          <a:xfrm>
            <a:off x="548640" y="640080"/>
            <a:ext cx="11064240" cy="777240"/>
          </a:xfrm>
          <a:prstGeom prst="rect">
            <a:avLst/>
          </a:prstGeom>
          <a:noFill/>
          <a:ln/>
        </p:spPr>
        <p:txBody>
          <a:bodyPr wrap="square" rtlCol="0" anchor="ctr"/>
          <a:lstStyle/>
          <a:p>
            <a:pPr indent="0" marL="0">
              <a:buNone/>
            </a:pPr>
            <a:r>
              <a:rPr lang="en-US" sz="3000" b="1" dirty="0">
                <a:solidFill>
                  <a:srgbClr val="2B0A10"/>
                </a:solidFill>
                <a:latin typeface="Segoe UI" pitchFamily="34" charset="0"/>
                <a:ea typeface="Segoe UI" pitchFamily="34" charset="-122"/>
                <a:cs typeface="Segoe UI" pitchFamily="34" charset="-120"/>
              </a:rPr>
              <a:t>Gaps in public blood infrastructure</a:t>
            </a:r>
            <a:endParaRPr lang="en-US" sz="3000" dirty="0"/>
          </a:p>
        </p:txBody>
      </p:sp>
      <p:sp>
        <p:nvSpPr>
          <p:cNvPr id="7" name="Shape 5"/>
          <p:cNvSpPr/>
          <p:nvPr/>
        </p:nvSpPr>
        <p:spPr>
          <a:xfrm>
            <a:off x="548640" y="1554480"/>
            <a:ext cx="3611880" cy="2103120"/>
          </a:xfrm>
          <a:prstGeom prst="roundRect">
            <a:avLst>
              <a:gd name="adj" fmla="val 5217"/>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685800" y="1554480"/>
            <a:ext cx="3337560" cy="64008"/>
          </a:xfrm>
          <a:prstGeom prst="rect">
            <a:avLst/>
          </a:prstGeom>
          <a:solidFill>
            <a:srgbClr val="C8102E"/>
          </a:solidFill>
          <a:ln w="12700">
            <a:solidFill>
              <a:srgbClr val="C8102E"/>
            </a:solidFill>
            <a:prstDash val="solid"/>
          </a:ln>
        </p:spPr>
      </p:sp>
      <p:sp>
        <p:nvSpPr>
          <p:cNvPr id="9" name="Shape 7"/>
          <p:cNvSpPr/>
          <p:nvPr/>
        </p:nvSpPr>
        <p:spPr>
          <a:xfrm>
            <a:off x="777240" y="1828800"/>
            <a:ext cx="548640" cy="548640"/>
          </a:xfrm>
          <a:prstGeom prst="ellipse">
            <a:avLst/>
          </a:prstGeom>
          <a:solidFill>
            <a:srgbClr val="C8102E"/>
          </a:solidFill>
          <a:ln w="12700">
            <a:solidFill>
              <a:srgbClr val="C8102E"/>
            </a:solidFill>
            <a:prstDash val="solid"/>
          </a:ln>
        </p:spPr>
      </p:sp>
      <p:sp>
        <p:nvSpPr>
          <p:cNvPr id="10" name="Text 8"/>
          <p:cNvSpPr/>
          <p:nvPr/>
        </p:nvSpPr>
        <p:spPr>
          <a:xfrm>
            <a:off x="777240" y="1828800"/>
            <a:ext cx="548640" cy="54864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a:t>
            </a:r>
            <a:endParaRPr lang="en-US" sz="1800" dirty="0"/>
          </a:p>
        </p:txBody>
      </p:sp>
      <p:sp>
        <p:nvSpPr>
          <p:cNvPr id="11" name="Text 9"/>
          <p:cNvSpPr/>
          <p:nvPr/>
        </p:nvSpPr>
        <p:spPr>
          <a:xfrm>
            <a:off x="1417320" y="1810512"/>
            <a:ext cx="2606040" cy="594360"/>
          </a:xfrm>
          <a:prstGeom prst="rect">
            <a:avLst/>
          </a:prstGeom>
          <a:noFill/>
          <a:ln/>
        </p:spPr>
        <p:txBody>
          <a:bodyPr wrap="square" rtlCol="0" anchor="ctr"/>
          <a:lstStyle/>
          <a:p>
            <a:pPr indent="0" marL="0">
              <a:buNone/>
            </a:pPr>
            <a:r>
              <a:rPr lang="en-US" sz="1500" b="1" dirty="0">
                <a:solidFill>
                  <a:srgbClr val="2B0A10"/>
                </a:solidFill>
                <a:latin typeface="Segoe UI" pitchFamily="34" charset="0"/>
                <a:ea typeface="Segoe UI" pitchFamily="34" charset="-122"/>
                <a:cs typeface="Segoe UI" pitchFamily="34" charset="-120"/>
              </a:rPr>
              <a:t>Uneven coverage</a:t>
            </a:r>
            <a:endParaRPr lang="en-US" sz="1500" dirty="0"/>
          </a:p>
        </p:txBody>
      </p:sp>
      <p:sp>
        <p:nvSpPr>
          <p:cNvPr id="12" name="Text 10"/>
          <p:cNvSpPr/>
          <p:nvPr/>
        </p:nvSpPr>
        <p:spPr>
          <a:xfrm>
            <a:off x="777240" y="2468880"/>
            <a:ext cx="3200400" cy="1097280"/>
          </a:xfrm>
          <a:prstGeom prst="rect">
            <a:avLst/>
          </a:prstGeom>
          <a:noFill/>
          <a:ln/>
        </p:spPr>
        <p:txBody>
          <a:bodyPr wrap="square" rtlCol="0" anchor="t"/>
          <a:lstStyle/>
          <a:p>
            <a:pPr indent="0" marL="0">
              <a:buNone/>
            </a:pPr>
            <a:r>
              <a:rPr lang="en-US" sz="1200" dirty="0">
                <a:solidFill>
                  <a:srgbClr val="5F5F5F"/>
                </a:solidFill>
                <a:latin typeface="Segoe UI" pitchFamily="34" charset="0"/>
                <a:ea typeface="Segoe UI" pitchFamily="34" charset="-122"/>
                <a:cs typeface="Segoe UI" pitchFamily="34" charset="-120"/>
              </a:rPr>
              <a:t>~10% of districts lack a functional blood centre; the target of one per district is only due Dec 2026. Govt hospital centres are ~29% of ~4,260 centres.</a:t>
            </a:r>
            <a:endParaRPr lang="en-US" sz="1200" dirty="0"/>
          </a:p>
        </p:txBody>
      </p:sp>
      <p:sp>
        <p:nvSpPr>
          <p:cNvPr id="13" name="Shape 11"/>
          <p:cNvSpPr/>
          <p:nvPr/>
        </p:nvSpPr>
        <p:spPr>
          <a:xfrm>
            <a:off x="4279392" y="1554480"/>
            <a:ext cx="3611880" cy="2103120"/>
          </a:xfrm>
          <a:prstGeom prst="roundRect">
            <a:avLst>
              <a:gd name="adj" fmla="val 5217"/>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4416552" y="1554480"/>
            <a:ext cx="3337560" cy="64008"/>
          </a:xfrm>
          <a:prstGeom prst="rect">
            <a:avLst/>
          </a:prstGeom>
          <a:solidFill>
            <a:srgbClr val="5A0F1C"/>
          </a:solidFill>
          <a:ln w="12700">
            <a:solidFill>
              <a:srgbClr val="5A0F1C"/>
            </a:solidFill>
            <a:prstDash val="solid"/>
          </a:ln>
        </p:spPr>
      </p:sp>
      <p:sp>
        <p:nvSpPr>
          <p:cNvPr id="15" name="Shape 13"/>
          <p:cNvSpPr/>
          <p:nvPr/>
        </p:nvSpPr>
        <p:spPr>
          <a:xfrm>
            <a:off x="4507992" y="1828800"/>
            <a:ext cx="548640" cy="548640"/>
          </a:xfrm>
          <a:prstGeom prst="ellipse">
            <a:avLst/>
          </a:prstGeom>
          <a:solidFill>
            <a:srgbClr val="5A0F1C"/>
          </a:solidFill>
          <a:ln w="12700">
            <a:solidFill>
              <a:srgbClr val="5A0F1C"/>
            </a:solidFill>
            <a:prstDash val="solid"/>
          </a:ln>
        </p:spPr>
      </p:sp>
      <p:sp>
        <p:nvSpPr>
          <p:cNvPr id="16" name="Text 14"/>
          <p:cNvSpPr/>
          <p:nvPr/>
        </p:nvSpPr>
        <p:spPr>
          <a:xfrm>
            <a:off x="4507992" y="1828800"/>
            <a:ext cx="548640" cy="54864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a:t>
            </a:r>
            <a:endParaRPr lang="en-US" sz="1800" dirty="0"/>
          </a:p>
        </p:txBody>
      </p:sp>
      <p:sp>
        <p:nvSpPr>
          <p:cNvPr id="17" name="Text 15"/>
          <p:cNvSpPr/>
          <p:nvPr/>
        </p:nvSpPr>
        <p:spPr>
          <a:xfrm>
            <a:off x="5148072" y="1810512"/>
            <a:ext cx="2606040" cy="594360"/>
          </a:xfrm>
          <a:prstGeom prst="rect">
            <a:avLst/>
          </a:prstGeom>
          <a:noFill/>
          <a:ln/>
        </p:spPr>
        <p:txBody>
          <a:bodyPr wrap="square" rtlCol="0" anchor="ctr"/>
          <a:lstStyle/>
          <a:p>
            <a:pPr indent="0" marL="0">
              <a:buNone/>
            </a:pPr>
            <a:r>
              <a:rPr lang="en-US" sz="1500" b="1" dirty="0">
                <a:solidFill>
                  <a:srgbClr val="2B0A10"/>
                </a:solidFill>
                <a:latin typeface="Segoe UI" pitchFamily="34" charset="0"/>
                <a:ea typeface="Segoe UI" pitchFamily="34" charset="-122"/>
                <a:cs typeface="Segoe UI" pitchFamily="34" charset="-120"/>
              </a:rPr>
              <a:t>Stock data isn't real-time</a:t>
            </a:r>
            <a:endParaRPr lang="en-US" sz="1500" dirty="0"/>
          </a:p>
        </p:txBody>
      </p:sp>
      <p:sp>
        <p:nvSpPr>
          <p:cNvPr id="18" name="Text 16"/>
          <p:cNvSpPr/>
          <p:nvPr/>
        </p:nvSpPr>
        <p:spPr>
          <a:xfrm>
            <a:off x="4507992" y="2468880"/>
            <a:ext cx="3200400" cy="1097280"/>
          </a:xfrm>
          <a:prstGeom prst="rect">
            <a:avLst/>
          </a:prstGeom>
          <a:noFill/>
          <a:ln/>
        </p:spPr>
        <p:txBody>
          <a:bodyPr wrap="square" rtlCol="0" anchor="t"/>
          <a:lstStyle/>
          <a:p>
            <a:pPr indent="0" marL="0">
              <a:buNone/>
            </a:pPr>
            <a:r>
              <a:rPr lang="en-US" sz="1200" dirty="0">
                <a:solidFill>
                  <a:srgbClr val="5F5F5F"/>
                </a:solidFill>
                <a:latin typeface="Segoe UI" pitchFamily="34" charset="0"/>
                <a:ea typeface="Segoe UI" pitchFamily="34" charset="-122"/>
                <a:cs typeface="Segoe UI" pitchFamily="34" charset="-120"/>
              </a:rPr>
              <a:t>Many centres are still not integrated with eRaktKosh / BBMS, so the availability families see online is often stale or missing.</a:t>
            </a:r>
            <a:endParaRPr lang="en-US" sz="1200" dirty="0"/>
          </a:p>
        </p:txBody>
      </p:sp>
      <p:sp>
        <p:nvSpPr>
          <p:cNvPr id="19" name="Shape 17"/>
          <p:cNvSpPr/>
          <p:nvPr/>
        </p:nvSpPr>
        <p:spPr>
          <a:xfrm>
            <a:off x="8010144" y="1554480"/>
            <a:ext cx="3611880" cy="2103120"/>
          </a:xfrm>
          <a:prstGeom prst="roundRect">
            <a:avLst>
              <a:gd name="adj" fmla="val 5217"/>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8147304" y="1554480"/>
            <a:ext cx="3337560" cy="64008"/>
          </a:xfrm>
          <a:prstGeom prst="rect">
            <a:avLst/>
          </a:prstGeom>
          <a:solidFill>
            <a:srgbClr val="C8102E"/>
          </a:solidFill>
          <a:ln w="12700">
            <a:solidFill>
              <a:srgbClr val="C8102E"/>
            </a:solidFill>
            <a:prstDash val="solid"/>
          </a:ln>
        </p:spPr>
      </p:sp>
      <p:sp>
        <p:nvSpPr>
          <p:cNvPr id="21" name="Shape 19"/>
          <p:cNvSpPr/>
          <p:nvPr/>
        </p:nvSpPr>
        <p:spPr>
          <a:xfrm>
            <a:off x="8238744" y="1828800"/>
            <a:ext cx="548640" cy="548640"/>
          </a:xfrm>
          <a:prstGeom prst="ellipse">
            <a:avLst/>
          </a:prstGeom>
          <a:solidFill>
            <a:srgbClr val="C8102E"/>
          </a:solidFill>
          <a:ln w="12700">
            <a:solidFill>
              <a:srgbClr val="C8102E"/>
            </a:solidFill>
            <a:prstDash val="solid"/>
          </a:ln>
        </p:spPr>
      </p:sp>
      <p:sp>
        <p:nvSpPr>
          <p:cNvPr id="22" name="Text 20"/>
          <p:cNvSpPr/>
          <p:nvPr/>
        </p:nvSpPr>
        <p:spPr>
          <a:xfrm>
            <a:off x="8238744" y="1828800"/>
            <a:ext cx="548640" cy="54864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a:t>
            </a:r>
            <a:endParaRPr lang="en-US" sz="1800" dirty="0"/>
          </a:p>
        </p:txBody>
      </p:sp>
      <p:sp>
        <p:nvSpPr>
          <p:cNvPr id="23" name="Text 21"/>
          <p:cNvSpPr/>
          <p:nvPr/>
        </p:nvSpPr>
        <p:spPr>
          <a:xfrm>
            <a:off x="8878824" y="1810512"/>
            <a:ext cx="2606040" cy="594360"/>
          </a:xfrm>
          <a:prstGeom prst="rect">
            <a:avLst/>
          </a:prstGeom>
          <a:noFill/>
          <a:ln/>
        </p:spPr>
        <p:txBody>
          <a:bodyPr wrap="square" rtlCol="0" anchor="ctr"/>
          <a:lstStyle/>
          <a:p>
            <a:pPr indent="0" marL="0">
              <a:buNone/>
            </a:pPr>
            <a:r>
              <a:rPr lang="en-US" sz="1500" b="1" dirty="0">
                <a:solidFill>
                  <a:srgbClr val="2B0A10"/>
                </a:solidFill>
                <a:latin typeface="Segoe UI" pitchFamily="34" charset="0"/>
                <a:ea typeface="Segoe UI" pitchFamily="34" charset="-122"/>
                <a:cs typeface="Segoe UI" pitchFamily="34" charset="-120"/>
              </a:rPr>
              <a:t>Collected ≠ delivered</a:t>
            </a:r>
            <a:endParaRPr lang="en-US" sz="1500" dirty="0"/>
          </a:p>
        </p:txBody>
      </p:sp>
      <p:sp>
        <p:nvSpPr>
          <p:cNvPr id="24" name="Text 22"/>
          <p:cNvSpPr/>
          <p:nvPr/>
        </p:nvSpPr>
        <p:spPr>
          <a:xfrm>
            <a:off x="8238744" y="2468880"/>
            <a:ext cx="3200400" cy="1097280"/>
          </a:xfrm>
          <a:prstGeom prst="rect">
            <a:avLst/>
          </a:prstGeom>
          <a:noFill/>
          <a:ln/>
        </p:spPr>
        <p:txBody>
          <a:bodyPr wrap="square" rtlCol="0" anchor="t"/>
          <a:lstStyle/>
          <a:p>
            <a:pPr indent="0" marL="0">
              <a:buNone/>
            </a:pPr>
            <a:r>
              <a:rPr lang="en-US" sz="1200" dirty="0">
                <a:solidFill>
                  <a:srgbClr val="5F5F5F"/>
                </a:solidFill>
                <a:latin typeface="Segoe UI" pitchFamily="34" charset="0"/>
                <a:ea typeface="Segoe UI" pitchFamily="34" charset="-122"/>
                <a:cs typeface="Segoe UI" pitchFamily="34" charset="-120"/>
              </a:rPr>
              <a:t>1.58 Cr units collected in 2025, yet 17.4 L components discarded. Supply sits in the wrong place at the wrong time.</a:t>
            </a:r>
            <a:endParaRPr lang="en-US" sz="1200" dirty="0"/>
          </a:p>
        </p:txBody>
      </p:sp>
      <p:sp>
        <p:nvSpPr>
          <p:cNvPr id="25" name="Shape 23"/>
          <p:cNvSpPr/>
          <p:nvPr/>
        </p:nvSpPr>
        <p:spPr>
          <a:xfrm>
            <a:off x="548640" y="3886200"/>
            <a:ext cx="3611880" cy="2103120"/>
          </a:xfrm>
          <a:prstGeom prst="roundRect">
            <a:avLst>
              <a:gd name="adj" fmla="val 5217"/>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26" name="Shape 24"/>
          <p:cNvSpPr/>
          <p:nvPr/>
        </p:nvSpPr>
        <p:spPr>
          <a:xfrm>
            <a:off x="685800" y="3886200"/>
            <a:ext cx="3337560" cy="64008"/>
          </a:xfrm>
          <a:prstGeom prst="rect">
            <a:avLst/>
          </a:prstGeom>
          <a:solidFill>
            <a:srgbClr val="5A0F1C"/>
          </a:solidFill>
          <a:ln w="12700">
            <a:solidFill>
              <a:srgbClr val="5A0F1C"/>
            </a:solidFill>
            <a:prstDash val="solid"/>
          </a:ln>
        </p:spPr>
      </p:sp>
      <p:sp>
        <p:nvSpPr>
          <p:cNvPr id="27" name="Shape 25"/>
          <p:cNvSpPr/>
          <p:nvPr/>
        </p:nvSpPr>
        <p:spPr>
          <a:xfrm>
            <a:off x="777240" y="4160520"/>
            <a:ext cx="548640" cy="548640"/>
          </a:xfrm>
          <a:prstGeom prst="ellipse">
            <a:avLst/>
          </a:prstGeom>
          <a:solidFill>
            <a:srgbClr val="5A0F1C"/>
          </a:solidFill>
          <a:ln w="12700">
            <a:solidFill>
              <a:srgbClr val="5A0F1C"/>
            </a:solidFill>
            <a:prstDash val="solid"/>
          </a:ln>
        </p:spPr>
      </p:sp>
      <p:sp>
        <p:nvSpPr>
          <p:cNvPr id="28" name="Text 26"/>
          <p:cNvSpPr/>
          <p:nvPr/>
        </p:nvSpPr>
        <p:spPr>
          <a:xfrm>
            <a:off x="777240" y="4160520"/>
            <a:ext cx="548640" cy="54864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a:t>
            </a:r>
            <a:endParaRPr lang="en-US" sz="1800" dirty="0"/>
          </a:p>
        </p:txBody>
      </p:sp>
      <p:sp>
        <p:nvSpPr>
          <p:cNvPr id="29" name="Text 27"/>
          <p:cNvSpPr/>
          <p:nvPr/>
        </p:nvSpPr>
        <p:spPr>
          <a:xfrm>
            <a:off x="1417320" y="4142232"/>
            <a:ext cx="2606040" cy="594360"/>
          </a:xfrm>
          <a:prstGeom prst="rect">
            <a:avLst/>
          </a:prstGeom>
          <a:noFill/>
          <a:ln/>
        </p:spPr>
        <p:txBody>
          <a:bodyPr wrap="square" rtlCol="0" anchor="ctr"/>
          <a:lstStyle/>
          <a:p>
            <a:pPr indent="0" marL="0">
              <a:buNone/>
            </a:pPr>
            <a:r>
              <a:rPr lang="en-US" sz="1500" b="1" dirty="0">
                <a:solidFill>
                  <a:srgbClr val="2B0A10"/>
                </a:solidFill>
                <a:latin typeface="Segoe UI" pitchFamily="34" charset="0"/>
                <a:ea typeface="Segoe UI" pitchFamily="34" charset="-122"/>
                <a:cs typeface="Segoe UI" pitchFamily="34" charset="-120"/>
              </a:rPr>
              <a:t>Platelet &amp; component gaps</a:t>
            </a:r>
            <a:endParaRPr lang="en-US" sz="1500" dirty="0"/>
          </a:p>
        </p:txBody>
      </p:sp>
      <p:sp>
        <p:nvSpPr>
          <p:cNvPr id="30" name="Text 28"/>
          <p:cNvSpPr/>
          <p:nvPr/>
        </p:nvSpPr>
        <p:spPr>
          <a:xfrm>
            <a:off x="777240" y="4800600"/>
            <a:ext cx="3200400" cy="1097280"/>
          </a:xfrm>
          <a:prstGeom prst="rect">
            <a:avLst/>
          </a:prstGeom>
          <a:noFill/>
          <a:ln/>
        </p:spPr>
        <p:txBody>
          <a:bodyPr wrap="square" rtlCol="0" anchor="t"/>
          <a:lstStyle/>
          <a:p>
            <a:pPr indent="0" marL="0">
              <a:buNone/>
            </a:pPr>
            <a:r>
              <a:rPr lang="en-US" sz="1200" dirty="0">
                <a:solidFill>
                  <a:srgbClr val="5F5F5F"/>
                </a:solidFill>
                <a:latin typeface="Segoe UI" pitchFamily="34" charset="0"/>
                <a:ea typeface="Segoe UI" pitchFamily="34" charset="-122"/>
                <a:cs typeface="Segoe UI" pitchFamily="34" charset="-120"/>
              </a:rPr>
              <a:t>Platelet supply meets only ~77.5% of demand; component separation is limited outside big cities. Dengue season hits hardest.</a:t>
            </a:r>
            <a:endParaRPr lang="en-US" sz="1200" dirty="0"/>
          </a:p>
        </p:txBody>
      </p:sp>
      <p:sp>
        <p:nvSpPr>
          <p:cNvPr id="31" name="Shape 29"/>
          <p:cNvSpPr/>
          <p:nvPr/>
        </p:nvSpPr>
        <p:spPr>
          <a:xfrm>
            <a:off x="4279392" y="3886200"/>
            <a:ext cx="3611880" cy="2103120"/>
          </a:xfrm>
          <a:prstGeom prst="roundRect">
            <a:avLst>
              <a:gd name="adj" fmla="val 5217"/>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32" name="Shape 30"/>
          <p:cNvSpPr/>
          <p:nvPr/>
        </p:nvSpPr>
        <p:spPr>
          <a:xfrm>
            <a:off x="4416552" y="3886200"/>
            <a:ext cx="3337560" cy="64008"/>
          </a:xfrm>
          <a:prstGeom prst="rect">
            <a:avLst/>
          </a:prstGeom>
          <a:solidFill>
            <a:srgbClr val="C8102E"/>
          </a:solidFill>
          <a:ln w="12700">
            <a:solidFill>
              <a:srgbClr val="C8102E"/>
            </a:solidFill>
            <a:prstDash val="solid"/>
          </a:ln>
        </p:spPr>
      </p:sp>
      <p:sp>
        <p:nvSpPr>
          <p:cNvPr id="33" name="Shape 31"/>
          <p:cNvSpPr/>
          <p:nvPr/>
        </p:nvSpPr>
        <p:spPr>
          <a:xfrm>
            <a:off x="4507992" y="4160520"/>
            <a:ext cx="548640" cy="548640"/>
          </a:xfrm>
          <a:prstGeom prst="ellipse">
            <a:avLst/>
          </a:prstGeom>
          <a:solidFill>
            <a:srgbClr val="C8102E"/>
          </a:solidFill>
          <a:ln w="12700">
            <a:solidFill>
              <a:srgbClr val="C8102E"/>
            </a:solidFill>
            <a:prstDash val="solid"/>
          </a:ln>
        </p:spPr>
      </p:sp>
      <p:sp>
        <p:nvSpPr>
          <p:cNvPr id="34" name="Text 32"/>
          <p:cNvSpPr/>
          <p:nvPr/>
        </p:nvSpPr>
        <p:spPr>
          <a:xfrm>
            <a:off x="4507992" y="4160520"/>
            <a:ext cx="548640" cy="54864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a:t>
            </a:r>
            <a:endParaRPr lang="en-US" sz="1800" dirty="0"/>
          </a:p>
        </p:txBody>
      </p:sp>
      <p:sp>
        <p:nvSpPr>
          <p:cNvPr id="35" name="Text 33"/>
          <p:cNvSpPr/>
          <p:nvPr/>
        </p:nvSpPr>
        <p:spPr>
          <a:xfrm>
            <a:off x="5148072" y="4142232"/>
            <a:ext cx="2606040" cy="594360"/>
          </a:xfrm>
          <a:prstGeom prst="rect">
            <a:avLst/>
          </a:prstGeom>
          <a:noFill/>
          <a:ln/>
        </p:spPr>
        <p:txBody>
          <a:bodyPr wrap="square" rtlCol="0" anchor="ctr"/>
          <a:lstStyle/>
          <a:p>
            <a:pPr indent="0" marL="0">
              <a:buNone/>
            </a:pPr>
            <a:r>
              <a:rPr lang="en-US" sz="1500" b="1" dirty="0">
                <a:solidFill>
                  <a:srgbClr val="2B0A10"/>
                </a:solidFill>
                <a:latin typeface="Segoe UI" pitchFamily="34" charset="0"/>
                <a:ea typeface="Segoe UI" pitchFamily="34" charset="-122"/>
                <a:cs typeface="Segoe UI" pitchFamily="34" charset="-120"/>
              </a:rPr>
              <a:t>No coordination layer</a:t>
            </a:r>
            <a:endParaRPr lang="en-US" sz="1500" dirty="0"/>
          </a:p>
        </p:txBody>
      </p:sp>
      <p:sp>
        <p:nvSpPr>
          <p:cNvPr id="36" name="Text 34"/>
          <p:cNvSpPr/>
          <p:nvPr/>
        </p:nvSpPr>
        <p:spPr>
          <a:xfrm>
            <a:off x="4507992" y="4800600"/>
            <a:ext cx="3200400" cy="1097280"/>
          </a:xfrm>
          <a:prstGeom prst="rect">
            <a:avLst/>
          </a:prstGeom>
          <a:noFill/>
          <a:ln/>
        </p:spPr>
        <p:txBody>
          <a:bodyPr wrap="square" rtlCol="0" anchor="t"/>
          <a:lstStyle/>
          <a:p>
            <a:pPr indent="0" marL="0">
              <a:buNone/>
            </a:pPr>
            <a:r>
              <a:rPr lang="en-US" sz="1200" dirty="0">
                <a:solidFill>
                  <a:srgbClr val="5F5F5F"/>
                </a:solidFill>
                <a:latin typeface="Segoe UI" pitchFamily="34" charset="0"/>
                <a:ea typeface="Segoe UI" pitchFamily="34" charset="-122"/>
                <a:cs typeface="Segoe UI" pitchFamily="34" charset="-120"/>
              </a:rPr>
              <a:t>Portals list centres, but nobody runs the last mile: calling donors, tracking who's coming, telling others to stand down.</a:t>
            </a:r>
            <a:endParaRPr lang="en-US" sz="1200" dirty="0"/>
          </a:p>
        </p:txBody>
      </p:sp>
      <p:sp>
        <p:nvSpPr>
          <p:cNvPr id="37" name="Shape 35"/>
          <p:cNvSpPr/>
          <p:nvPr/>
        </p:nvSpPr>
        <p:spPr>
          <a:xfrm>
            <a:off x="8010144" y="3886200"/>
            <a:ext cx="3611880" cy="2103120"/>
          </a:xfrm>
          <a:prstGeom prst="roundRect">
            <a:avLst>
              <a:gd name="adj" fmla="val 5217"/>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38" name="Shape 36"/>
          <p:cNvSpPr/>
          <p:nvPr/>
        </p:nvSpPr>
        <p:spPr>
          <a:xfrm>
            <a:off x="8147304" y="3886200"/>
            <a:ext cx="3337560" cy="64008"/>
          </a:xfrm>
          <a:prstGeom prst="rect">
            <a:avLst/>
          </a:prstGeom>
          <a:solidFill>
            <a:srgbClr val="5A0F1C"/>
          </a:solidFill>
          <a:ln w="12700">
            <a:solidFill>
              <a:srgbClr val="5A0F1C"/>
            </a:solidFill>
            <a:prstDash val="solid"/>
          </a:ln>
        </p:spPr>
      </p:sp>
      <p:sp>
        <p:nvSpPr>
          <p:cNvPr id="39" name="Shape 37"/>
          <p:cNvSpPr/>
          <p:nvPr/>
        </p:nvSpPr>
        <p:spPr>
          <a:xfrm>
            <a:off x="8238744" y="4160520"/>
            <a:ext cx="548640" cy="548640"/>
          </a:xfrm>
          <a:prstGeom prst="ellipse">
            <a:avLst/>
          </a:prstGeom>
          <a:solidFill>
            <a:srgbClr val="5A0F1C"/>
          </a:solidFill>
          <a:ln w="12700">
            <a:solidFill>
              <a:srgbClr val="5A0F1C"/>
            </a:solidFill>
            <a:prstDash val="solid"/>
          </a:ln>
        </p:spPr>
      </p:sp>
      <p:sp>
        <p:nvSpPr>
          <p:cNvPr id="40" name="Text 38"/>
          <p:cNvSpPr/>
          <p:nvPr/>
        </p:nvSpPr>
        <p:spPr>
          <a:xfrm>
            <a:off x="8238744" y="4160520"/>
            <a:ext cx="548640" cy="54864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a:t>
            </a:r>
            <a:endParaRPr lang="en-US" sz="1800" dirty="0"/>
          </a:p>
        </p:txBody>
      </p:sp>
      <p:sp>
        <p:nvSpPr>
          <p:cNvPr id="41" name="Text 39"/>
          <p:cNvSpPr/>
          <p:nvPr/>
        </p:nvSpPr>
        <p:spPr>
          <a:xfrm>
            <a:off x="8878824" y="4142232"/>
            <a:ext cx="2606040" cy="594360"/>
          </a:xfrm>
          <a:prstGeom prst="rect">
            <a:avLst/>
          </a:prstGeom>
          <a:noFill/>
          <a:ln/>
        </p:spPr>
        <p:txBody>
          <a:bodyPr wrap="square" rtlCol="0" anchor="ctr"/>
          <a:lstStyle/>
          <a:p>
            <a:pPr indent="0" marL="0">
              <a:buNone/>
            </a:pPr>
            <a:r>
              <a:rPr lang="en-US" sz="1500" b="1" dirty="0">
                <a:solidFill>
                  <a:srgbClr val="2B0A10"/>
                </a:solidFill>
                <a:latin typeface="Segoe UI" pitchFamily="34" charset="0"/>
                <a:ea typeface="Segoe UI" pitchFamily="34" charset="-122"/>
                <a:cs typeface="Segoe UI" pitchFamily="34" charset="-120"/>
              </a:rPr>
              <a:t>Built for English &amp; forms</a:t>
            </a:r>
            <a:endParaRPr lang="en-US" sz="1500" dirty="0"/>
          </a:p>
        </p:txBody>
      </p:sp>
      <p:sp>
        <p:nvSpPr>
          <p:cNvPr id="42" name="Text 40"/>
          <p:cNvSpPr/>
          <p:nvPr/>
        </p:nvSpPr>
        <p:spPr>
          <a:xfrm>
            <a:off x="8238744" y="4800600"/>
            <a:ext cx="3200400" cy="1097280"/>
          </a:xfrm>
          <a:prstGeom prst="rect">
            <a:avLst/>
          </a:prstGeom>
          <a:noFill/>
          <a:ln/>
        </p:spPr>
        <p:txBody>
          <a:bodyPr wrap="square" rtlCol="0" anchor="t"/>
          <a:lstStyle/>
          <a:p>
            <a:pPr indent="0" marL="0">
              <a:buNone/>
            </a:pPr>
            <a:r>
              <a:rPr lang="en-US" sz="1200" dirty="0">
                <a:solidFill>
                  <a:srgbClr val="5F5F5F"/>
                </a:solidFill>
                <a:latin typeface="Segoe UI" pitchFamily="34" charset="0"/>
                <a:ea typeface="Segoe UI" pitchFamily="34" charset="-122"/>
                <a:cs typeface="Segoe UI" pitchFamily="34" charset="-120"/>
              </a:rPr>
              <a:t>Official portals assume English and long forms, not a frightened family at 3 AM who just needs one simple screen.</a:t>
            </a:r>
            <a:endParaRPr lang="en-US" sz="1200" dirty="0"/>
          </a:p>
        </p:txBody>
      </p:sp>
      <p:sp>
        <p:nvSpPr>
          <p:cNvPr id="43" name="Text 41"/>
          <p:cNvSpPr/>
          <p:nvPr/>
        </p:nvSpPr>
        <p:spPr>
          <a:xfrm>
            <a:off x="548640" y="6080760"/>
            <a:ext cx="10972800" cy="320040"/>
          </a:xfrm>
          <a:prstGeom prst="rect">
            <a:avLst/>
          </a:prstGeom>
          <a:noFill/>
          <a:ln/>
        </p:spPr>
        <p:txBody>
          <a:bodyPr wrap="square" rtlCol="0" anchor="ctr"/>
          <a:lstStyle/>
          <a:p>
            <a:pPr indent="0" marL="0">
              <a:buNone/>
            </a:pPr>
            <a:r>
              <a:rPr lang="en-US" sz="900" i="1" dirty="0">
                <a:solidFill>
                  <a:srgbClr val="5F5F5F"/>
                </a:solidFill>
                <a:latin typeface="Segoe UI" pitchFamily="34" charset="0"/>
                <a:ea typeface="Segoe UI" pitchFamily="34" charset="-122"/>
                <a:cs typeface="Segoe UI" pitchFamily="34" charset="-120"/>
              </a:rPr>
              <a:t>Sources: MoHFW/NACO review via Outlook India (Apr 2026); Rajya Sabha data via TOI (Aug 2026); ISBT Transfusion Today (Jul 2025).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8F5"/>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102E"/>
          </a:solidFill>
          <a:ln w="12700">
            <a:solidFill>
              <a:srgbClr val="C8102E"/>
            </a:solidFill>
            <a:prstDash val="solid"/>
          </a:ln>
        </p:spPr>
      </p:sp>
      <p:sp>
        <p:nvSpPr>
          <p:cNvPr id="3" name="Text 1"/>
          <p:cNvSpPr/>
          <p:nvPr/>
        </p:nvSpPr>
        <p:spPr>
          <a:xfrm>
            <a:off x="411480" y="6446520"/>
            <a:ext cx="2743200" cy="274320"/>
          </a:xfrm>
          <a:prstGeom prst="rect">
            <a:avLst/>
          </a:prstGeom>
          <a:noFill/>
          <a:ln/>
        </p:spPr>
        <p:txBody>
          <a:bodyPr wrap="square" rtlCol="0" anchor="ctr"/>
          <a:lstStyle/>
          <a:p>
            <a:pPr indent="0" marL="0">
              <a:buNone/>
            </a:pPr>
            <a:r>
              <a:rPr lang="en-US" sz="1000" b="1" dirty="0">
                <a:solidFill>
                  <a:srgbClr val="C8102E"/>
                </a:solidFill>
                <a:latin typeface="Segoe UI" pitchFamily="34" charset="0"/>
                <a:ea typeface="Segoe UI" pitchFamily="34" charset="-122"/>
                <a:cs typeface="Segoe UI" pitchFamily="34" charset="-120"/>
              </a:rPr>
              <a:t>RaktDoot</a:t>
            </a:r>
            <a:endParaRPr lang="en-US" sz="1000" dirty="0"/>
          </a:p>
        </p:txBody>
      </p:sp>
      <p:sp>
        <p:nvSpPr>
          <p:cNvPr id="4" name="Text 2"/>
          <p:cNvSpPr/>
          <p:nvPr/>
        </p:nvSpPr>
        <p:spPr>
          <a:xfrm>
            <a:off x="11277295" y="6446520"/>
            <a:ext cx="548640" cy="274320"/>
          </a:xfrm>
          <a:prstGeom prst="rect">
            <a:avLst/>
          </a:prstGeom>
          <a:noFill/>
          <a:ln/>
        </p:spPr>
        <p:txBody>
          <a:bodyPr wrap="square" rtlCol="0" anchor="ctr"/>
          <a:lstStyle/>
          <a:p>
            <a:pPr algn="r" indent="0" marL="0">
              <a:buNone/>
            </a:pPr>
            <a:r>
              <a:rPr lang="en-US" sz="1000" dirty="0">
                <a:solidFill>
                  <a:srgbClr val="5F5F5F"/>
                </a:solidFill>
                <a:latin typeface="Segoe UI" pitchFamily="34" charset="0"/>
                <a:ea typeface="Segoe UI" pitchFamily="34" charset="-122"/>
                <a:cs typeface="Segoe UI" pitchFamily="34" charset="-120"/>
              </a:rPr>
              <a:t>4</a:t>
            </a:r>
            <a:endParaRPr lang="en-US" sz="1000" dirty="0"/>
          </a:p>
        </p:txBody>
      </p:sp>
      <p:sp>
        <p:nvSpPr>
          <p:cNvPr id="5" name="Text 3"/>
          <p:cNvSpPr/>
          <p:nvPr/>
        </p:nvSpPr>
        <p:spPr>
          <a:xfrm>
            <a:off x="548640" y="320040"/>
            <a:ext cx="9144000" cy="320040"/>
          </a:xfrm>
          <a:prstGeom prst="rect">
            <a:avLst/>
          </a:prstGeom>
          <a:noFill/>
          <a:ln/>
        </p:spPr>
        <p:txBody>
          <a:bodyPr wrap="square" rtlCol="0" anchor="ctr"/>
          <a:lstStyle/>
          <a:p>
            <a:pPr indent="0" marL="0">
              <a:buNone/>
            </a:pPr>
            <a:r>
              <a:rPr lang="en-US" sz="1200" b="1" spc="300" kern="0" dirty="0">
                <a:solidFill>
                  <a:srgbClr val="C8102E"/>
                </a:solidFill>
                <a:latin typeface="Segoe UI" pitchFamily="34" charset="0"/>
                <a:ea typeface="Segoe UI" pitchFamily="34" charset="-122"/>
                <a:cs typeface="Segoe UI" pitchFamily="34" charset="-120"/>
              </a:rPr>
              <a:t>THE PROBLEM WE ADDRESS</a:t>
            </a:r>
            <a:endParaRPr lang="en-US" sz="1200" dirty="0"/>
          </a:p>
        </p:txBody>
      </p:sp>
      <p:sp>
        <p:nvSpPr>
          <p:cNvPr id="6" name="Text 4"/>
          <p:cNvSpPr/>
          <p:nvPr/>
        </p:nvSpPr>
        <p:spPr>
          <a:xfrm>
            <a:off x="548640" y="640080"/>
            <a:ext cx="11064240" cy="777240"/>
          </a:xfrm>
          <a:prstGeom prst="rect">
            <a:avLst/>
          </a:prstGeom>
          <a:noFill/>
          <a:ln/>
        </p:spPr>
        <p:txBody>
          <a:bodyPr wrap="square" rtlCol="0" anchor="ctr"/>
          <a:lstStyle/>
          <a:p>
            <a:pPr indent="0" marL="0">
              <a:buNone/>
            </a:pPr>
            <a:r>
              <a:rPr lang="en-US" sz="3000" b="1" dirty="0">
                <a:solidFill>
                  <a:srgbClr val="2B0A10"/>
                </a:solidFill>
                <a:latin typeface="Segoe UI" pitchFamily="34" charset="0"/>
                <a:ea typeface="Segoe UI" pitchFamily="34" charset="-122"/>
                <a:cs typeface="Segoe UI" pitchFamily="34" charset="-120"/>
              </a:rPr>
              <a:t>What a family goes through when blood is needed today</a:t>
            </a:r>
            <a:endParaRPr lang="en-US" sz="3000" dirty="0"/>
          </a:p>
        </p:txBody>
      </p:sp>
      <p:sp>
        <p:nvSpPr>
          <p:cNvPr id="7" name="Shape 5"/>
          <p:cNvSpPr/>
          <p:nvPr/>
        </p:nvSpPr>
        <p:spPr>
          <a:xfrm>
            <a:off x="548640" y="1737360"/>
            <a:ext cx="2057400" cy="2377440"/>
          </a:xfrm>
          <a:prstGeom prst="roundRect">
            <a:avLst>
              <a:gd name="adj" fmla="val 5333"/>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685800" y="1737360"/>
            <a:ext cx="1783080" cy="64008"/>
          </a:xfrm>
          <a:prstGeom prst="rect">
            <a:avLst/>
          </a:prstGeom>
          <a:solidFill>
            <a:srgbClr val="C8102E"/>
          </a:solidFill>
          <a:ln w="12700">
            <a:solidFill>
              <a:srgbClr val="C8102E"/>
            </a:solidFill>
            <a:prstDash val="solid"/>
          </a:ln>
        </p:spPr>
      </p:sp>
      <p:sp>
        <p:nvSpPr>
          <p:cNvPr id="9" name="Text 7"/>
          <p:cNvSpPr/>
          <p:nvPr/>
        </p:nvSpPr>
        <p:spPr>
          <a:xfrm>
            <a:off x="548640" y="1874520"/>
            <a:ext cx="2057400" cy="548640"/>
          </a:xfrm>
          <a:prstGeom prst="rect">
            <a:avLst/>
          </a:prstGeom>
          <a:noFill/>
          <a:ln/>
        </p:spPr>
        <p:txBody>
          <a:bodyPr wrap="square" rtlCol="0" anchor="ctr"/>
          <a:lstStyle/>
          <a:p>
            <a:pPr algn="ctr" indent="0" marL="0">
              <a:buNone/>
            </a:pPr>
            <a:r>
              <a:rPr lang="en-US" sz="3000" b="1" dirty="0">
                <a:solidFill>
                  <a:srgbClr val="C8102E"/>
                </a:solidFill>
                <a:latin typeface="Segoe UI" pitchFamily="34" charset="0"/>
                <a:ea typeface="Segoe UI" pitchFamily="34" charset="-122"/>
                <a:cs typeface="Segoe UI" pitchFamily="34" charset="-120"/>
              </a:rPr>
              <a:t>1</a:t>
            </a:r>
            <a:endParaRPr lang="en-US" sz="3000" dirty="0"/>
          </a:p>
        </p:txBody>
      </p:sp>
      <p:sp>
        <p:nvSpPr>
          <p:cNvPr id="10" name="Text 8"/>
          <p:cNvSpPr/>
          <p:nvPr/>
        </p:nvSpPr>
        <p:spPr>
          <a:xfrm>
            <a:off x="640080" y="2468880"/>
            <a:ext cx="1874520" cy="868680"/>
          </a:xfrm>
          <a:prstGeom prst="rect">
            <a:avLst/>
          </a:prstGeom>
          <a:noFill/>
          <a:ln/>
        </p:spPr>
        <p:txBody>
          <a:bodyPr wrap="square" rtlCol="0" anchor="ctr"/>
          <a:lstStyle/>
          <a:p>
            <a:pPr algn="ctr" indent="0" marL="0">
              <a:buNone/>
            </a:pPr>
            <a:r>
              <a:rPr lang="en-US" sz="1400" b="1" dirty="0">
                <a:solidFill>
                  <a:srgbClr val="2B0A10"/>
                </a:solidFill>
                <a:latin typeface="Segoe UI" pitchFamily="34" charset="0"/>
                <a:ea typeface="Segoe UI" pitchFamily="34" charset="-122"/>
                <a:cs typeface="Segoe UI" pitchFamily="34" charset="-120"/>
              </a:rPr>
              <a:t>Doctor says "arrange 2 units B+"</a:t>
            </a:r>
            <a:endParaRPr lang="en-US" sz="1400" dirty="0"/>
          </a:p>
        </p:txBody>
      </p:sp>
      <p:sp>
        <p:nvSpPr>
          <p:cNvPr id="11" name="Text 9"/>
          <p:cNvSpPr/>
          <p:nvPr/>
        </p:nvSpPr>
        <p:spPr>
          <a:xfrm>
            <a:off x="640080" y="3337560"/>
            <a:ext cx="1874520" cy="685800"/>
          </a:xfrm>
          <a:prstGeom prst="rect">
            <a:avLst/>
          </a:prstGeom>
          <a:noFill/>
          <a:ln/>
        </p:spPr>
        <p:txBody>
          <a:bodyPr wrap="square" rtlCol="0" anchor="ctr"/>
          <a:lstStyle/>
          <a:p>
            <a:pPr algn="ctr" indent="0" marL="0">
              <a:buNone/>
            </a:pPr>
            <a:r>
              <a:rPr lang="en-US" sz="1200" dirty="0">
                <a:solidFill>
                  <a:srgbClr val="5F5F5F"/>
                </a:solidFill>
                <a:latin typeface="Segoe UI" pitchFamily="34" charset="0"/>
                <a:ea typeface="Segoe UI" pitchFamily="34" charset="-122"/>
                <a:cs typeface="Segoe UI" pitchFamily="34" charset="-120"/>
              </a:rPr>
              <a:t>Family panics, often at night</a:t>
            </a:r>
            <a:endParaRPr lang="en-US" sz="1200" dirty="0"/>
          </a:p>
        </p:txBody>
      </p:sp>
      <p:sp>
        <p:nvSpPr>
          <p:cNvPr id="12" name="Shape 10"/>
          <p:cNvSpPr/>
          <p:nvPr/>
        </p:nvSpPr>
        <p:spPr>
          <a:xfrm>
            <a:off x="2615184" y="2926080"/>
            <a:ext cx="173736" cy="0"/>
          </a:xfrm>
          <a:prstGeom prst="line">
            <a:avLst/>
          </a:prstGeom>
          <a:noFill/>
          <a:ln w="31750">
            <a:solidFill>
              <a:srgbClr val="C8102E"/>
            </a:solidFill>
            <a:prstDash val="solid"/>
            <a:tailEnd type="triangle"/>
          </a:ln>
        </p:spPr>
      </p:sp>
      <p:sp>
        <p:nvSpPr>
          <p:cNvPr id="13" name="Shape 11"/>
          <p:cNvSpPr/>
          <p:nvPr/>
        </p:nvSpPr>
        <p:spPr>
          <a:xfrm>
            <a:off x="2798064" y="1737360"/>
            <a:ext cx="2057400" cy="2377440"/>
          </a:xfrm>
          <a:prstGeom prst="roundRect">
            <a:avLst>
              <a:gd name="adj" fmla="val 5333"/>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2935224" y="1737360"/>
            <a:ext cx="1783080" cy="64008"/>
          </a:xfrm>
          <a:prstGeom prst="rect">
            <a:avLst/>
          </a:prstGeom>
          <a:solidFill>
            <a:srgbClr val="C8102E"/>
          </a:solidFill>
          <a:ln w="12700">
            <a:solidFill>
              <a:srgbClr val="C8102E"/>
            </a:solidFill>
            <a:prstDash val="solid"/>
          </a:ln>
        </p:spPr>
      </p:sp>
      <p:sp>
        <p:nvSpPr>
          <p:cNvPr id="15" name="Text 13"/>
          <p:cNvSpPr/>
          <p:nvPr/>
        </p:nvSpPr>
        <p:spPr>
          <a:xfrm>
            <a:off x="2798064" y="1874520"/>
            <a:ext cx="2057400" cy="548640"/>
          </a:xfrm>
          <a:prstGeom prst="rect">
            <a:avLst/>
          </a:prstGeom>
          <a:noFill/>
          <a:ln/>
        </p:spPr>
        <p:txBody>
          <a:bodyPr wrap="square" rtlCol="0" anchor="ctr"/>
          <a:lstStyle/>
          <a:p>
            <a:pPr algn="ctr" indent="0" marL="0">
              <a:buNone/>
            </a:pPr>
            <a:r>
              <a:rPr lang="en-US" sz="3000" b="1" dirty="0">
                <a:solidFill>
                  <a:srgbClr val="C8102E"/>
                </a:solidFill>
                <a:latin typeface="Segoe UI" pitchFamily="34" charset="0"/>
                <a:ea typeface="Segoe UI" pitchFamily="34" charset="-122"/>
                <a:cs typeface="Segoe UI" pitchFamily="34" charset="-120"/>
              </a:rPr>
              <a:t>2</a:t>
            </a:r>
            <a:endParaRPr lang="en-US" sz="3000" dirty="0"/>
          </a:p>
        </p:txBody>
      </p:sp>
      <p:sp>
        <p:nvSpPr>
          <p:cNvPr id="16" name="Text 14"/>
          <p:cNvSpPr/>
          <p:nvPr/>
        </p:nvSpPr>
        <p:spPr>
          <a:xfrm>
            <a:off x="2889504" y="2468880"/>
            <a:ext cx="1874520" cy="868680"/>
          </a:xfrm>
          <a:prstGeom prst="rect">
            <a:avLst/>
          </a:prstGeom>
          <a:noFill/>
          <a:ln/>
        </p:spPr>
        <p:txBody>
          <a:bodyPr wrap="square" rtlCol="0" anchor="ctr"/>
          <a:lstStyle/>
          <a:p>
            <a:pPr algn="ctr" indent="0" marL="0">
              <a:buNone/>
            </a:pPr>
            <a:r>
              <a:rPr lang="en-US" sz="1400" b="1" dirty="0">
                <a:solidFill>
                  <a:srgbClr val="2B0A10"/>
                </a:solidFill>
                <a:latin typeface="Segoe UI" pitchFamily="34" charset="0"/>
                <a:ea typeface="Segoe UI" pitchFamily="34" charset="-122"/>
                <a:cs typeface="Segoe UI" pitchFamily="34" charset="-120"/>
              </a:rPr>
              <a:t>Dozens of phone calls</a:t>
            </a:r>
            <a:endParaRPr lang="en-US" sz="1400" dirty="0"/>
          </a:p>
        </p:txBody>
      </p:sp>
      <p:sp>
        <p:nvSpPr>
          <p:cNvPr id="17" name="Text 15"/>
          <p:cNvSpPr/>
          <p:nvPr/>
        </p:nvSpPr>
        <p:spPr>
          <a:xfrm>
            <a:off x="2889504" y="3337560"/>
            <a:ext cx="1874520" cy="685800"/>
          </a:xfrm>
          <a:prstGeom prst="rect">
            <a:avLst/>
          </a:prstGeom>
          <a:noFill/>
          <a:ln/>
        </p:spPr>
        <p:txBody>
          <a:bodyPr wrap="square" rtlCol="0" anchor="ctr"/>
          <a:lstStyle/>
          <a:p>
            <a:pPr algn="ctr" indent="0" marL="0">
              <a:buNone/>
            </a:pPr>
            <a:r>
              <a:rPr lang="en-US" sz="1200" dirty="0">
                <a:solidFill>
                  <a:srgbClr val="5F5F5F"/>
                </a:solidFill>
                <a:latin typeface="Segoe UI" pitchFamily="34" charset="0"/>
                <a:ea typeface="Segoe UI" pitchFamily="34" charset="-122"/>
                <a:cs typeface="Segoe UI" pitchFamily="34" charset="-120"/>
              </a:rPr>
              <a:t>Fragmented listings, stock info hours old</a:t>
            </a:r>
            <a:endParaRPr lang="en-US" sz="1200" dirty="0"/>
          </a:p>
        </p:txBody>
      </p:sp>
      <p:sp>
        <p:nvSpPr>
          <p:cNvPr id="18" name="Shape 16"/>
          <p:cNvSpPr/>
          <p:nvPr/>
        </p:nvSpPr>
        <p:spPr>
          <a:xfrm>
            <a:off x="4864608" y="2926080"/>
            <a:ext cx="173736" cy="0"/>
          </a:xfrm>
          <a:prstGeom prst="line">
            <a:avLst/>
          </a:prstGeom>
          <a:noFill/>
          <a:ln w="31750">
            <a:solidFill>
              <a:srgbClr val="C8102E"/>
            </a:solidFill>
            <a:prstDash val="solid"/>
            <a:tailEnd type="triangle"/>
          </a:ln>
        </p:spPr>
      </p:sp>
      <p:sp>
        <p:nvSpPr>
          <p:cNvPr id="19" name="Shape 17"/>
          <p:cNvSpPr/>
          <p:nvPr/>
        </p:nvSpPr>
        <p:spPr>
          <a:xfrm>
            <a:off x="5047488" y="1737360"/>
            <a:ext cx="2057400" cy="2377440"/>
          </a:xfrm>
          <a:prstGeom prst="roundRect">
            <a:avLst>
              <a:gd name="adj" fmla="val 5333"/>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5184648" y="1737360"/>
            <a:ext cx="1783080" cy="64008"/>
          </a:xfrm>
          <a:prstGeom prst="rect">
            <a:avLst/>
          </a:prstGeom>
          <a:solidFill>
            <a:srgbClr val="C8102E"/>
          </a:solidFill>
          <a:ln w="12700">
            <a:solidFill>
              <a:srgbClr val="C8102E"/>
            </a:solidFill>
            <a:prstDash val="solid"/>
          </a:ln>
        </p:spPr>
      </p:sp>
      <p:sp>
        <p:nvSpPr>
          <p:cNvPr id="21" name="Text 19"/>
          <p:cNvSpPr/>
          <p:nvPr/>
        </p:nvSpPr>
        <p:spPr>
          <a:xfrm>
            <a:off x="5047488" y="1874520"/>
            <a:ext cx="2057400" cy="548640"/>
          </a:xfrm>
          <a:prstGeom prst="rect">
            <a:avLst/>
          </a:prstGeom>
          <a:noFill/>
          <a:ln/>
        </p:spPr>
        <p:txBody>
          <a:bodyPr wrap="square" rtlCol="0" anchor="ctr"/>
          <a:lstStyle/>
          <a:p>
            <a:pPr algn="ctr" indent="0" marL="0">
              <a:buNone/>
            </a:pPr>
            <a:r>
              <a:rPr lang="en-US" sz="3000" b="1" dirty="0">
                <a:solidFill>
                  <a:srgbClr val="C8102E"/>
                </a:solidFill>
                <a:latin typeface="Segoe UI" pitchFamily="34" charset="0"/>
                <a:ea typeface="Segoe UI" pitchFamily="34" charset="-122"/>
                <a:cs typeface="Segoe UI" pitchFamily="34" charset="-120"/>
              </a:rPr>
              <a:t>3</a:t>
            </a:r>
            <a:endParaRPr lang="en-US" sz="3000" dirty="0"/>
          </a:p>
        </p:txBody>
      </p:sp>
      <p:sp>
        <p:nvSpPr>
          <p:cNvPr id="22" name="Text 20"/>
          <p:cNvSpPr/>
          <p:nvPr/>
        </p:nvSpPr>
        <p:spPr>
          <a:xfrm>
            <a:off x="5138928" y="2468880"/>
            <a:ext cx="1874520" cy="868680"/>
          </a:xfrm>
          <a:prstGeom prst="rect">
            <a:avLst/>
          </a:prstGeom>
          <a:noFill/>
          <a:ln/>
        </p:spPr>
        <p:txBody>
          <a:bodyPr wrap="square" rtlCol="0" anchor="ctr"/>
          <a:lstStyle/>
          <a:p>
            <a:pPr algn="ctr" indent="0" marL="0">
              <a:buNone/>
            </a:pPr>
            <a:r>
              <a:rPr lang="en-US" sz="1400" b="1" dirty="0">
                <a:solidFill>
                  <a:srgbClr val="2B0A10"/>
                </a:solidFill>
                <a:latin typeface="Segoe UI" pitchFamily="34" charset="0"/>
                <a:ea typeface="Segoe UI" pitchFamily="34" charset="-122"/>
                <a:cs typeface="Segoe UI" pitchFamily="34" charset="-120"/>
              </a:rPr>
              <a:t>Forwarded WhatsApp appeals</a:t>
            </a:r>
            <a:endParaRPr lang="en-US" sz="1400" dirty="0"/>
          </a:p>
        </p:txBody>
      </p:sp>
      <p:sp>
        <p:nvSpPr>
          <p:cNvPr id="23" name="Text 21"/>
          <p:cNvSpPr/>
          <p:nvPr/>
        </p:nvSpPr>
        <p:spPr>
          <a:xfrm>
            <a:off x="5138928" y="3337560"/>
            <a:ext cx="1874520" cy="685800"/>
          </a:xfrm>
          <a:prstGeom prst="rect">
            <a:avLst/>
          </a:prstGeom>
          <a:noFill/>
          <a:ln/>
        </p:spPr>
        <p:txBody>
          <a:bodyPr wrap="square" rtlCol="0" anchor="ctr"/>
          <a:lstStyle/>
          <a:p>
            <a:pPr algn="ctr" indent="0" marL="0">
              <a:buNone/>
            </a:pPr>
            <a:r>
              <a:rPr lang="en-US" sz="1200" dirty="0">
                <a:solidFill>
                  <a:srgbClr val="5F5F5F"/>
                </a:solidFill>
                <a:latin typeface="Segoe UI" pitchFamily="34" charset="0"/>
                <a:ea typeface="Segoe UI" pitchFamily="34" charset="-122"/>
                <a:cs typeface="Segoe UI" pitchFamily="34" charset="-120"/>
              </a:rPr>
              <a:t>Stale donor lists; numbers exposed publicly</a:t>
            </a:r>
            <a:endParaRPr lang="en-US" sz="1200" dirty="0"/>
          </a:p>
        </p:txBody>
      </p:sp>
      <p:sp>
        <p:nvSpPr>
          <p:cNvPr id="24" name="Shape 22"/>
          <p:cNvSpPr/>
          <p:nvPr/>
        </p:nvSpPr>
        <p:spPr>
          <a:xfrm>
            <a:off x="7114032" y="2926080"/>
            <a:ext cx="173736" cy="0"/>
          </a:xfrm>
          <a:prstGeom prst="line">
            <a:avLst/>
          </a:prstGeom>
          <a:noFill/>
          <a:ln w="31750">
            <a:solidFill>
              <a:srgbClr val="C8102E"/>
            </a:solidFill>
            <a:prstDash val="solid"/>
            <a:tailEnd type="triangle"/>
          </a:ln>
        </p:spPr>
      </p:sp>
      <p:sp>
        <p:nvSpPr>
          <p:cNvPr id="25" name="Shape 23"/>
          <p:cNvSpPr/>
          <p:nvPr/>
        </p:nvSpPr>
        <p:spPr>
          <a:xfrm>
            <a:off x="7296912" y="1737360"/>
            <a:ext cx="2057400" cy="2377440"/>
          </a:xfrm>
          <a:prstGeom prst="roundRect">
            <a:avLst>
              <a:gd name="adj" fmla="val 5333"/>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26" name="Shape 24"/>
          <p:cNvSpPr/>
          <p:nvPr/>
        </p:nvSpPr>
        <p:spPr>
          <a:xfrm>
            <a:off x="7434072" y="1737360"/>
            <a:ext cx="1783080" cy="64008"/>
          </a:xfrm>
          <a:prstGeom prst="rect">
            <a:avLst/>
          </a:prstGeom>
          <a:solidFill>
            <a:srgbClr val="C8102E"/>
          </a:solidFill>
          <a:ln w="12700">
            <a:solidFill>
              <a:srgbClr val="C8102E"/>
            </a:solidFill>
            <a:prstDash val="solid"/>
          </a:ln>
        </p:spPr>
      </p:sp>
      <p:sp>
        <p:nvSpPr>
          <p:cNvPr id="27" name="Text 25"/>
          <p:cNvSpPr/>
          <p:nvPr/>
        </p:nvSpPr>
        <p:spPr>
          <a:xfrm>
            <a:off x="7296912" y="1874520"/>
            <a:ext cx="2057400" cy="548640"/>
          </a:xfrm>
          <a:prstGeom prst="rect">
            <a:avLst/>
          </a:prstGeom>
          <a:noFill/>
          <a:ln/>
        </p:spPr>
        <p:txBody>
          <a:bodyPr wrap="square" rtlCol="0" anchor="ctr"/>
          <a:lstStyle/>
          <a:p>
            <a:pPr algn="ctr" indent="0" marL="0">
              <a:buNone/>
            </a:pPr>
            <a:r>
              <a:rPr lang="en-US" sz="3000" b="1" dirty="0">
                <a:solidFill>
                  <a:srgbClr val="C8102E"/>
                </a:solidFill>
                <a:latin typeface="Segoe UI" pitchFamily="34" charset="0"/>
                <a:ea typeface="Segoe UI" pitchFamily="34" charset="-122"/>
                <a:cs typeface="Segoe UI" pitchFamily="34" charset="-120"/>
              </a:rPr>
              <a:t>4</a:t>
            </a:r>
            <a:endParaRPr lang="en-US" sz="3000" dirty="0"/>
          </a:p>
        </p:txBody>
      </p:sp>
      <p:sp>
        <p:nvSpPr>
          <p:cNvPr id="28" name="Text 26"/>
          <p:cNvSpPr/>
          <p:nvPr/>
        </p:nvSpPr>
        <p:spPr>
          <a:xfrm>
            <a:off x="7388352" y="2468880"/>
            <a:ext cx="1874520" cy="868680"/>
          </a:xfrm>
          <a:prstGeom prst="rect">
            <a:avLst/>
          </a:prstGeom>
          <a:noFill/>
          <a:ln/>
        </p:spPr>
        <p:txBody>
          <a:bodyPr wrap="square" rtlCol="0" anchor="ctr"/>
          <a:lstStyle/>
          <a:p>
            <a:pPr algn="ctr" indent="0" marL="0">
              <a:buNone/>
            </a:pPr>
            <a:r>
              <a:rPr lang="en-US" sz="1400" b="1" dirty="0">
                <a:solidFill>
                  <a:srgbClr val="2B0A10"/>
                </a:solidFill>
                <a:latin typeface="Segoe UI" pitchFamily="34" charset="0"/>
                <a:ea typeface="Segoe UI" pitchFamily="34" charset="-122"/>
                <a:cs typeface="Segoe UI" pitchFamily="34" charset="-120"/>
              </a:rPr>
              <a:t>Appeals never stop</a:t>
            </a:r>
            <a:endParaRPr lang="en-US" sz="1400" dirty="0"/>
          </a:p>
        </p:txBody>
      </p:sp>
      <p:sp>
        <p:nvSpPr>
          <p:cNvPr id="29" name="Text 27"/>
          <p:cNvSpPr/>
          <p:nvPr/>
        </p:nvSpPr>
        <p:spPr>
          <a:xfrm>
            <a:off x="7388352" y="3337560"/>
            <a:ext cx="1874520" cy="685800"/>
          </a:xfrm>
          <a:prstGeom prst="rect">
            <a:avLst/>
          </a:prstGeom>
          <a:noFill/>
          <a:ln/>
        </p:spPr>
        <p:txBody>
          <a:bodyPr wrap="square" rtlCol="0" anchor="ctr"/>
          <a:lstStyle/>
          <a:p>
            <a:pPr algn="ctr" indent="0" marL="0">
              <a:buNone/>
            </a:pPr>
            <a:r>
              <a:rPr lang="en-US" sz="1200" dirty="0">
                <a:solidFill>
                  <a:srgbClr val="5F5F5F"/>
                </a:solidFill>
                <a:latin typeface="Segoe UI" pitchFamily="34" charset="0"/>
                <a:ea typeface="Segoe UI" pitchFamily="34" charset="-122"/>
                <a:cs typeface="Segoe UI" pitchFamily="34" charset="-120"/>
              </a:rPr>
              <a:t>Keep circulating after the need is met</a:t>
            </a:r>
            <a:endParaRPr lang="en-US" sz="1200" dirty="0"/>
          </a:p>
        </p:txBody>
      </p:sp>
      <p:sp>
        <p:nvSpPr>
          <p:cNvPr id="30" name="Shape 28"/>
          <p:cNvSpPr/>
          <p:nvPr/>
        </p:nvSpPr>
        <p:spPr>
          <a:xfrm>
            <a:off x="9363456" y="2926080"/>
            <a:ext cx="173736" cy="0"/>
          </a:xfrm>
          <a:prstGeom prst="line">
            <a:avLst/>
          </a:prstGeom>
          <a:noFill/>
          <a:ln w="31750">
            <a:solidFill>
              <a:srgbClr val="C8102E"/>
            </a:solidFill>
            <a:prstDash val="solid"/>
            <a:tailEnd type="triangle"/>
          </a:ln>
        </p:spPr>
      </p:sp>
      <p:sp>
        <p:nvSpPr>
          <p:cNvPr id="31" name="Shape 29"/>
          <p:cNvSpPr/>
          <p:nvPr/>
        </p:nvSpPr>
        <p:spPr>
          <a:xfrm>
            <a:off x="9546336" y="1737360"/>
            <a:ext cx="2057400" cy="2377440"/>
          </a:xfrm>
          <a:prstGeom prst="roundRect">
            <a:avLst>
              <a:gd name="adj" fmla="val 5333"/>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32" name="Shape 30"/>
          <p:cNvSpPr/>
          <p:nvPr/>
        </p:nvSpPr>
        <p:spPr>
          <a:xfrm>
            <a:off x="9683496" y="1737360"/>
            <a:ext cx="1783080" cy="64008"/>
          </a:xfrm>
          <a:prstGeom prst="rect">
            <a:avLst/>
          </a:prstGeom>
          <a:solidFill>
            <a:srgbClr val="C8102E"/>
          </a:solidFill>
          <a:ln w="12700">
            <a:solidFill>
              <a:srgbClr val="C8102E"/>
            </a:solidFill>
            <a:prstDash val="solid"/>
          </a:ln>
        </p:spPr>
      </p:sp>
      <p:sp>
        <p:nvSpPr>
          <p:cNvPr id="33" name="Text 31"/>
          <p:cNvSpPr/>
          <p:nvPr/>
        </p:nvSpPr>
        <p:spPr>
          <a:xfrm>
            <a:off x="9546336" y="1874520"/>
            <a:ext cx="2057400" cy="548640"/>
          </a:xfrm>
          <a:prstGeom prst="rect">
            <a:avLst/>
          </a:prstGeom>
          <a:noFill/>
          <a:ln/>
        </p:spPr>
        <p:txBody>
          <a:bodyPr wrap="square" rtlCol="0" anchor="ctr"/>
          <a:lstStyle/>
          <a:p>
            <a:pPr algn="ctr" indent="0" marL="0">
              <a:buNone/>
            </a:pPr>
            <a:r>
              <a:rPr lang="en-US" sz="3000" b="1" dirty="0">
                <a:solidFill>
                  <a:srgbClr val="C8102E"/>
                </a:solidFill>
                <a:latin typeface="Segoe UI" pitchFamily="34" charset="0"/>
                <a:ea typeface="Segoe UI" pitchFamily="34" charset="-122"/>
                <a:cs typeface="Segoe UI" pitchFamily="34" charset="-120"/>
              </a:rPr>
              <a:t>5</a:t>
            </a:r>
            <a:endParaRPr lang="en-US" sz="3000" dirty="0"/>
          </a:p>
        </p:txBody>
      </p:sp>
      <p:sp>
        <p:nvSpPr>
          <p:cNvPr id="34" name="Text 32"/>
          <p:cNvSpPr/>
          <p:nvPr/>
        </p:nvSpPr>
        <p:spPr>
          <a:xfrm>
            <a:off x="9637776" y="2468880"/>
            <a:ext cx="1874520" cy="868680"/>
          </a:xfrm>
          <a:prstGeom prst="rect">
            <a:avLst/>
          </a:prstGeom>
          <a:noFill/>
          <a:ln/>
        </p:spPr>
        <p:txBody>
          <a:bodyPr wrap="square" rtlCol="0" anchor="ctr"/>
          <a:lstStyle/>
          <a:p>
            <a:pPr algn="ctr" indent="0" marL="0">
              <a:buNone/>
            </a:pPr>
            <a:r>
              <a:rPr lang="en-US" sz="1400" b="1" dirty="0">
                <a:solidFill>
                  <a:srgbClr val="2B0A10"/>
                </a:solidFill>
                <a:latin typeface="Segoe UI" pitchFamily="34" charset="0"/>
                <a:ea typeface="Segoe UI" pitchFamily="34" charset="-122"/>
                <a:cs typeface="Segoe UI" pitchFamily="34" charset="-120"/>
              </a:rPr>
              <a:t>Nobody closes the loop</a:t>
            </a:r>
            <a:endParaRPr lang="en-US" sz="1400" dirty="0"/>
          </a:p>
        </p:txBody>
      </p:sp>
      <p:sp>
        <p:nvSpPr>
          <p:cNvPr id="35" name="Text 33"/>
          <p:cNvSpPr/>
          <p:nvPr/>
        </p:nvSpPr>
        <p:spPr>
          <a:xfrm>
            <a:off x="9637776" y="3337560"/>
            <a:ext cx="1874520" cy="685800"/>
          </a:xfrm>
          <a:prstGeom prst="rect">
            <a:avLst/>
          </a:prstGeom>
          <a:noFill/>
          <a:ln/>
        </p:spPr>
        <p:txBody>
          <a:bodyPr wrap="square" rtlCol="0" anchor="ctr"/>
          <a:lstStyle/>
          <a:p>
            <a:pPr algn="ctr" indent="0" marL="0">
              <a:buNone/>
            </a:pPr>
            <a:r>
              <a:rPr lang="en-US" sz="1200" dirty="0">
                <a:solidFill>
                  <a:srgbClr val="5F5F5F"/>
                </a:solidFill>
                <a:latin typeface="Segoe UI" pitchFamily="34" charset="0"/>
                <a:ea typeface="Segoe UI" pitchFamily="34" charset="-122"/>
                <a:cs typeface="Segoe UI" pitchFamily="34" charset="-120"/>
              </a:rPr>
              <a:t>No one knows who's coming or if it worked</a:t>
            </a:r>
            <a:endParaRPr lang="en-US" sz="1200" dirty="0"/>
          </a:p>
        </p:txBody>
      </p:sp>
      <p:sp>
        <p:nvSpPr>
          <p:cNvPr id="36" name="Shape 34"/>
          <p:cNvSpPr/>
          <p:nvPr/>
        </p:nvSpPr>
        <p:spPr>
          <a:xfrm>
            <a:off x="548640" y="4526280"/>
            <a:ext cx="11064240" cy="1371600"/>
          </a:xfrm>
          <a:prstGeom prst="roundRect">
            <a:avLst>
              <a:gd name="adj" fmla="val 8000"/>
            </a:avLst>
          </a:prstGeom>
          <a:solidFill>
            <a:srgbClr val="FBE4E6"/>
          </a:solidFill>
          <a:ln w="12700">
            <a:solidFill>
              <a:srgbClr val="C8102E"/>
            </a:solidFill>
            <a:prstDash val="solid"/>
          </a:ln>
        </p:spPr>
      </p:sp>
      <p:sp>
        <p:nvSpPr>
          <p:cNvPr id="37" name="Text 35"/>
          <p:cNvSpPr/>
          <p:nvPr/>
        </p:nvSpPr>
        <p:spPr>
          <a:xfrm>
            <a:off x="777240" y="4572000"/>
            <a:ext cx="10607040" cy="1280160"/>
          </a:xfrm>
          <a:prstGeom prst="rect">
            <a:avLst/>
          </a:prstGeom>
          <a:noFill/>
          <a:ln/>
        </p:spPr>
        <p:txBody>
          <a:bodyPr wrap="square" rtlCol="0" anchor="ctr"/>
          <a:lstStyle/>
          <a:p>
            <a:pPr indent="0" marL="0">
              <a:buNone/>
            </a:pPr>
            <a:r>
              <a:rPr lang="en-US" sz="1700" b="1" dirty="0">
                <a:solidFill>
                  <a:srgbClr val="C8102E"/>
                </a:solidFill>
                <a:latin typeface="Segoe UI" pitchFamily="34" charset="0"/>
                <a:ea typeface="Segoe UI" pitchFamily="34" charset="-122"/>
                <a:cs typeface="Segoe UI" pitchFamily="34" charset="-120"/>
              </a:rPr>
              <a:t>Root cause: </a:t>
            </a:r>
            <a:pPr indent="0" marL="0">
              <a:buNone/>
            </a:pPr>
            <a:r>
              <a:rPr lang="en-US" sz="1700" dirty="0">
                <a:solidFill>
                  <a:srgbClr val="222222"/>
                </a:solidFill>
                <a:latin typeface="Segoe UI" pitchFamily="34" charset="0"/>
                <a:ea typeface="Segoe UI" pitchFamily="34" charset="-122"/>
                <a:cs typeface="Segoe UI" pitchFamily="34" charset="-120"/>
              </a:rPr>
              <a:t>the problem isn't only a shortage of blood. It's a shortage of </a:t>
            </a:r>
            <a:pPr indent="0" marL="0">
              <a:buNone/>
            </a:pPr>
            <a:r>
              <a:rPr lang="en-US" sz="1700" b="1" dirty="0">
                <a:solidFill>
                  <a:srgbClr val="C8102E"/>
                </a:solidFill>
                <a:latin typeface="Segoe UI" pitchFamily="34" charset="0"/>
                <a:ea typeface="Segoe UI" pitchFamily="34" charset="-122"/>
                <a:cs typeface="Segoe UI" pitchFamily="34" charset="-120"/>
              </a:rPr>
              <a:t>coordination</a:t>
            </a:r>
            <a:pPr indent="0" marL="0">
              <a:buNone/>
            </a:pPr>
            <a:r>
              <a:rPr lang="en-US" sz="1700" dirty="0">
                <a:solidFill>
                  <a:srgbClr val="222222"/>
                </a:solidFill>
                <a:latin typeface="Segoe UI" pitchFamily="34" charset="0"/>
                <a:ea typeface="Segoe UI" pitchFamily="34" charset="-122"/>
                <a:cs typeface="Segoe UI" pitchFamily="34" charset="-120"/>
              </a:rPr>
              <a:t>. Information is stale, outreach is uncontrolled, donors burn out from spam, and no one confirms the outcome.</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B0A1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102E"/>
          </a:solidFill>
          <a:ln w="12700">
            <a:solidFill>
              <a:srgbClr val="C8102E"/>
            </a:solidFill>
            <a:prstDash val="solid"/>
          </a:ln>
        </p:spPr>
      </p:sp>
      <p:sp>
        <p:nvSpPr>
          <p:cNvPr id="3" name="Text 1"/>
          <p:cNvSpPr/>
          <p:nvPr/>
        </p:nvSpPr>
        <p:spPr>
          <a:xfrm>
            <a:off x="411480" y="6446520"/>
            <a:ext cx="2743200" cy="274320"/>
          </a:xfrm>
          <a:prstGeom prst="rect">
            <a:avLst/>
          </a:prstGeom>
          <a:noFill/>
          <a:ln/>
        </p:spPr>
        <p:txBody>
          <a:bodyPr wrap="square" rtlCol="0" anchor="ctr"/>
          <a:lstStyle/>
          <a:p>
            <a:pPr indent="0" marL="0">
              <a:buNone/>
            </a:pPr>
            <a:r>
              <a:rPr lang="en-US" sz="1000" b="1" dirty="0">
                <a:solidFill>
                  <a:srgbClr val="F4A259"/>
                </a:solidFill>
                <a:latin typeface="Segoe UI" pitchFamily="34" charset="0"/>
                <a:ea typeface="Segoe UI" pitchFamily="34" charset="-122"/>
                <a:cs typeface="Segoe UI" pitchFamily="34" charset="-120"/>
              </a:rPr>
              <a:t>RaktDoot</a:t>
            </a:r>
            <a:endParaRPr lang="en-US" sz="1000" dirty="0"/>
          </a:p>
        </p:txBody>
      </p:sp>
      <p:sp>
        <p:nvSpPr>
          <p:cNvPr id="4" name="Text 2"/>
          <p:cNvSpPr/>
          <p:nvPr/>
        </p:nvSpPr>
        <p:spPr>
          <a:xfrm>
            <a:off x="11277295" y="6446520"/>
            <a:ext cx="548640" cy="274320"/>
          </a:xfrm>
          <a:prstGeom prst="rect">
            <a:avLst/>
          </a:prstGeom>
          <a:noFill/>
          <a:ln/>
        </p:spPr>
        <p:txBody>
          <a:bodyPr wrap="square" rtlCol="0" anchor="ctr"/>
          <a:lstStyle/>
          <a:p>
            <a:pPr algn="r" indent="0" marL="0">
              <a:buNone/>
            </a:pPr>
            <a:r>
              <a:rPr lang="en-US" sz="1000" dirty="0">
                <a:solidFill>
                  <a:srgbClr val="BBBBBB"/>
                </a:solidFill>
                <a:latin typeface="Segoe UI" pitchFamily="34" charset="0"/>
                <a:ea typeface="Segoe UI" pitchFamily="34" charset="-122"/>
                <a:cs typeface="Segoe UI" pitchFamily="34" charset="-120"/>
              </a:rPr>
              <a:t>5</a:t>
            </a:r>
            <a:endParaRPr lang="en-US" sz="1000" dirty="0"/>
          </a:p>
        </p:txBody>
      </p:sp>
      <p:sp>
        <p:nvSpPr>
          <p:cNvPr id="5" name="Text 3"/>
          <p:cNvSpPr/>
          <p:nvPr/>
        </p:nvSpPr>
        <p:spPr>
          <a:xfrm>
            <a:off x="640080" y="1005840"/>
            <a:ext cx="10972800" cy="457200"/>
          </a:xfrm>
          <a:prstGeom prst="rect">
            <a:avLst/>
          </a:prstGeom>
          <a:noFill/>
          <a:ln/>
        </p:spPr>
        <p:txBody>
          <a:bodyPr wrap="square" rtlCol="0" anchor="ctr"/>
          <a:lstStyle/>
          <a:p>
            <a:pPr indent="0" marL="0">
              <a:buNone/>
            </a:pPr>
            <a:r>
              <a:rPr lang="en-US" sz="1600" b="1" spc="400" kern="0" dirty="0">
                <a:solidFill>
                  <a:srgbClr val="F4A259"/>
                </a:solidFill>
                <a:latin typeface="Segoe UI" pitchFamily="34" charset="0"/>
                <a:ea typeface="Segoe UI" pitchFamily="34" charset="-122"/>
                <a:cs typeface="Segoe UI" pitchFamily="34" charset="-120"/>
              </a:rPr>
              <a:t>OUR VISION</a:t>
            </a:r>
            <a:endParaRPr lang="en-US" sz="1600" dirty="0"/>
          </a:p>
        </p:txBody>
      </p:sp>
      <p:sp>
        <p:nvSpPr>
          <p:cNvPr id="6" name="Text 4"/>
          <p:cNvSpPr/>
          <p:nvPr/>
        </p:nvSpPr>
        <p:spPr>
          <a:xfrm>
            <a:off x="640080" y="1554480"/>
            <a:ext cx="10789920" cy="1645920"/>
          </a:xfrm>
          <a:prstGeom prst="rect">
            <a:avLst/>
          </a:prstGeom>
          <a:noFill/>
          <a:ln/>
        </p:spPr>
        <p:txBody>
          <a:bodyPr wrap="square" rtlCol="0" anchor="ctr"/>
          <a:lstStyle/>
          <a:p>
            <a:pPr indent="0" marL="0">
              <a:buNone/>
            </a:pPr>
            <a:r>
              <a:rPr lang="en-US" sz="4000" b="1" dirty="0">
                <a:solidFill>
                  <a:srgbClr val="FFFFFF"/>
                </a:solidFill>
                <a:latin typeface="Segoe UI" pitchFamily="34" charset="0"/>
                <a:ea typeface="Segoe UI" pitchFamily="34" charset="-122"/>
                <a:cs typeface="Segoe UI" pitchFamily="34" charset="-120"/>
              </a:rPr>
              <a:t>No family in India should have to make 50 phone calls to find blood.</a:t>
            </a:r>
            <a:endParaRPr lang="en-US" sz="4000" dirty="0"/>
          </a:p>
        </p:txBody>
      </p:sp>
      <p:sp>
        <p:nvSpPr>
          <p:cNvPr id="7" name="Text 5"/>
          <p:cNvSpPr/>
          <p:nvPr/>
        </p:nvSpPr>
        <p:spPr>
          <a:xfrm>
            <a:off x="640080" y="3291840"/>
            <a:ext cx="10515600" cy="914400"/>
          </a:xfrm>
          <a:prstGeom prst="rect">
            <a:avLst/>
          </a:prstGeom>
          <a:noFill/>
          <a:ln/>
        </p:spPr>
        <p:txBody>
          <a:bodyPr wrap="square" rtlCol="0" anchor="ctr"/>
          <a:lstStyle/>
          <a:p>
            <a:pPr indent="0" marL="0">
              <a:buNone/>
            </a:pPr>
            <a:r>
              <a:rPr lang="en-US" sz="2000" dirty="0">
                <a:solidFill>
                  <a:srgbClr val="DDDDDD"/>
                </a:solidFill>
                <a:latin typeface="Segoe UI" pitchFamily="34" charset="0"/>
                <a:ea typeface="Segoe UI" pitchFamily="34" charset="-122"/>
                <a:cs typeface="Segoe UI" pitchFamily="34" charset="-120"/>
              </a:rPr>
              <a:t>Every request, in any language, becomes a verified, tracked case that ends at a licensed blood centre with a confirmed outcome.</a:t>
            </a:r>
            <a:endParaRPr lang="en-US" sz="2000" dirty="0"/>
          </a:p>
        </p:txBody>
      </p:sp>
      <p:sp>
        <p:nvSpPr>
          <p:cNvPr id="8" name="Shape 6"/>
          <p:cNvSpPr/>
          <p:nvPr/>
        </p:nvSpPr>
        <p:spPr>
          <a:xfrm>
            <a:off x="640080" y="4572000"/>
            <a:ext cx="3474720" cy="1188720"/>
          </a:xfrm>
          <a:prstGeom prst="roundRect">
            <a:avLst>
              <a:gd name="adj" fmla="val 7692"/>
            </a:avLst>
          </a:prstGeom>
          <a:solidFill>
            <a:srgbClr val="5A0F1C"/>
          </a:solidFill>
          <a:ln w="12700">
            <a:solidFill>
              <a:srgbClr val="F4A259"/>
            </a:solidFill>
            <a:prstDash val="solid"/>
          </a:ln>
        </p:spPr>
      </p:sp>
      <p:sp>
        <p:nvSpPr>
          <p:cNvPr id="9" name="Text 7"/>
          <p:cNvSpPr/>
          <p:nvPr/>
        </p:nvSpPr>
        <p:spPr>
          <a:xfrm>
            <a:off x="822960" y="4645152"/>
            <a:ext cx="3108960" cy="457200"/>
          </a:xfrm>
          <a:prstGeom prst="rect">
            <a:avLst/>
          </a:prstGeom>
          <a:noFill/>
          <a:ln/>
        </p:spPr>
        <p:txBody>
          <a:bodyPr wrap="square" rtlCol="0" anchor="ctr"/>
          <a:lstStyle/>
          <a:p>
            <a:pPr indent="0" marL="0">
              <a:buNone/>
            </a:pPr>
            <a:r>
              <a:rPr lang="en-US" sz="1800" b="1" dirty="0">
                <a:solidFill>
                  <a:srgbClr val="F4A259"/>
                </a:solidFill>
                <a:latin typeface="Segoe UI" pitchFamily="34" charset="0"/>
                <a:ea typeface="Segoe UI" pitchFamily="34" charset="-122"/>
                <a:cs typeface="Segoe UI" pitchFamily="34" charset="-120"/>
              </a:rPr>
              <a:t>Accessible</a:t>
            </a:r>
            <a:endParaRPr lang="en-US" sz="1800" dirty="0"/>
          </a:p>
        </p:txBody>
      </p:sp>
      <p:sp>
        <p:nvSpPr>
          <p:cNvPr id="10" name="Text 8"/>
          <p:cNvSpPr/>
          <p:nvPr/>
        </p:nvSpPr>
        <p:spPr>
          <a:xfrm>
            <a:off x="822960" y="5120640"/>
            <a:ext cx="3108960" cy="548640"/>
          </a:xfrm>
          <a:prstGeom prst="rect">
            <a:avLst/>
          </a:prstGeom>
          <a:noFill/>
          <a:ln/>
        </p:spPr>
        <p:txBody>
          <a:bodyPr wrap="square" rtlCol="0" anchor="ctr"/>
          <a:lstStyle/>
          <a:p>
            <a:pPr indent="0" marL="0">
              <a:buNone/>
            </a:pPr>
            <a:r>
              <a:rPr lang="en-US" sz="1400" dirty="0">
                <a:solidFill>
                  <a:srgbClr val="FFFFFF"/>
                </a:solidFill>
                <a:latin typeface="Segoe UI" pitchFamily="34" charset="0"/>
                <a:ea typeface="Segoe UI" pitchFamily="34" charset="-122"/>
                <a:cs typeface="Segoe UI" pitchFamily="34" charset="-120"/>
              </a:rPr>
              <a:t>Simple app, any Indian language, voice</a:t>
            </a:r>
            <a:endParaRPr lang="en-US" sz="1400" dirty="0"/>
          </a:p>
        </p:txBody>
      </p:sp>
      <p:sp>
        <p:nvSpPr>
          <p:cNvPr id="11" name="Shape 9"/>
          <p:cNvSpPr/>
          <p:nvPr/>
        </p:nvSpPr>
        <p:spPr>
          <a:xfrm>
            <a:off x="4343400" y="4572000"/>
            <a:ext cx="3474720" cy="1188720"/>
          </a:xfrm>
          <a:prstGeom prst="roundRect">
            <a:avLst>
              <a:gd name="adj" fmla="val 7692"/>
            </a:avLst>
          </a:prstGeom>
          <a:solidFill>
            <a:srgbClr val="5A0F1C"/>
          </a:solidFill>
          <a:ln w="12700">
            <a:solidFill>
              <a:srgbClr val="F4A259"/>
            </a:solidFill>
            <a:prstDash val="solid"/>
          </a:ln>
        </p:spPr>
      </p:sp>
      <p:sp>
        <p:nvSpPr>
          <p:cNvPr id="12" name="Text 10"/>
          <p:cNvSpPr/>
          <p:nvPr/>
        </p:nvSpPr>
        <p:spPr>
          <a:xfrm>
            <a:off x="4526280" y="4645152"/>
            <a:ext cx="3108960" cy="457200"/>
          </a:xfrm>
          <a:prstGeom prst="rect">
            <a:avLst/>
          </a:prstGeom>
          <a:noFill/>
          <a:ln/>
        </p:spPr>
        <p:txBody>
          <a:bodyPr wrap="square" rtlCol="0" anchor="ctr"/>
          <a:lstStyle/>
          <a:p>
            <a:pPr indent="0" marL="0">
              <a:buNone/>
            </a:pPr>
            <a:r>
              <a:rPr lang="en-US" sz="1800" b="1" dirty="0">
                <a:solidFill>
                  <a:srgbClr val="F4A259"/>
                </a:solidFill>
                <a:latin typeface="Segoe UI" pitchFamily="34" charset="0"/>
                <a:ea typeface="Segoe UI" pitchFamily="34" charset="-122"/>
                <a:cs typeface="Segoe UI" pitchFamily="34" charset="-120"/>
              </a:rPr>
              <a:t>Trustworthy</a:t>
            </a:r>
            <a:endParaRPr lang="en-US" sz="1800" dirty="0"/>
          </a:p>
        </p:txBody>
      </p:sp>
      <p:sp>
        <p:nvSpPr>
          <p:cNvPr id="13" name="Text 11"/>
          <p:cNvSpPr/>
          <p:nvPr/>
        </p:nvSpPr>
        <p:spPr>
          <a:xfrm>
            <a:off x="4526280" y="5120640"/>
            <a:ext cx="3108960" cy="548640"/>
          </a:xfrm>
          <a:prstGeom prst="rect">
            <a:avLst/>
          </a:prstGeom>
          <a:noFill/>
          <a:ln/>
        </p:spPr>
        <p:txBody>
          <a:bodyPr wrap="square" rtlCol="0" anchor="ctr"/>
          <a:lstStyle/>
          <a:p>
            <a:pPr indent="0" marL="0">
              <a:buNone/>
            </a:pPr>
            <a:r>
              <a:rPr lang="en-US" sz="1400" dirty="0">
                <a:solidFill>
                  <a:srgbClr val="FFFFFF"/>
                </a:solidFill>
                <a:latin typeface="Segoe UI" pitchFamily="34" charset="0"/>
                <a:ea typeface="Segoe UI" pitchFamily="34" charset="-122"/>
                <a:cs typeface="Segoe UI" pitchFamily="34" charset="-120"/>
              </a:rPr>
              <a:t>Verified requests, honest stock labels</a:t>
            </a:r>
            <a:endParaRPr lang="en-US" sz="1400" dirty="0"/>
          </a:p>
        </p:txBody>
      </p:sp>
      <p:sp>
        <p:nvSpPr>
          <p:cNvPr id="14" name="Shape 12"/>
          <p:cNvSpPr/>
          <p:nvPr/>
        </p:nvSpPr>
        <p:spPr>
          <a:xfrm>
            <a:off x="8046720" y="4572000"/>
            <a:ext cx="3474720" cy="1188720"/>
          </a:xfrm>
          <a:prstGeom prst="roundRect">
            <a:avLst>
              <a:gd name="adj" fmla="val 7692"/>
            </a:avLst>
          </a:prstGeom>
          <a:solidFill>
            <a:srgbClr val="5A0F1C"/>
          </a:solidFill>
          <a:ln w="12700">
            <a:solidFill>
              <a:srgbClr val="F4A259"/>
            </a:solidFill>
            <a:prstDash val="solid"/>
          </a:ln>
        </p:spPr>
      </p:sp>
      <p:sp>
        <p:nvSpPr>
          <p:cNvPr id="15" name="Text 13"/>
          <p:cNvSpPr/>
          <p:nvPr/>
        </p:nvSpPr>
        <p:spPr>
          <a:xfrm>
            <a:off x="8229600" y="4645152"/>
            <a:ext cx="3108960" cy="457200"/>
          </a:xfrm>
          <a:prstGeom prst="rect">
            <a:avLst/>
          </a:prstGeom>
          <a:noFill/>
          <a:ln/>
        </p:spPr>
        <p:txBody>
          <a:bodyPr wrap="square" rtlCol="0" anchor="ctr"/>
          <a:lstStyle/>
          <a:p>
            <a:pPr indent="0" marL="0">
              <a:buNone/>
            </a:pPr>
            <a:r>
              <a:rPr lang="en-US" sz="1800" b="1" dirty="0">
                <a:solidFill>
                  <a:srgbClr val="F4A259"/>
                </a:solidFill>
                <a:latin typeface="Segoe UI" pitchFamily="34" charset="0"/>
                <a:ea typeface="Segoe UI" pitchFamily="34" charset="-122"/>
                <a:cs typeface="Segoe UI" pitchFamily="34" charset="-120"/>
              </a:rPr>
              <a:t>Respectful</a:t>
            </a:r>
            <a:endParaRPr lang="en-US" sz="1800" dirty="0"/>
          </a:p>
        </p:txBody>
      </p:sp>
      <p:sp>
        <p:nvSpPr>
          <p:cNvPr id="16" name="Text 14"/>
          <p:cNvSpPr/>
          <p:nvPr/>
        </p:nvSpPr>
        <p:spPr>
          <a:xfrm>
            <a:off x="8229600" y="5120640"/>
            <a:ext cx="3108960" cy="548640"/>
          </a:xfrm>
          <a:prstGeom prst="rect">
            <a:avLst/>
          </a:prstGeom>
          <a:noFill/>
          <a:ln/>
        </p:spPr>
        <p:txBody>
          <a:bodyPr wrap="square" rtlCol="0" anchor="ctr"/>
          <a:lstStyle/>
          <a:p>
            <a:pPr indent="0" marL="0">
              <a:buNone/>
            </a:pPr>
            <a:r>
              <a:rPr lang="en-US" sz="1400" dirty="0">
                <a:solidFill>
                  <a:srgbClr val="FFFFFF"/>
                </a:solidFill>
                <a:latin typeface="Segoe UI" pitchFamily="34" charset="0"/>
                <a:ea typeface="Segoe UI" pitchFamily="34" charset="-122"/>
                <a:cs typeface="Segoe UI" pitchFamily="34" charset="-120"/>
              </a:rPr>
              <a:t>Donor consent, privacy, no spam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8F5"/>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102E"/>
          </a:solidFill>
          <a:ln w="12700">
            <a:solidFill>
              <a:srgbClr val="C8102E"/>
            </a:solidFill>
            <a:prstDash val="solid"/>
          </a:ln>
        </p:spPr>
      </p:sp>
      <p:sp>
        <p:nvSpPr>
          <p:cNvPr id="3" name="Text 1"/>
          <p:cNvSpPr/>
          <p:nvPr/>
        </p:nvSpPr>
        <p:spPr>
          <a:xfrm>
            <a:off x="411480" y="6446520"/>
            <a:ext cx="2743200" cy="274320"/>
          </a:xfrm>
          <a:prstGeom prst="rect">
            <a:avLst/>
          </a:prstGeom>
          <a:noFill/>
          <a:ln/>
        </p:spPr>
        <p:txBody>
          <a:bodyPr wrap="square" rtlCol="0" anchor="ctr"/>
          <a:lstStyle/>
          <a:p>
            <a:pPr indent="0" marL="0">
              <a:buNone/>
            </a:pPr>
            <a:r>
              <a:rPr lang="en-US" sz="1000" b="1" dirty="0">
                <a:solidFill>
                  <a:srgbClr val="C8102E"/>
                </a:solidFill>
                <a:latin typeface="Segoe UI" pitchFamily="34" charset="0"/>
                <a:ea typeface="Segoe UI" pitchFamily="34" charset="-122"/>
                <a:cs typeface="Segoe UI" pitchFamily="34" charset="-120"/>
              </a:rPr>
              <a:t>RaktDoot</a:t>
            </a:r>
            <a:endParaRPr lang="en-US" sz="1000" dirty="0"/>
          </a:p>
        </p:txBody>
      </p:sp>
      <p:sp>
        <p:nvSpPr>
          <p:cNvPr id="4" name="Text 2"/>
          <p:cNvSpPr/>
          <p:nvPr/>
        </p:nvSpPr>
        <p:spPr>
          <a:xfrm>
            <a:off x="11277295" y="6446520"/>
            <a:ext cx="548640" cy="274320"/>
          </a:xfrm>
          <a:prstGeom prst="rect">
            <a:avLst/>
          </a:prstGeom>
          <a:noFill/>
          <a:ln/>
        </p:spPr>
        <p:txBody>
          <a:bodyPr wrap="square" rtlCol="0" anchor="ctr"/>
          <a:lstStyle/>
          <a:p>
            <a:pPr algn="r" indent="0" marL="0">
              <a:buNone/>
            </a:pPr>
            <a:r>
              <a:rPr lang="en-US" sz="1000" dirty="0">
                <a:solidFill>
                  <a:srgbClr val="5F5F5F"/>
                </a:solidFill>
                <a:latin typeface="Segoe UI" pitchFamily="34" charset="0"/>
                <a:ea typeface="Segoe UI" pitchFamily="34" charset="-122"/>
                <a:cs typeface="Segoe UI" pitchFamily="34" charset="-120"/>
              </a:rPr>
              <a:t>6</a:t>
            </a:r>
            <a:endParaRPr lang="en-US" sz="1000" dirty="0"/>
          </a:p>
        </p:txBody>
      </p:sp>
      <p:sp>
        <p:nvSpPr>
          <p:cNvPr id="5" name="Text 3"/>
          <p:cNvSpPr/>
          <p:nvPr/>
        </p:nvSpPr>
        <p:spPr>
          <a:xfrm>
            <a:off x="548640" y="320040"/>
            <a:ext cx="9144000" cy="320040"/>
          </a:xfrm>
          <a:prstGeom prst="rect">
            <a:avLst/>
          </a:prstGeom>
          <a:noFill/>
          <a:ln/>
        </p:spPr>
        <p:txBody>
          <a:bodyPr wrap="square" rtlCol="0" anchor="ctr"/>
          <a:lstStyle/>
          <a:p>
            <a:pPr indent="0" marL="0">
              <a:buNone/>
            </a:pPr>
            <a:r>
              <a:rPr lang="en-US" sz="1200" b="1" spc="300" kern="0" dirty="0">
                <a:solidFill>
                  <a:srgbClr val="C8102E"/>
                </a:solidFill>
                <a:latin typeface="Segoe UI" pitchFamily="34" charset="0"/>
                <a:ea typeface="Segoe UI" pitchFamily="34" charset="-122"/>
                <a:cs typeface="Segoe UI" pitchFamily="34" charset="-120"/>
              </a:rPr>
              <a:t>OUR SOLUTION</a:t>
            </a:r>
            <a:endParaRPr lang="en-US" sz="1200" dirty="0"/>
          </a:p>
        </p:txBody>
      </p:sp>
      <p:sp>
        <p:nvSpPr>
          <p:cNvPr id="6" name="Text 4"/>
          <p:cNvSpPr/>
          <p:nvPr/>
        </p:nvSpPr>
        <p:spPr>
          <a:xfrm>
            <a:off x="548640" y="640080"/>
            <a:ext cx="11064240" cy="777240"/>
          </a:xfrm>
          <a:prstGeom prst="rect">
            <a:avLst/>
          </a:prstGeom>
          <a:noFill/>
          <a:ln/>
        </p:spPr>
        <p:txBody>
          <a:bodyPr wrap="square" rtlCol="0" anchor="ctr"/>
          <a:lstStyle/>
          <a:p>
            <a:pPr indent="0" marL="0">
              <a:buNone/>
            </a:pPr>
            <a:r>
              <a:rPr lang="en-US" sz="3000" b="1" dirty="0">
                <a:solidFill>
                  <a:srgbClr val="2B0A10"/>
                </a:solidFill>
                <a:latin typeface="Segoe UI" pitchFamily="34" charset="0"/>
                <a:ea typeface="Segoe UI" pitchFamily="34" charset="-122"/>
                <a:cs typeface="Segoe UI" pitchFamily="34" charset="-120"/>
              </a:rPr>
              <a:t>One coordination layer for patient, donor &amp; blood centre</a:t>
            </a:r>
            <a:endParaRPr lang="en-US" sz="3000" dirty="0"/>
          </a:p>
        </p:txBody>
      </p:sp>
      <p:sp>
        <p:nvSpPr>
          <p:cNvPr id="7" name="Text 5"/>
          <p:cNvSpPr/>
          <p:nvPr/>
        </p:nvSpPr>
        <p:spPr>
          <a:xfrm>
            <a:off x="548640" y="1371600"/>
            <a:ext cx="10972800" cy="411480"/>
          </a:xfrm>
          <a:prstGeom prst="rect">
            <a:avLst/>
          </a:prstGeom>
          <a:noFill/>
          <a:ln/>
        </p:spPr>
        <p:txBody>
          <a:bodyPr wrap="square" rtlCol="0" anchor="ctr"/>
          <a:lstStyle/>
          <a:p>
            <a:pPr indent="0" marL="0">
              <a:buNone/>
            </a:pPr>
            <a:r>
              <a:rPr lang="en-US" sz="1600" i="1" dirty="0">
                <a:solidFill>
                  <a:srgbClr val="5F5F5F"/>
                </a:solidFill>
                <a:latin typeface="Segoe UI" pitchFamily="34" charset="0"/>
                <a:ea typeface="Segoe UI" pitchFamily="34" charset="-122"/>
                <a:cs typeface="Segoe UI" pitchFamily="34" charset="-120"/>
              </a:rPr>
              <a:t>We don't replace eRaktKosh. We add the missing last mile on top of it.</a:t>
            </a:r>
            <a:endParaRPr lang="en-US" sz="1600" dirty="0"/>
          </a:p>
        </p:txBody>
      </p:sp>
      <p:sp>
        <p:nvSpPr>
          <p:cNvPr id="8" name="Shape 6"/>
          <p:cNvSpPr/>
          <p:nvPr/>
        </p:nvSpPr>
        <p:spPr>
          <a:xfrm>
            <a:off x="548640" y="1965960"/>
            <a:ext cx="3566160" cy="3977640"/>
          </a:xfrm>
          <a:prstGeom prst="roundRect">
            <a:avLst>
              <a:gd name="adj" fmla="val 3077"/>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685800" y="1965960"/>
            <a:ext cx="3291840" cy="64008"/>
          </a:xfrm>
          <a:prstGeom prst="rect">
            <a:avLst/>
          </a:prstGeom>
          <a:solidFill>
            <a:srgbClr val="C8102E"/>
          </a:solidFill>
          <a:ln w="12700">
            <a:solidFill>
              <a:srgbClr val="C8102E"/>
            </a:solidFill>
            <a:prstDash val="solid"/>
          </a:ln>
        </p:spPr>
      </p:sp>
      <p:sp>
        <p:nvSpPr>
          <p:cNvPr id="10" name="Shape 8"/>
          <p:cNvSpPr/>
          <p:nvPr/>
        </p:nvSpPr>
        <p:spPr>
          <a:xfrm>
            <a:off x="822960" y="2240280"/>
            <a:ext cx="731520" cy="731520"/>
          </a:xfrm>
          <a:prstGeom prst="ellipse">
            <a:avLst/>
          </a:prstGeom>
          <a:solidFill>
            <a:srgbClr val="C8102E"/>
          </a:solidFill>
          <a:ln w="12700">
            <a:solidFill>
              <a:srgbClr val="C8102E"/>
            </a:solidFill>
            <a:prstDash val="solid"/>
          </a:ln>
        </p:spPr>
      </p:sp>
      <p:sp>
        <p:nvSpPr>
          <p:cNvPr id="11" name="Text 9"/>
          <p:cNvSpPr/>
          <p:nvPr/>
        </p:nvSpPr>
        <p:spPr>
          <a:xfrm>
            <a:off x="822960" y="2240280"/>
            <a:ext cx="731520" cy="7315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2" name="Text 10"/>
          <p:cNvSpPr/>
          <p:nvPr/>
        </p:nvSpPr>
        <p:spPr>
          <a:xfrm>
            <a:off x="1691640" y="2240280"/>
            <a:ext cx="2286000" cy="731520"/>
          </a:xfrm>
          <a:prstGeom prst="rect">
            <a:avLst/>
          </a:prstGeom>
          <a:noFill/>
          <a:ln/>
        </p:spPr>
        <p:txBody>
          <a:bodyPr wrap="square" rtlCol="0" anchor="ctr"/>
          <a:lstStyle/>
          <a:p>
            <a:pPr indent="0" marL="0">
              <a:buNone/>
            </a:pPr>
            <a:r>
              <a:rPr lang="en-US" sz="2000" b="1" dirty="0">
                <a:solidFill>
                  <a:srgbClr val="2B0A10"/>
                </a:solidFill>
                <a:latin typeface="Segoe UI" pitchFamily="34" charset="0"/>
                <a:ea typeface="Segoe UI" pitchFamily="34" charset="-122"/>
                <a:cs typeface="Segoe UI" pitchFamily="34" charset="-120"/>
              </a:rPr>
              <a:t>Families · App</a:t>
            </a:r>
            <a:endParaRPr lang="en-US" sz="2000" dirty="0"/>
          </a:p>
        </p:txBody>
      </p:sp>
      <p:sp>
        <p:nvSpPr>
          <p:cNvPr id="13" name="Text 11"/>
          <p:cNvSpPr/>
          <p:nvPr/>
        </p:nvSpPr>
        <p:spPr>
          <a:xfrm>
            <a:off x="777240" y="3200400"/>
            <a:ext cx="3154680" cy="2651760"/>
          </a:xfrm>
          <a:prstGeom prst="rect">
            <a:avLst/>
          </a:prstGeom>
          <a:noFill/>
          <a:ln/>
        </p:spPr>
        <p:txBody>
          <a:bodyPr wrap="square" rtlCol="0" anchor="t"/>
          <a:lstStyle/>
          <a:p>
            <a:pPr marL="342900" indent="-342900">
              <a:spcAft>
                <a:spcPts val="600"/>
              </a:spcAft>
              <a:buSzPct val="100000"/>
              <a:buChar char="●"/>
            </a:pPr>
            <a:r>
              <a:rPr lang="en-US" sz="1400" dirty="0">
                <a:solidFill>
                  <a:srgbClr val="222222"/>
                </a:solidFill>
                <a:latin typeface="Segoe UI" pitchFamily="34" charset="0"/>
                <a:ea typeface="Segoe UI" pitchFamily="34" charset="-122"/>
                <a:cs typeface="Segoe UI" pitchFamily="34" charset="-120"/>
              </a:rPr>
              <a:t>Raise a request in the RaktDoot app in seconds</a:t>
            </a:r>
            <a:endParaRPr lang="en-US" sz="1400" dirty="0"/>
          </a:p>
          <a:p>
            <a:pPr marL="342900" indent="-342900">
              <a:spcAft>
                <a:spcPts val="600"/>
              </a:spcAft>
              <a:buSzPct val="100000"/>
              <a:buChar char="●"/>
            </a:pPr>
            <a:r>
              <a:rPr lang="en-US" sz="1400" dirty="0">
                <a:solidFill>
                  <a:srgbClr val="222222"/>
                </a:solidFill>
                <a:latin typeface="Segoe UI" pitchFamily="34" charset="0"/>
                <a:ea typeface="Segoe UI" pitchFamily="34" charset="-122"/>
                <a:cs typeface="Segoe UI" pitchFamily="34" charset="-120"/>
              </a:rPr>
              <a:t>Type or speak in your own language</a:t>
            </a:r>
            <a:endParaRPr lang="en-US" sz="1400" dirty="0"/>
          </a:p>
          <a:p>
            <a:pPr marL="342900" indent="-342900">
              <a:spcAft>
                <a:spcPts val="600"/>
              </a:spcAft>
              <a:buSzPct val="100000"/>
              <a:buChar char="●"/>
            </a:pPr>
            <a:r>
              <a:rPr lang="en-US" sz="1400" dirty="0">
                <a:solidFill>
                  <a:srgbClr val="222222"/>
                </a:solidFill>
                <a:latin typeface="Segoe UI" pitchFamily="34" charset="0"/>
                <a:ea typeface="Segoe UI" pitchFamily="34" charset="-122"/>
                <a:cs typeface="Segoe UI" pitchFamily="34" charset="-120"/>
              </a:rPr>
              <a:t>Nearby centres + live stock shown instantly</a:t>
            </a:r>
            <a:endParaRPr lang="en-US" sz="1400" dirty="0"/>
          </a:p>
          <a:p>
            <a:pPr marL="342900" indent="-342900">
              <a:spcAft>
                <a:spcPts val="600"/>
              </a:spcAft>
              <a:buSzPct val="100000"/>
              <a:buChar char="●"/>
            </a:pPr>
            <a:r>
              <a:rPr lang="en-US" sz="1400" dirty="0">
                <a:solidFill>
                  <a:srgbClr val="222222"/>
                </a:solidFill>
                <a:latin typeface="Segoe UI" pitchFamily="34" charset="0"/>
                <a:ea typeface="Segoe UI" pitchFamily="34" charset="-122"/>
                <a:cs typeface="Segoe UI" pitchFamily="34" charset="-120"/>
              </a:rPr>
              <a:t>Live tracking of the case</a:t>
            </a:r>
            <a:endParaRPr lang="en-US" sz="1400" dirty="0"/>
          </a:p>
        </p:txBody>
      </p:sp>
      <p:sp>
        <p:nvSpPr>
          <p:cNvPr id="14" name="Shape 12"/>
          <p:cNvSpPr/>
          <p:nvPr/>
        </p:nvSpPr>
        <p:spPr>
          <a:xfrm>
            <a:off x="4297680" y="1965960"/>
            <a:ext cx="3566160" cy="3977640"/>
          </a:xfrm>
          <a:prstGeom prst="roundRect">
            <a:avLst>
              <a:gd name="adj" fmla="val 3077"/>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4434840" y="1965960"/>
            <a:ext cx="3291840" cy="64008"/>
          </a:xfrm>
          <a:prstGeom prst="rect">
            <a:avLst/>
          </a:prstGeom>
          <a:solidFill>
            <a:srgbClr val="1F8A70"/>
          </a:solidFill>
          <a:ln w="12700">
            <a:solidFill>
              <a:srgbClr val="1F8A70"/>
            </a:solidFill>
            <a:prstDash val="solid"/>
          </a:ln>
        </p:spPr>
      </p:sp>
      <p:sp>
        <p:nvSpPr>
          <p:cNvPr id="16" name="Shape 14"/>
          <p:cNvSpPr/>
          <p:nvPr/>
        </p:nvSpPr>
        <p:spPr>
          <a:xfrm>
            <a:off x="4572000" y="2240280"/>
            <a:ext cx="731520" cy="731520"/>
          </a:xfrm>
          <a:prstGeom prst="ellipse">
            <a:avLst/>
          </a:prstGeom>
          <a:solidFill>
            <a:srgbClr val="1F8A70"/>
          </a:solidFill>
          <a:ln w="12700">
            <a:solidFill>
              <a:srgbClr val="1F8A70"/>
            </a:solidFill>
            <a:prstDash val="solid"/>
          </a:ln>
        </p:spPr>
      </p:sp>
      <p:sp>
        <p:nvSpPr>
          <p:cNvPr id="17" name="Text 15"/>
          <p:cNvSpPr/>
          <p:nvPr/>
        </p:nvSpPr>
        <p:spPr>
          <a:xfrm>
            <a:off x="4572000" y="2240280"/>
            <a:ext cx="731520" cy="7315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8" name="Text 16"/>
          <p:cNvSpPr/>
          <p:nvPr/>
        </p:nvSpPr>
        <p:spPr>
          <a:xfrm>
            <a:off x="5440680" y="2240280"/>
            <a:ext cx="2286000" cy="731520"/>
          </a:xfrm>
          <a:prstGeom prst="rect">
            <a:avLst/>
          </a:prstGeom>
          <a:noFill/>
          <a:ln/>
        </p:spPr>
        <p:txBody>
          <a:bodyPr wrap="square" rtlCol="0" anchor="ctr"/>
          <a:lstStyle/>
          <a:p>
            <a:pPr indent="0" marL="0">
              <a:buNone/>
            </a:pPr>
            <a:r>
              <a:rPr lang="en-US" sz="2000" b="1" dirty="0">
                <a:solidFill>
                  <a:srgbClr val="2B0A10"/>
                </a:solidFill>
                <a:latin typeface="Segoe UI" pitchFamily="34" charset="0"/>
                <a:ea typeface="Segoe UI" pitchFamily="34" charset="-122"/>
                <a:cs typeface="Segoe UI" pitchFamily="34" charset="-120"/>
              </a:rPr>
              <a:t>Donors · WhatsApp</a:t>
            </a:r>
            <a:endParaRPr lang="en-US" sz="2000" dirty="0"/>
          </a:p>
        </p:txBody>
      </p:sp>
      <p:sp>
        <p:nvSpPr>
          <p:cNvPr id="19" name="Text 17"/>
          <p:cNvSpPr/>
          <p:nvPr/>
        </p:nvSpPr>
        <p:spPr>
          <a:xfrm>
            <a:off x="4526280" y="3200400"/>
            <a:ext cx="3154680" cy="2651760"/>
          </a:xfrm>
          <a:prstGeom prst="rect">
            <a:avLst/>
          </a:prstGeom>
          <a:noFill/>
          <a:ln/>
        </p:spPr>
        <p:txBody>
          <a:bodyPr wrap="square" rtlCol="0" anchor="t"/>
          <a:lstStyle/>
          <a:p>
            <a:pPr marL="342900" indent="-342900">
              <a:spcAft>
                <a:spcPts val="600"/>
              </a:spcAft>
              <a:buSzPct val="100000"/>
              <a:buChar char="●"/>
            </a:pPr>
            <a:r>
              <a:rPr lang="en-US" sz="1400" dirty="0">
                <a:solidFill>
                  <a:srgbClr val="222222"/>
                </a:solidFill>
                <a:latin typeface="Segoe UI" pitchFamily="34" charset="0"/>
                <a:ea typeface="Segoe UI" pitchFamily="34" charset="-122"/>
                <a:cs typeface="Segoe UI" pitchFamily="34" charset="-120"/>
              </a:rPr>
              <a:t>Alerts arrive on WhatsApp, no app needed</a:t>
            </a:r>
            <a:endParaRPr lang="en-US" sz="1400" dirty="0"/>
          </a:p>
          <a:p>
            <a:pPr marL="342900" indent="-342900">
              <a:spcAft>
                <a:spcPts val="600"/>
              </a:spcAft>
              <a:buSzPct val="100000"/>
              <a:buChar char="●"/>
            </a:pPr>
            <a:r>
              <a:rPr lang="en-US" sz="1400" dirty="0">
                <a:solidFill>
                  <a:srgbClr val="222222"/>
                </a:solidFill>
                <a:latin typeface="Segoe UI" pitchFamily="34" charset="0"/>
                <a:ea typeface="Segoe UI" pitchFamily="34" charset="-122"/>
                <a:cs typeface="Segoe UI" pitchFamily="34" charset="-120"/>
              </a:rPr>
              <a:t>Only for verified, nearby needs</a:t>
            </a:r>
            <a:endParaRPr lang="en-US" sz="1400" dirty="0"/>
          </a:p>
          <a:p>
            <a:pPr marL="342900" indent="-342900">
              <a:spcAft>
                <a:spcPts val="600"/>
              </a:spcAft>
              <a:buSzPct val="100000"/>
              <a:buChar char="●"/>
            </a:pPr>
            <a:r>
              <a:rPr lang="en-US" sz="1400" dirty="0">
                <a:solidFill>
                  <a:srgbClr val="222222"/>
                </a:solidFill>
                <a:latin typeface="Segoe UI" pitchFamily="34" charset="0"/>
                <a:ea typeface="Segoe UI" pitchFamily="34" charset="-122"/>
                <a:cs typeface="Segoe UI" pitchFamily="34" charset="-120"/>
              </a:rPr>
              <a:t>Accept + ETA with one tap</a:t>
            </a:r>
            <a:endParaRPr lang="en-US" sz="1400" dirty="0"/>
          </a:p>
          <a:p>
            <a:pPr marL="342900" indent="-342900">
              <a:spcAft>
                <a:spcPts val="600"/>
              </a:spcAft>
              <a:buSzPct val="100000"/>
              <a:buChar char="●"/>
            </a:pPr>
            <a:r>
              <a:rPr lang="en-US" sz="1400" dirty="0">
                <a:solidFill>
                  <a:srgbClr val="222222"/>
                </a:solidFill>
                <a:latin typeface="Segoe UI" pitchFamily="34" charset="0"/>
                <a:ea typeface="Segoe UI" pitchFamily="34" charset="-122"/>
                <a:cs typeface="Segoe UI" pitchFamily="34" charset="-120"/>
              </a:rPr>
              <a:t>Consent, reminders, badges in-chat</a:t>
            </a:r>
            <a:endParaRPr lang="en-US" sz="1400" dirty="0"/>
          </a:p>
        </p:txBody>
      </p:sp>
      <p:sp>
        <p:nvSpPr>
          <p:cNvPr id="20" name="Shape 18"/>
          <p:cNvSpPr/>
          <p:nvPr/>
        </p:nvSpPr>
        <p:spPr>
          <a:xfrm>
            <a:off x="8046720" y="1965960"/>
            <a:ext cx="3566160" cy="3977640"/>
          </a:xfrm>
          <a:prstGeom prst="roundRect">
            <a:avLst>
              <a:gd name="adj" fmla="val 3077"/>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21" name="Shape 19"/>
          <p:cNvSpPr/>
          <p:nvPr/>
        </p:nvSpPr>
        <p:spPr>
          <a:xfrm>
            <a:off x="8183880" y="1965960"/>
            <a:ext cx="3291840" cy="64008"/>
          </a:xfrm>
          <a:prstGeom prst="rect">
            <a:avLst/>
          </a:prstGeom>
          <a:solidFill>
            <a:srgbClr val="5A0F1C"/>
          </a:solidFill>
          <a:ln w="12700">
            <a:solidFill>
              <a:srgbClr val="5A0F1C"/>
            </a:solidFill>
            <a:prstDash val="solid"/>
          </a:ln>
        </p:spPr>
      </p:sp>
      <p:sp>
        <p:nvSpPr>
          <p:cNvPr id="22" name="Shape 20"/>
          <p:cNvSpPr/>
          <p:nvPr/>
        </p:nvSpPr>
        <p:spPr>
          <a:xfrm>
            <a:off x="8321040" y="2240280"/>
            <a:ext cx="731520" cy="731520"/>
          </a:xfrm>
          <a:prstGeom prst="ellipse">
            <a:avLst/>
          </a:prstGeom>
          <a:solidFill>
            <a:srgbClr val="5A0F1C"/>
          </a:solidFill>
          <a:ln w="12700">
            <a:solidFill>
              <a:srgbClr val="5A0F1C"/>
            </a:solidFill>
            <a:prstDash val="solid"/>
          </a:ln>
        </p:spPr>
      </p:sp>
      <p:sp>
        <p:nvSpPr>
          <p:cNvPr id="23" name="Text 21"/>
          <p:cNvSpPr/>
          <p:nvPr/>
        </p:nvSpPr>
        <p:spPr>
          <a:xfrm>
            <a:off x="8321040" y="2240280"/>
            <a:ext cx="731520" cy="7315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4" name="Text 22"/>
          <p:cNvSpPr/>
          <p:nvPr/>
        </p:nvSpPr>
        <p:spPr>
          <a:xfrm>
            <a:off x="9189720" y="2240280"/>
            <a:ext cx="2286000" cy="731520"/>
          </a:xfrm>
          <a:prstGeom prst="rect">
            <a:avLst/>
          </a:prstGeom>
          <a:noFill/>
          <a:ln/>
        </p:spPr>
        <p:txBody>
          <a:bodyPr wrap="square" rtlCol="0" anchor="ctr"/>
          <a:lstStyle/>
          <a:p>
            <a:pPr indent="0" marL="0">
              <a:buNone/>
            </a:pPr>
            <a:r>
              <a:rPr lang="en-US" sz="2000" b="1" dirty="0">
                <a:solidFill>
                  <a:srgbClr val="2B0A10"/>
                </a:solidFill>
                <a:latin typeface="Segoe UI" pitchFamily="34" charset="0"/>
                <a:ea typeface="Segoe UI" pitchFamily="34" charset="-122"/>
                <a:cs typeface="Segoe UI" pitchFamily="34" charset="-120"/>
              </a:rPr>
              <a:t>Staff &amp; coordinators</a:t>
            </a:r>
            <a:endParaRPr lang="en-US" sz="2000" dirty="0"/>
          </a:p>
        </p:txBody>
      </p:sp>
      <p:sp>
        <p:nvSpPr>
          <p:cNvPr id="25" name="Text 23"/>
          <p:cNvSpPr/>
          <p:nvPr/>
        </p:nvSpPr>
        <p:spPr>
          <a:xfrm>
            <a:off x="8275320" y="3200400"/>
            <a:ext cx="3154680" cy="2651760"/>
          </a:xfrm>
          <a:prstGeom prst="rect">
            <a:avLst/>
          </a:prstGeom>
          <a:noFill/>
          <a:ln/>
        </p:spPr>
        <p:txBody>
          <a:bodyPr wrap="square" rtlCol="0" anchor="t"/>
          <a:lstStyle/>
          <a:p>
            <a:pPr marL="342900" indent="-342900">
              <a:spcAft>
                <a:spcPts val="600"/>
              </a:spcAft>
              <a:buSzPct val="100000"/>
              <a:buChar char="●"/>
            </a:pPr>
            <a:r>
              <a:rPr lang="en-US" sz="1400" dirty="0">
                <a:solidFill>
                  <a:srgbClr val="222222"/>
                </a:solidFill>
                <a:latin typeface="Segoe UI" pitchFamily="34" charset="0"/>
                <a:ea typeface="Segoe UI" pitchFamily="34" charset="-122"/>
                <a:cs typeface="Segoe UI" pitchFamily="34" charset="-120"/>
              </a:rPr>
              <a:t>Verify requests from a dashboard</a:t>
            </a:r>
            <a:endParaRPr lang="en-US" sz="1400" dirty="0"/>
          </a:p>
          <a:p>
            <a:pPr marL="342900" indent="-342900">
              <a:spcAft>
                <a:spcPts val="600"/>
              </a:spcAft>
              <a:buSzPct val="100000"/>
              <a:buChar char="●"/>
            </a:pPr>
            <a:r>
              <a:rPr lang="en-US" sz="1400" dirty="0">
                <a:solidFill>
                  <a:srgbClr val="222222"/>
                </a:solidFill>
                <a:latin typeface="Segoe UI" pitchFamily="34" charset="0"/>
                <a:ea typeface="Segoe UI" pitchFamily="34" charset="-122"/>
                <a:cs typeface="Segoe UI" pitchFamily="34" charset="-120"/>
              </a:rPr>
              <a:t>Explainable donor ranking</a:t>
            </a:r>
            <a:endParaRPr lang="en-US" sz="1400" dirty="0"/>
          </a:p>
          <a:p>
            <a:pPr marL="342900" indent="-342900">
              <a:spcAft>
                <a:spcPts val="600"/>
              </a:spcAft>
              <a:buSzPct val="100000"/>
              <a:buChar char="●"/>
            </a:pPr>
            <a:r>
              <a:rPr lang="en-US" sz="1400" dirty="0">
                <a:solidFill>
                  <a:srgbClr val="222222"/>
                </a:solidFill>
                <a:latin typeface="Segoe UI" pitchFamily="34" charset="0"/>
                <a:ea typeface="Segoe UI" pitchFamily="34" charset="-122"/>
                <a:cs typeface="Segoe UI" pitchFamily="34" charset="-120"/>
              </a:rPr>
              <a:t>Run waves, confirm donation, close case</a:t>
            </a:r>
            <a:endParaRPr lang="en-US" sz="1400" dirty="0"/>
          </a:p>
          <a:p>
            <a:pPr marL="342900" indent="-342900">
              <a:spcAft>
                <a:spcPts val="600"/>
              </a:spcAft>
              <a:buSzPct val="100000"/>
              <a:buChar char="●"/>
            </a:pPr>
            <a:r>
              <a:rPr lang="en-US" sz="1400" dirty="0">
                <a:solidFill>
                  <a:srgbClr val="222222"/>
                </a:solidFill>
                <a:latin typeface="Segoe UI" pitchFamily="34" charset="0"/>
                <a:ea typeface="Segoe UI" pitchFamily="34" charset="-122"/>
                <a:cs typeface="Segoe UI" pitchFamily="34" charset="-120"/>
              </a:rPr>
              <a:t>AI Copilot briefings (human-approved)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B0A1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102E"/>
          </a:solidFill>
          <a:ln w="12700">
            <a:solidFill>
              <a:srgbClr val="C8102E"/>
            </a:solidFill>
            <a:prstDash val="solid"/>
          </a:ln>
        </p:spPr>
      </p:sp>
      <p:sp>
        <p:nvSpPr>
          <p:cNvPr id="3" name="Text 1"/>
          <p:cNvSpPr/>
          <p:nvPr/>
        </p:nvSpPr>
        <p:spPr>
          <a:xfrm>
            <a:off x="411480" y="6446520"/>
            <a:ext cx="2743200" cy="274320"/>
          </a:xfrm>
          <a:prstGeom prst="rect">
            <a:avLst/>
          </a:prstGeom>
          <a:noFill/>
          <a:ln/>
        </p:spPr>
        <p:txBody>
          <a:bodyPr wrap="square" rtlCol="0" anchor="ctr"/>
          <a:lstStyle/>
          <a:p>
            <a:pPr indent="0" marL="0">
              <a:buNone/>
            </a:pPr>
            <a:r>
              <a:rPr lang="en-US" sz="1000" b="1" dirty="0">
                <a:solidFill>
                  <a:srgbClr val="F4A259"/>
                </a:solidFill>
                <a:latin typeface="Segoe UI" pitchFamily="34" charset="0"/>
                <a:ea typeface="Segoe UI" pitchFamily="34" charset="-122"/>
                <a:cs typeface="Segoe UI" pitchFamily="34" charset="-120"/>
              </a:rPr>
              <a:t>RaktDoot</a:t>
            </a:r>
            <a:endParaRPr lang="en-US" sz="1000" dirty="0"/>
          </a:p>
        </p:txBody>
      </p:sp>
      <p:sp>
        <p:nvSpPr>
          <p:cNvPr id="4" name="Text 2"/>
          <p:cNvSpPr/>
          <p:nvPr/>
        </p:nvSpPr>
        <p:spPr>
          <a:xfrm>
            <a:off x="11277295" y="6446520"/>
            <a:ext cx="548640" cy="274320"/>
          </a:xfrm>
          <a:prstGeom prst="rect">
            <a:avLst/>
          </a:prstGeom>
          <a:noFill/>
          <a:ln/>
        </p:spPr>
        <p:txBody>
          <a:bodyPr wrap="square" rtlCol="0" anchor="ctr"/>
          <a:lstStyle/>
          <a:p>
            <a:pPr algn="r" indent="0" marL="0">
              <a:buNone/>
            </a:pPr>
            <a:r>
              <a:rPr lang="en-US" sz="1000" dirty="0">
                <a:solidFill>
                  <a:srgbClr val="BBBBBB"/>
                </a:solidFill>
                <a:latin typeface="Segoe UI" pitchFamily="34" charset="0"/>
                <a:ea typeface="Segoe UI" pitchFamily="34" charset="-122"/>
                <a:cs typeface="Segoe UI" pitchFamily="34" charset="-120"/>
              </a:rPr>
              <a:t>7</a:t>
            </a:r>
            <a:endParaRPr lang="en-US" sz="1000" dirty="0"/>
          </a:p>
        </p:txBody>
      </p:sp>
      <p:sp>
        <p:nvSpPr>
          <p:cNvPr id="5" name="Text 3"/>
          <p:cNvSpPr/>
          <p:nvPr/>
        </p:nvSpPr>
        <p:spPr>
          <a:xfrm>
            <a:off x="548640" y="320040"/>
            <a:ext cx="9144000" cy="320040"/>
          </a:xfrm>
          <a:prstGeom prst="rect">
            <a:avLst/>
          </a:prstGeom>
          <a:noFill/>
          <a:ln/>
        </p:spPr>
        <p:txBody>
          <a:bodyPr wrap="square" rtlCol="0" anchor="ctr"/>
          <a:lstStyle/>
          <a:p>
            <a:pPr indent="0" marL="0">
              <a:buNone/>
            </a:pPr>
            <a:r>
              <a:rPr lang="en-US" sz="1200" b="1" spc="300" kern="0" dirty="0">
                <a:solidFill>
                  <a:srgbClr val="F4A259"/>
                </a:solidFill>
                <a:latin typeface="Segoe UI" pitchFamily="34" charset="0"/>
                <a:ea typeface="Segoe UI" pitchFamily="34" charset="-122"/>
                <a:cs typeface="Segoe UI" pitchFamily="34" charset="-120"/>
              </a:rPr>
              <a:t>WHAT MAKES US DIFFERENT</a:t>
            </a:r>
            <a:endParaRPr lang="en-US" sz="1200" dirty="0"/>
          </a:p>
        </p:txBody>
      </p:sp>
      <p:sp>
        <p:nvSpPr>
          <p:cNvPr id="6" name="Text 4"/>
          <p:cNvSpPr/>
          <p:nvPr/>
        </p:nvSpPr>
        <p:spPr>
          <a:xfrm>
            <a:off x="548640" y="640080"/>
            <a:ext cx="11064240" cy="777240"/>
          </a:xfrm>
          <a:prstGeom prst="rect">
            <a:avLst/>
          </a:prstGeom>
          <a:noFill/>
          <a:ln/>
        </p:spPr>
        <p:txBody>
          <a:bodyPr wrap="square" rtlCol="0" anchor="ctr"/>
          <a:lstStyle/>
          <a:p>
            <a:pPr indent="0" marL="0">
              <a:buNone/>
            </a:pPr>
            <a:r>
              <a:rPr lang="en-US" sz="3000" b="1" dirty="0">
                <a:solidFill>
                  <a:srgbClr val="FFFFFF"/>
                </a:solidFill>
                <a:latin typeface="Segoe UI" pitchFamily="34" charset="0"/>
                <a:ea typeface="Segoe UI" pitchFamily="34" charset="-122"/>
                <a:cs typeface="Segoe UI" pitchFamily="34" charset="-120"/>
              </a:rPr>
              <a:t>Our unique approach</a:t>
            </a:r>
            <a:endParaRPr lang="en-US" sz="3000" dirty="0"/>
          </a:p>
        </p:txBody>
      </p:sp>
      <p:sp>
        <p:nvSpPr>
          <p:cNvPr id="7" name="Shape 5"/>
          <p:cNvSpPr/>
          <p:nvPr/>
        </p:nvSpPr>
        <p:spPr>
          <a:xfrm>
            <a:off x="548640" y="1554480"/>
            <a:ext cx="5440680" cy="1325880"/>
          </a:xfrm>
          <a:prstGeom prst="roundRect">
            <a:avLst>
              <a:gd name="adj" fmla="val 6897"/>
            </a:avLst>
          </a:prstGeom>
          <a:solidFill>
            <a:srgbClr val="5A0F1C"/>
          </a:solidFill>
          <a:ln w="12700">
            <a:solidFill>
              <a:srgbClr val="5A0F1C"/>
            </a:solidFill>
            <a:prstDash val="solid"/>
          </a:ln>
        </p:spPr>
      </p:sp>
      <p:sp>
        <p:nvSpPr>
          <p:cNvPr id="8" name="Text 6"/>
          <p:cNvSpPr/>
          <p:nvPr/>
        </p:nvSpPr>
        <p:spPr>
          <a:xfrm>
            <a:off x="685800" y="1554480"/>
            <a:ext cx="914400" cy="1325880"/>
          </a:xfrm>
          <a:prstGeom prst="rect">
            <a:avLst/>
          </a:prstGeom>
          <a:noFill/>
          <a:ln/>
        </p:spPr>
        <p:txBody>
          <a:bodyPr wrap="square" rtlCol="0" anchor="ctr"/>
          <a:lstStyle/>
          <a:p>
            <a:pPr indent="0" marL="0">
              <a:buNone/>
            </a:pPr>
            <a:r>
              <a:rPr lang="en-US" sz="3400" b="1" dirty="0">
                <a:solidFill>
                  <a:srgbClr val="F4A259"/>
                </a:solidFill>
                <a:latin typeface="Segoe UI" pitchFamily="34" charset="0"/>
                <a:ea typeface="Segoe UI" pitchFamily="34" charset="-122"/>
                <a:cs typeface="Segoe UI" pitchFamily="34" charset="-120"/>
              </a:rPr>
              <a:t>01</a:t>
            </a:r>
            <a:endParaRPr lang="en-US" sz="3400" dirty="0"/>
          </a:p>
        </p:txBody>
      </p:sp>
      <p:sp>
        <p:nvSpPr>
          <p:cNvPr id="9" name="Text 7"/>
          <p:cNvSpPr/>
          <p:nvPr/>
        </p:nvSpPr>
        <p:spPr>
          <a:xfrm>
            <a:off x="1600200" y="1645920"/>
            <a:ext cx="4251960" cy="41148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Right channel for each user</a:t>
            </a:r>
            <a:endParaRPr lang="en-US" sz="1600" dirty="0"/>
          </a:p>
        </p:txBody>
      </p:sp>
      <p:sp>
        <p:nvSpPr>
          <p:cNvPr id="10" name="Text 8"/>
          <p:cNvSpPr/>
          <p:nvPr/>
        </p:nvSpPr>
        <p:spPr>
          <a:xfrm>
            <a:off x="1600200" y="2057400"/>
            <a:ext cx="4251960" cy="777240"/>
          </a:xfrm>
          <a:prstGeom prst="rect">
            <a:avLst/>
          </a:prstGeom>
          <a:noFill/>
          <a:ln/>
        </p:spPr>
        <p:txBody>
          <a:bodyPr wrap="square" rtlCol="0" anchor="t"/>
          <a:lstStyle/>
          <a:p>
            <a:pPr indent="0" marL="0">
              <a:buNone/>
            </a:pPr>
            <a:r>
              <a:rPr lang="en-US" sz="1200" dirty="0">
                <a:solidFill>
                  <a:srgbClr val="E0E0E0"/>
                </a:solidFill>
                <a:latin typeface="Segoe UI" pitchFamily="34" charset="0"/>
                <a:ea typeface="Segoe UI" pitchFamily="34" charset="-122"/>
                <a:cs typeface="Segoe UI" pitchFamily="34" charset="-120"/>
              </a:rPr>
              <a:t>Families get a simple app to request in their own language. Donors are reached on WhatsApp, with no extra app to install.</a:t>
            </a:r>
            <a:endParaRPr lang="en-US" sz="1200" dirty="0"/>
          </a:p>
        </p:txBody>
      </p:sp>
      <p:sp>
        <p:nvSpPr>
          <p:cNvPr id="11" name="Shape 9"/>
          <p:cNvSpPr/>
          <p:nvPr/>
        </p:nvSpPr>
        <p:spPr>
          <a:xfrm>
            <a:off x="6172200" y="1554480"/>
            <a:ext cx="5440680" cy="1325880"/>
          </a:xfrm>
          <a:prstGeom prst="roundRect">
            <a:avLst>
              <a:gd name="adj" fmla="val 6897"/>
            </a:avLst>
          </a:prstGeom>
          <a:solidFill>
            <a:srgbClr val="5A0F1C"/>
          </a:solidFill>
          <a:ln w="12700">
            <a:solidFill>
              <a:srgbClr val="5A0F1C"/>
            </a:solidFill>
            <a:prstDash val="solid"/>
          </a:ln>
        </p:spPr>
      </p:sp>
      <p:sp>
        <p:nvSpPr>
          <p:cNvPr id="12" name="Text 10"/>
          <p:cNvSpPr/>
          <p:nvPr/>
        </p:nvSpPr>
        <p:spPr>
          <a:xfrm>
            <a:off x="6309360" y="1554480"/>
            <a:ext cx="914400" cy="1325880"/>
          </a:xfrm>
          <a:prstGeom prst="rect">
            <a:avLst/>
          </a:prstGeom>
          <a:noFill/>
          <a:ln/>
        </p:spPr>
        <p:txBody>
          <a:bodyPr wrap="square" rtlCol="0" anchor="ctr"/>
          <a:lstStyle/>
          <a:p>
            <a:pPr indent="0" marL="0">
              <a:buNone/>
            </a:pPr>
            <a:r>
              <a:rPr lang="en-US" sz="3400" b="1" dirty="0">
                <a:solidFill>
                  <a:srgbClr val="F4A259"/>
                </a:solidFill>
                <a:latin typeface="Segoe UI" pitchFamily="34" charset="0"/>
                <a:ea typeface="Segoe UI" pitchFamily="34" charset="-122"/>
                <a:cs typeface="Segoe UI" pitchFamily="34" charset="-120"/>
              </a:rPr>
              <a:t>02</a:t>
            </a:r>
            <a:endParaRPr lang="en-US" sz="3400" dirty="0"/>
          </a:p>
        </p:txBody>
      </p:sp>
      <p:sp>
        <p:nvSpPr>
          <p:cNvPr id="13" name="Text 11"/>
          <p:cNvSpPr/>
          <p:nvPr/>
        </p:nvSpPr>
        <p:spPr>
          <a:xfrm>
            <a:off x="7223760" y="1645920"/>
            <a:ext cx="4251960" cy="41148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Blood-centre-first discovery</a:t>
            </a:r>
            <a:endParaRPr lang="en-US" sz="1600" dirty="0"/>
          </a:p>
        </p:txBody>
      </p:sp>
      <p:sp>
        <p:nvSpPr>
          <p:cNvPr id="14" name="Text 12"/>
          <p:cNvSpPr/>
          <p:nvPr/>
        </p:nvSpPr>
        <p:spPr>
          <a:xfrm>
            <a:off x="7223760" y="2057400"/>
            <a:ext cx="4251960" cy="777240"/>
          </a:xfrm>
          <a:prstGeom prst="rect">
            <a:avLst/>
          </a:prstGeom>
          <a:noFill/>
          <a:ln/>
        </p:spPr>
        <p:txBody>
          <a:bodyPr wrap="square" rtlCol="0" anchor="t"/>
          <a:lstStyle/>
          <a:p>
            <a:pPr indent="0" marL="0">
              <a:buNone/>
            </a:pPr>
            <a:r>
              <a:rPr lang="en-US" sz="1200" dirty="0">
                <a:solidFill>
                  <a:srgbClr val="E0E0E0"/>
                </a:solidFill>
                <a:latin typeface="Segoe UI" pitchFamily="34" charset="0"/>
                <a:ea typeface="Segoe UI" pitchFamily="34" charset="-122"/>
                <a:cs typeface="Segoe UI" pitchFamily="34" charset="-120"/>
              </a:rPr>
              <a:t>Show licensed centres + stock labelled reported / confirmed / reserved with "updated X min ago" BEFORE asking donors.</a:t>
            </a:r>
            <a:endParaRPr lang="en-US" sz="1200" dirty="0"/>
          </a:p>
        </p:txBody>
      </p:sp>
      <p:sp>
        <p:nvSpPr>
          <p:cNvPr id="15" name="Shape 13"/>
          <p:cNvSpPr/>
          <p:nvPr/>
        </p:nvSpPr>
        <p:spPr>
          <a:xfrm>
            <a:off x="548640" y="3035808"/>
            <a:ext cx="5440680" cy="1325880"/>
          </a:xfrm>
          <a:prstGeom prst="roundRect">
            <a:avLst>
              <a:gd name="adj" fmla="val 6897"/>
            </a:avLst>
          </a:prstGeom>
          <a:solidFill>
            <a:srgbClr val="5A0F1C"/>
          </a:solidFill>
          <a:ln w="12700">
            <a:solidFill>
              <a:srgbClr val="5A0F1C"/>
            </a:solidFill>
            <a:prstDash val="solid"/>
          </a:ln>
        </p:spPr>
      </p:sp>
      <p:sp>
        <p:nvSpPr>
          <p:cNvPr id="16" name="Text 14"/>
          <p:cNvSpPr/>
          <p:nvPr/>
        </p:nvSpPr>
        <p:spPr>
          <a:xfrm>
            <a:off x="685800" y="3035808"/>
            <a:ext cx="914400" cy="1325880"/>
          </a:xfrm>
          <a:prstGeom prst="rect">
            <a:avLst/>
          </a:prstGeom>
          <a:noFill/>
          <a:ln/>
        </p:spPr>
        <p:txBody>
          <a:bodyPr wrap="square" rtlCol="0" anchor="ctr"/>
          <a:lstStyle/>
          <a:p>
            <a:pPr indent="0" marL="0">
              <a:buNone/>
            </a:pPr>
            <a:r>
              <a:rPr lang="en-US" sz="3400" b="1" dirty="0">
                <a:solidFill>
                  <a:srgbClr val="F4A259"/>
                </a:solidFill>
                <a:latin typeface="Segoe UI" pitchFamily="34" charset="0"/>
                <a:ea typeface="Segoe UI" pitchFamily="34" charset="-122"/>
                <a:cs typeface="Segoe UI" pitchFamily="34" charset="-120"/>
              </a:rPr>
              <a:t>03</a:t>
            </a:r>
            <a:endParaRPr lang="en-US" sz="3400" dirty="0"/>
          </a:p>
        </p:txBody>
      </p:sp>
      <p:sp>
        <p:nvSpPr>
          <p:cNvPr id="17" name="Text 15"/>
          <p:cNvSpPr/>
          <p:nvPr/>
        </p:nvSpPr>
        <p:spPr>
          <a:xfrm>
            <a:off x="1600200" y="3127248"/>
            <a:ext cx="4251960" cy="41148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Verification gates donor outreach</a:t>
            </a:r>
            <a:endParaRPr lang="en-US" sz="1600" dirty="0"/>
          </a:p>
        </p:txBody>
      </p:sp>
      <p:sp>
        <p:nvSpPr>
          <p:cNvPr id="18" name="Text 16"/>
          <p:cNvSpPr/>
          <p:nvPr/>
        </p:nvSpPr>
        <p:spPr>
          <a:xfrm>
            <a:off x="1600200" y="3538728"/>
            <a:ext cx="4251960" cy="777240"/>
          </a:xfrm>
          <a:prstGeom prst="rect">
            <a:avLst/>
          </a:prstGeom>
          <a:noFill/>
          <a:ln/>
        </p:spPr>
        <p:txBody>
          <a:bodyPr wrap="square" rtlCol="0" anchor="t"/>
          <a:lstStyle/>
          <a:p>
            <a:pPr indent="0" marL="0">
              <a:buNone/>
            </a:pPr>
            <a:r>
              <a:rPr lang="en-US" sz="1200" dirty="0">
                <a:solidFill>
                  <a:srgbClr val="E0E0E0"/>
                </a:solidFill>
                <a:latin typeface="Segoe UI" pitchFamily="34" charset="0"/>
                <a:ea typeface="Segoe UI" pitchFamily="34" charset="-122"/>
                <a:cs typeface="Segoe UI" pitchFamily="34" charset="-120"/>
              </a:rPr>
              <a:t>Anyone can request instantly, but private donors are contacted only after hospital / centre / coordinator verification.</a:t>
            </a:r>
            <a:endParaRPr lang="en-US" sz="1200" dirty="0"/>
          </a:p>
        </p:txBody>
      </p:sp>
      <p:sp>
        <p:nvSpPr>
          <p:cNvPr id="19" name="Shape 17"/>
          <p:cNvSpPr/>
          <p:nvPr/>
        </p:nvSpPr>
        <p:spPr>
          <a:xfrm>
            <a:off x="6172200" y="3035808"/>
            <a:ext cx="5440680" cy="1325880"/>
          </a:xfrm>
          <a:prstGeom prst="roundRect">
            <a:avLst>
              <a:gd name="adj" fmla="val 6897"/>
            </a:avLst>
          </a:prstGeom>
          <a:solidFill>
            <a:srgbClr val="5A0F1C"/>
          </a:solidFill>
          <a:ln w="12700">
            <a:solidFill>
              <a:srgbClr val="5A0F1C"/>
            </a:solidFill>
            <a:prstDash val="solid"/>
          </a:ln>
        </p:spPr>
      </p:sp>
      <p:sp>
        <p:nvSpPr>
          <p:cNvPr id="20" name="Text 18"/>
          <p:cNvSpPr/>
          <p:nvPr/>
        </p:nvSpPr>
        <p:spPr>
          <a:xfrm>
            <a:off x="6309360" y="3035808"/>
            <a:ext cx="914400" cy="1325880"/>
          </a:xfrm>
          <a:prstGeom prst="rect">
            <a:avLst/>
          </a:prstGeom>
          <a:noFill/>
          <a:ln/>
        </p:spPr>
        <p:txBody>
          <a:bodyPr wrap="square" rtlCol="0" anchor="ctr"/>
          <a:lstStyle/>
          <a:p>
            <a:pPr indent="0" marL="0">
              <a:buNone/>
            </a:pPr>
            <a:r>
              <a:rPr lang="en-US" sz="3400" b="1" dirty="0">
                <a:solidFill>
                  <a:srgbClr val="F4A259"/>
                </a:solidFill>
                <a:latin typeface="Segoe UI" pitchFamily="34" charset="0"/>
                <a:ea typeface="Segoe UI" pitchFamily="34" charset="-122"/>
                <a:cs typeface="Segoe UI" pitchFamily="34" charset="-120"/>
              </a:rPr>
              <a:t>04</a:t>
            </a:r>
            <a:endParaRPr lang="en-US" sz="3400" dirty="0"/>
          </a:p>
        </p:txBody>
      </p:sp>
      <p:sp>
        <p:nvSpPr>
          <p:cNvPr id="21" name="Text 19"/>
          <p:cNvSpPr/>
          <p:nvPr/>
        </p:nvSpPr>
        <p:spPr>
          <a:xfrm>
            <a:off x="7223760" y="3127248"/>
            <a:ext cx="4251960" cy="41148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Wave outreach + stand-down</a:t>
            </a:r>
            <a:endParaRPr lang="en-US" sz="1600" dirty="0"/>
          </a:p>
        </p:txBody>
      </p:sp>
      <p:sp>
        <p:nvSpPr>
          <p:cNvPr id="22" name="Text 20"/>
          <p:cNvSpPr/>
          <p:nvPr/>
        </p:nvSpPr>
        <p:spPr>
          <a:xfrm>
            <a:off x="7223760" y="3538728"/>
            <a:ext cx="4251960" cy="777240"/>
          </a:xfrm>
          <a:prstGeom prst="rect">
            <a:avLst/>
          </a:prstGeom>
          <a:noFill/>
          <a:ln/>
        </p:spPr>
        <p:txBody>
          <a:bodyPr wrap="square" rtlCol="0" anchor="t"/>
          <a:lstStyle/>
          <a:p>
            <a:pPr indent="0" marL="0">
              <a:buNone/>
            </a:pPr>
            <a:r>
              <a:rPr lang="en-US" sz="1200" dirty="0">
                <a:solidFill>
                  <a:srgbClr val="E0E0E0"/>
                </a:solidFill>
                <a:latin typeface="Segoe UI" pitchFamily="34" charset="0"/>
                <a:ea typeface="Segoe UI" pitchFamily="34" charset="-122"/>
                <a:cs typeface="Segoe UI" pitchFamily="34" charset="-120"/>
              </a:rPr>
              <a:t>Small ranked batches (5 → 10 → partners). Stand-down messages go out once the need is met. No spam.</a:t>
            </a:r>
            <a:endParaRPr lang="en-US" sz="1200" dirty="0"/>
          </a:p>
        </p:txBody>
      </p:sp>
      <p:sp>
        <p:nvSpPr>
          <p:cNvPr id="23" name="Shape 21"/>
          <p:cNvSpPr/>
          <p:nvPr/>
        </p:nvSpPr>
        <p:spPr>
          <a:xfrm>
            <a:off x="548640" y="4517136"/>
            <a:ext cx="5440680" cy="1325880"/>
          </a:xfrm>
          <a:prstGeom prst="roundRect">
            <a:avLst>
              <a:gd name="adj" fmla="val 6897"/>
            </a:avLst>
          </a:prstGeom>
          <a:solidFill>
            <a:srgbClr val="5A0F1C"/>
          </a:solidFill>
          <a:ln w="12700">
            <a:solidFill>
              <a:srgbClr val="5A0F1C"/>
            </a:solidFill>
            <a:prstDash val="solid"/>
          </a:ln>
        </p:spPr>
      </p:sp>
      <p:sp>
        <p:nvSpPr>
          <p:cNvPr id="24" name="Text 22"/>
          <p:cNvSpPr/>
          <p:nvPr/>
        </p:nvSpPr>
        <p:spPr>
          <a:xfrm>
            <a:off x="685800" y="4517136"/>
            <a:ext cx="914400" cy="1325880"/>
          </a:xfrm>
          <a:prstGeom prst="rect">
            <a:avLst/>
          </a:prstGeom>
          <a:noFill/>
          <a:ln/>
        </p:spPr>
        <p:txBody>
          <a:bodyPr wrap="square" rtlCol="0" anchor="ctr"/>
          <a:lstStyle/>
          <a:p>
            <a:pPr indent="0" marL="0">
              <a:buNone/>
            </a:pPr>
            <a:r>
              <a:rPr lang="en-US" sz="3400" b="1" dirty="0">
                <a:solidFill>
                  <a:srgbClr val="F4A259"/>
                </a:solidFill>
                <a:latin typeface="Segoe UI" pitchFamily="34" charset="0"/>
                <a:ea typeface="Segoe UI" pitchFamily="34" charset="-122"/>
                <a:cs typeface="Segoe UI" pitchFamily="34" charset="-120"/>
              </a:rPr>
              <a:t>05</a:t>
            </a:r>
            <a:endParaRPr lang="en-US" sz="3400" dirty="0"/>
          </a:p>
        </p:txBody>
      </p:sp>
      <p:sp>
        <p:nvSpPr>
          <p:cNvPr id="25" name="Text 23"/>
          <p:cNvSpPr/>
          <p:nvPr/>
        </p:nvSpPr>
        <p:spPr>
          <a:xfrm>
            <a:off x="1600200" y="4608576"/>
            <a:ext cx="4251960" cy="41148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Closed loop, staff-confirmed</a:t>
            </a:r>
            <a:endParaRPr lang="en-US" sz="1600" dirty="0"/>
          </a:p>
        </p:txBody>
      </p:sp>
      <p:sp>
        <p:nvSpPr>
          <p:cNvPr id="26" name="Text 24"/>
          <p:cNvSpPr/>
          <p:nvPr/>
        </p:nvSpPr>
        <p:spPr>
          <a:xfrm>
            <a:off x="1600200" y="5020056"/>
            <a:ext cx="4251960" cy="777240"/>
          </a:xfrm>
          <a:prstGeom prst="rect">
            <a:avLst/>
          </a:prstGeom>
          <a:noFill/>
          <a:ln/>
        </p:spPr>
        <p:txBody>
          <a:bodyPr wrap="square" rtlCol="0" anchor="t"/>
          <a:lstStyle/>
          <a:p>
            <a:pPr indent="0" marL="0">
              <a:buNone/>
            </a:pPr>
            <a:r>
              <a:rPr lang="en-US" sz="1200" dirty="0">
                <a:solidFill>
                  <a:srgbClr val="E0E0E0"/>
                </a:solidFill>
                <a:latin typeface="Segoe UI" pitchFamily="34" charset="0"/>
                <a:ea typeface="Segoe UI" pitchFamily="34" charset="-122"/>
                <a:cs typeface="Segoe UI" pitchFamily="34" charset="-120"/>
              </a:rPr>
              <a:t>A donor tapping "accept" is not success. Only the blood centre confirms the donation; staff close the case with a real outcome.</a:t>
            </a:r>
            <a:endParaRPr lang="en-US" sz="1200" dirty="0"/>
          </a:p>
        </p:txBody>
      </p:sp>
      <p:sp>
        <p:nvSpPr>
          <p:cNvPr id="27" name="Shape 25"/>
          <p:cNvSpPr/>
          <p:nvPr/>
        </p:nvSpPr>
        <p:spPr>
          <a:xfrm>
            <a:off x="6172200" y="4517136"/>
            <a:ext cx="5440680" cy="1325880"/>
          </a:xfrm>
          <a:prstGeom prst="roundRect">
            <a:avLst>
              <a:gd name="adj" fmla="val 6897"/>
            </a:avLst>
          </a:prstGeom>
          <a:solidFill>
            <a:srgbClr val="5A0F1C"/>
          </a:solidFill>
          <a:ln w="12700">
            <a:solidFill>
              <a:srgbClr val="5A0F1C"/>
            </a:solidFill>
            <a:prstDash val="solid"/>
          </a:ln>
        </p:spPr>
      </p:sp>
      <p:sp>
        <p:nvSpPr>
          <p:cNvPr id="28" name="Text 26"/>
          <p:cNvSpPr/>
          <p:nvPr/>
        </p:nvSpPr>
        <p:spPr>
          <a:xfrm>
            <a:off x="6309360" y="4517136"/>
            <a:ext cx="914400" cy="1325880"/>
          </a:xfrm>
          <a:prstGeom prst="rect">
            <a:avLst/>
          </a:prstGeom>
          <a:noFill/>
          <a:ln/>
        </p:spPr>
        <p:txBody>
          <a:bodyPr wrap="square" rtlCol="0" anchor="ctr"/>
          <a:lstStyle/>
          <a:p>
            <a:pPr indent="0" marL="0">
              <a:buNone/>
            </a:pPr>
            <a:r>
              <a:rPr lang="en-US" sz="3400" b="1" dirty="0">
                <a:solidFill>
                  <a:srgbClr val="F4A259"/>
                </a:solidFill>
                <a:latin typeface="Segoe UI" pitchFamily="34" charset="0"/>
                <a:ea typeface="Segoe UI" pitchFamily="34" charset="-122"/>
                <a:cs typeface="Segoe UI" pitchFamily="34" charset="-120"/>
              </a:rPr>
              <a:t>06</a:t>
            </a:r>
            <a:endParaRPr lang="en-US" sz="3400" dirty="0"/>
          </a:p>
        </p:txBody>
      </p:sp>
      <p:sp>
        <p:nvSpPr>
          <p:cNvPr id="29" name="Text 27"/>
          <p:cNvSpPr/>
          <p:nvPr/>
        </p:nvSpPr>
        <p:spPr>
          <a:xfrm>
            <a:off x="7223760" y="4608576"/>
            <a:ext cx="4251960" cy="41148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AI for language, humans decide</a:t>
            </a:r>
            <a:endParaRPr lang="en-US" sz="1600" dirty="0"/>
          </a:p>
        </p:txBody>
      </p:sp>
      <p:sp>
        <p:nvSpPr>
          <p:cNvPr id="30" name="Text 28"/>
          <p:cNvSpPr/>
          <p:nvPr/>
        </p:nvSpPr>
        <p:spPr>
          <a:xfrm>
            <a:off x="7223760" y="5020056"/>
            <a:ext cx="4251960" cy="777240"/>
          </a:xfrm>
          <a:prstGeom prst="rect">
            <a:avLst/>
          </a:prstGeom>
          <a:noFill/>
          <a:ln/>
        </p:spPr>
        <p:txBody>
          <a:bodyPr wrap="square" rtlCol="0" anchor="t"/>
          <a:lstStyle/>
          <a:p>
            <a:pPr indent="0" marL="0">
              <a:buNone/>
            </a:pPr>
            <a:r>
              <a:rPr lang="en-US" sz="1200" dirty="0">
                <a:solidFill>
                  <a:srgbClr val="E0E0E0"/>
                </a:solidFill>
                <a:latin typeface="Segoe UI" pitchFamily="34" charset="0"/>
                <a:ea typeface="Segoe UI" pitchFamily="34" charset="-122"/>
                <a:cs typeface="Segoe UI" pitchFamily="34" charset="-120"/>
              </a:rPr>
              <a:t>AI extracts and translates; it never makes clinical calls. A person approves every Copilot action.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8F5"/>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102E"/>
          </a:solidFill>
          <a:ln w="12700">
            <a:solidFill>
              <a:srgbClr val="C8102E"/>
            </a:solidFill>
            <a:prstDash val="solid"/>
          </a:ln>
        </p:spPr>
      </p:sp>
      <p:sp>
        <p:nvSpPr>
          <p:cNvPr id="3" name="Text 1"/>
          <p:cNvSpPr/>
          <p:nvPr/>
        </p:nvSpPr>
        <p:spPr>
          <a:xfrm>
            <a:off x="411480" y="6446520"/>
            <a:ext cx="2743200" cy="274320"/>
          </a:xfrm>
          <a:prstGeom prst="rect">
            <a:avLst/>
          </a:prstGeom>
          <a:noFill/>
          <a:ln/>
        </p:spPr>
        <p:txBody>
          <a:bodyPr wrap="square" rtlCol="0" anchor="ctr"/>
          <a:lstStyle/>
          <a:p>
            <a:pPr indent="0" marL="0">
              <a:buNone/>
            </a:pPr>
            <a:r>
              <a:rPr lang="en-US" sz="1000" b="1" dirty="0">
                <a:solidFill>
                  <a:srgbClr val="C8102E"/>
                </a:solidFill>
                <a:latin typeface="Segoe UI" pitchFamily="34" charset="0"/>
                <a:ea typeface="Segoe UI" pitchFamily="34" charset="-122"/>
                <a:cs typeface="Segoe UI" pitchFamily="34" charset="-120"/>
              </a:rPr>
              <a:t>RaktDoot</a:t>
            </a:r>
            <a:endParaRPr lang="en-US" sz="1000" dirty="0"/>
          </a:p>
        </p:txBody>
      </p:sp>
      <p:sp>
        <p:nvSpPr>
          <p:cNvPr id="4" name="Text 2"/>
          <p:cNvSpPr/>
          <p:nvPr/>
        </p:nvSpPr>
        <p:spPr>
          <a:xfrm>
            <a:off x="11277295" y="6446520"/>
            <a:ext cx="548640" cy="274320"/>
          </a:xfrm>
          <a:prstGeom prst="rect">
            <a:avLst/>
          </a:prstGeom>
          <a:noFill/>
          <a:ln/>
        </p:spPr>
        <p:txBody>
          <a:bodyPr wrap="square" rtlCol="0" anchor="ctr"/>
          <a:lstStyle/>
          <a:p>
            <a:pPr algn="r" indent="0" marL="0">
              <a:buNone/>
            </a:pPr>
            <a:r>
              <a:rPr lang="en-US" sz="1000" dirty="0">
                <a:solidFill>
                  <a:srgbClr val="5F5F5F"/>
                </a:solidFill>
                <a:latin typeface="Segoe UI" pitchFamily="34" charset="0"/>
                <a:ea typeface="Segoe UI" pitchFamily="34" charset="-122"/>
                <a:cs typeface="Segoe UI" pitchFamily="34" charset="-120"/>
              </a:rPr>
              <a:t>8</a:t>
            </a:r>
            <a:endParaRPr lang="en-US" sz="1000" dirty="0"/>
          </a:p>
        </p:txBody>
      </p:sp>
      <p:sp>
        <p:nvSpPr>
          <p:cNvPr id="5" name="Text 3"/>
          <p:cNvSpPr/>
          <p:nvPr/>
        </p:nvSpPr>
        <p:spPr>
          <a:xfrm>
            <a:off x="548640" y="320040"/>
            <a:ext cx="9144000" cy="320040"/>
          </a:xfrm>
          <a:prstGeom prst="rect">
            <a:avLst/>
          </a:prstGeom>
          <a:noFill/>
          <a:ln/>
        </p:spPr>
        <p:txBody>
          <a:bodyPr wrap="square" rtlCol="0" anchor="ctr"/>
          <a:lstStyle/>
          <a:p>
            <a:pPr indent="0" marL="0">
              <a:buNone/>
            </a:pPr>
            <a:r>
              <a:rPr lang="en-US" sz="1200" b="1" spc="300" kern="0" dirty="0">
                <a:solidFill>
                  <a:srgbClr val="C8102E"/>
                </a:solidFill>
                <a:latin typeface="Segoe UI" pitchFamily="34" charset="0"/>
                <a:ea typeface="Segoe UI" pitchFamily="34" charset="-122"/>
                <a:cs typeface="Segoe UI" pitchFamily="34" charset="-120"/>
              </a:rPr>
              <a:t>WHY IT MATTERS</a:t>
            </a:r>
            <a:endParaRPr lang="en-US" sz="1200" dirty="0"/>
          </a:p>
        </p:txBody>
      </p:sp>
      <p:sp>
        <p:nvSpPr>
          <p:cNvPr id="6" name="Text 4"/>
          <p:cNvSpPr/>
          <p:nvPr/>
        </p:nvSpPr>
        <p:spPr>
          <a:xfrm>
            <a:off x="548640" y="640080"/>
            <a:ext cx="11064240" cy="777240"/>
          </a:xfrm>
          <a:prstGeom prst="rect">
            <a:avLst/>
          </a:prstGeom>
          <a:noFill/>
          <a:ln/>
        </p:spPr>
        <p:txBody>
          <a:bodyPr wrap="square" rtlCol="0" anchor="ctr"/>
          <a:lstStyle/>
          <a:p>
            <a:pPr indent="0" marL="0">
              <a:buNone/>
            </a:pPr>
            <a:r>
              <a:rPr lang="en-US" sz="3000" b="1" dirty="0">
                <a:solidFill>
                  <a:srgbClr val="2B0A10"/>
                </a:solidFill>
                <a:latin typeface="Segoe UI" pitchFamily="34" charset="0"/>
                <a:ea typeface="Segoe UI" pitchFamily="34" charset="-122"/>
                <a:cs typeface="Segoe UI" pitchFamily="34" charset="-120"/>
              </a:rPr>
              <a:t>Benefits of our approach</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5029200"/>
                <a:gridCol w="6035040"/>
              </a:tblGrid>
              <a:tr h="512064">
                <a:tc>
                  <a:txBody>
                    <a:bodyPr/>
                    <a:lstStyle/>
                    <a:p>
                      <a:pPr indent="0" marL="0">
                        <a:buNone/>
                      </a:pPr>
                      <a:r>
                        <a:rPr lang="en-US" sz="1500" b="1" dirty="0">
                          <a:solidFill>
                            <a:srgbClr val="FFFFFF"/>
                          </a:solidFill>
                          <a:latin typeface="Segoe UI" pitchFamily="34" charset="0"/>
                          <a:ea typeface="Segoe UI" pitchFamily="34" charset="-122"/>
                          <a:cs typeface="Segoe UI" pitchFamily="34" charset="-120"/>
                        </a:rPr>
                        <a:t>Today</a:t>
                      </a:r>
                      <a:endParaRPr lang="en-US" sz="1500" dirty="0">
                        <a:latin typeface="Segoe UI" charset="0"/>
                        <a:ea typeface="Segoe UI" charset="0"/>
                        <a:cs typeface="Segoe UI" charset="0"/>
                      </a:endParaRPr>
                    </a:p>
                  </a:txBody>
                  <a:tcPr marL="91440" marR="91440" marT="45720" marB="45720" anchor="ctr">
                    <a:lnL w="12700" cap="flat" cmpd="sng" algn="ctr">
                      <a:solidFill>
                        <a:srgbClr val="E9E9E9"/>
                      </a:solidFill>
                      <a:prstDash val="solid"/>
                      <a:round/>
                      <a:headEnd type="none" w="med" len="med"/>
                      <a:tailEnd type="none" w="med" len="med"/>
                    </a:lnL>
                    <a:lnR w="12700" cap="flat" cmpd="sng" algn="ctr">
                      <a:solidFill>
                        <a:srgbClr val="E9E9E9"/>
                      </a:solidFill>
                      <a:prstDash val="solid"/>
                      <a:round/>
                      <a:headEnd type="none" w="med" len="med"/>
                      <a:tailEnd type="none" w="med" len="med"/>
                    </a:lnR>
                    <a:lnT w="12700" cap="flat" cmpd="sng" algn="ctr">
                      <a:solidFill>
                        <a:srgbClr val="E9E9E9"/>
                      </a:solidFill>
                      <a:prstDash val="solid"/>
                      <a:round/>
                      <a:headEnd type="none" w="med" len="med"/>
                      <a:tailEnd type="none" w="med" len="med"/>
                    </a:lnT>
                    <a:lnB w="12700" cap="flat" cmpd="sng" algn="ctr">
                      <a:solidFill>
                        <a:srgbClr val="E9E9E9"/>
                      </a:solidFill>
                      <a:prstDash val="solid"/>
                      <a:round/>
                      <a:headEnd type="none" w="med" len="med"/>
                      <a:tailEnd type="none" w="med" len="med"/>
                    </a:lnB>
                    <a:solidFill>
                      <a:srgbClr val="5F5F5F"/>
                    </a:solidFill>
                  </a:tcPr>
                </a:tc>
                <a:tc>
                  <a:txBody>
                    <a:bodyPr/>
                    <a:lstStyle/>
                    <a:p>
                      <a:pPr indent="0" marL="0">
                        <a:buNone/>
                      </a:pPr>
                      <a:r>
                        <a:rPr lang="en-US" sz="1500" b="1" dirty="0">
                          <a:solidFill>
                            <a:srgbClr val="FFFFFF"/>
                          </a:solidFill>
                          <a:latin typeface="Segoe UI" pitchFamily="34" charset="0"/>
                          <a:ea typeface="Segoe UI" pitchFamily="34" charset="-122"/>
                          <a:cs typeface="Segoe UI" pitchFamily="34" charset="-120"/>
                        </a:rPr>
                        <a:t>With RaktDoot</a:t>
                      </a:r>
                      <a:endParaRPr lang="en-US" sz="1500" dirty="0">
                        <a:latin typeface="Segoe UI" charset="0"/>
                        <a:ea typeface="Segoe UI" charset="0"/>
                        <a:cs typeface="Segoe UI" charset="0"/>
                      </a:endParaRPr>
                    </a:p>
                  </a:txBody>
                  <a:tcPr marL="91440" marR="91440" marT="45720" marB="45720" anchor="ctr">
                    <a:lnL w="12700" cap="flat" cmpd="sng" algn="ctr">
                      <a:solidFill>
                        <a:srgbClr val="E9E9E9"/>
                      </a:solidFill>
                      <a:prstDash val="solid"/>
                      <a:round/>
                      <a:headEnd type="none" w="med" len="med"/>
                      <a:tailEnd type="none" w="med" len="med"/>
                    </a:lnL>
                    <a:lnR w="12700" cap="flat" cmpd="sng" algn="ctr">
                      <a:solidFill>
                        <a:srgbClr val="E9E9E9"/>
                      </a:solidFill>
                      <a:prstDash val="solid"/>
                      <a:round/>
                      <a:headEnd type="none" w="med" len="med"/>
                      <a:tailEnd type="none" w="med" len="med"/>
                    </a:lnR>
                    <a:lnT w="12700" cap="flat" cmpd="sng" algn="ctr">
                      <a:solidFill>
                        <a:srgbClr val="E9E9E9"/>
                      </a:solidFill>
                      <a:prstDash val="solid"/>
                      <a:round/>
                      <a:headEnd type="none" w="med" len="med"/>
                      <a:tailEnd type="none" w="med" len="med"/>
                    </a:lnT>
                    <a:lnB w="12700" cap="flat" cmpd="sng" algn="ctr">
                      <a:solidFill>
                        <a:srgbClr val="E9E9E9"/>
                      </a:solidFill>
                      <a:prstDash val="solid"/>
                      <a:round/>
                      <a:headEnd type="none" w="med" len="med"/>
                      <a:tailEnd type="none" w="med" len="med"/>
                    </a:lnB>
                    <a:solidFill>
                      <a:srgbClr val="C8102E"/>
                    </a:solidFill>
                  </a:tcPr>
                </a:tc>
              </a:tr>
              <a:tr h="512064">
                <a:tc>
                  <a:txBody>
                    <a:bodyPr/>
                    <a:lstStyle/>
                    <a:p>
                      <a:pPr indent="0" marL="0">
                        <a:buNone/>
                      </a:pPr>
                      <a:r>
                        <a:rPr lang="en-US" sz="1300" dirty="0">
                          <a:solidFill>
                            <a:srgbClr val="5F5F5F"/>
                          </a:solidFill>
                          <a:latin typeface="Segoe UI" pitchFamily="34" charset="0"/>
                          <a:ea typeface="Segoe UI" pitchFamily="34" charset="-122"/>
                          <a:cs typeface="Segoe UI" pitchFamily="34" charset="-120"/>
                        </a:rPr>
                        <a:t>✗  50+ calls, forwarded appeals</a:t>
                      </a:r>
                      <a:endParaRPr lang="en-US" sz="1300" dirty="0">
                        <a:latin typeface="Segoe UI" charset="0"/>
                        <a:ea typeface="Segoe UI" charset="0"/>
                        <a:cs typeface="Segoe UI" charset="0"/>
                      </a:endParaRPr>
                    </a:p>
                  </a:txBody>
                  <a:tcPr marL="91440" marR="91440" marT="45720" marB="45720" anchor="ctr">
                    <a:lnL w="12700" cap="flat" cmpd="sng" algn="ctr">
                      <a:solidFill>
                        <a:srgbClr val="E9E9E9"/>
                      </a:solidFill>
                      <a:prstDash val="solid"/>
                      <a:round/>
                      <a:headEnd type="none" w="med" len="med"/>
                      <a:tailEnd type="none" w="med" len="med"/>
                    </a:lnL>
                    <a:lnR w="12700" cap="flat" cmpd="sng" algn="ctr">
                      <a:solidFill>
                        <a:srgbClr val="E9E9E9"/>
                      </a:solidFill>
                      <a:prstDash val="solid"/>
                      <a:round/>
                      <a:headEnd type="none" w="med" len="med"/>
                      <a:tailEnd type="none" w="med" len="med"/>
                    </a:lnR>
                    <a:lnT w="12700" cap="flat" cmpd="sng" algn="ctr">
                      <a:solidFill>
                        <a:srgbClr val="E9E9E9"/>
                      </a:solidFill>
                      <a:prstDash val="solid"/>
                      <a:round/>
                      <a:headEnd type="none" w="med" len="med"/>
                      <a:tailEnd type="none" w="med" len="med"/>
                    </a:lnT>
                    <a:lnB w="12700" cap="flat" cmpd="sng" algn="ctr">
                      <a:solidFill>
                        <a:srgbClr val="E9E9E9"/>
                      </a:solidFill>
                      <a:prstDash val="solid"/>
                      <a:round/>
                      <a:headEnd type="none" w="med" len="med"/>
                      <a:tailEnd type="none" w="med" len="med"/>
                    </a:lnB>
                    <a:solidFill>
                      <a:srgbClr val="FFFFFF"/>
                    </a:solidFill>
                  </a:tcPr>
                </a:tc>
                <a:tc>
                  <a:txBody>
                    <a:bodyPr/>
                    <a:lstStyle/>
                    <a:p>
                      <a:pPr indent="0" marL="0">
                        <a:buNone/>
                      </a:pPr>
                      <a:r>
                        <a:rPr lang="en-US" sz="1300" dirty="0">
                          <a:solidFill>
                            <a:srgbClr val="2B0A10"/>
                          </a:solidFill>
                          <a:latin typeface="Segoe UI" pitchFamily="34" charset="0"/>
                          <a:ea typeface="Segoe UI" pitchFamily="34" charset="-122"/>
                          <a:cs typeface="Segoe UI" pitchFamily="34" charset="-120"/>
                        </a:rPr>
                        <a:t>✓  One request in the app, in your own language</a:t>
                      </a:r>
                      <a:endParaRPr lang="en-US" sz="1300" dirty="0">
                        <a:latin typeface="Segoe UI" charset="0"/>
                        <a:ea typeface="Segoe UI" charset="0"/>
                        <a:cs typeface="Segoe UI" charset="0"/>
                      </a:endParaRPr>
                    </a:p>
                  </a:txBody>
                  <a:tcPr marL="91440" marR="91440" marT="45720" marB="45720" anchor="ctr">
                    <a:lnL w="12700" cap="flat" cmpd="sng" algn="ctr">
                      <a:solidFill>
                        <a:srgbClr val="E9E9E9"/>
                      </a:solidFill>
                      <a:prstDash val="solid"/>
                      <a:round/>
                      <a:headEnd type="none" w="med" len="med"/>
                      <a:tailEnd type="none" w="med" len="med"/>
                    </a:lnL>
                    <a:lnR w="12700" cap="flat" cmpd="sng" algn="ctr">
                      <a:solidFill>
                        <a:srgbClr val="E9E9E9"/>
                      </a:solidFill>
                      <a:prstDash val="solid"/>
                      <a:round/>
                      <a:headEnd type="none" w="med" len="med"/>
                      <a:tailEnd type="none" w="med" len="med"/>
                    </a:lnR>
                    <a:lnT w="12700" cap="flat" cmpd="sng" algn="ctr">
                      <a:solidFill>
                        <a:srgbClr val="E9E9E9"/>
                      </a:solidFill>
                      <a:prstDash val="solid"/>
                      <a:round/>
                      <a:headEnd type="none" w="med" len="med"/>
                      <a:tailEnd type="none" w="med" len="med"/>
                    </a:lnT>
                    <a:lnB w="12700" cap="flat" cmpd="sng" algn="ctr">
                      <a:solidFill>
                        <a:srgbClr val="E9E9E9"/>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5F5F5F"/>
                          </a:solidFill>
                          <a:latin typeface="Segoe UI" pitchFamily="34" charset="0"/>
                          <a:ea typeface="Segoe UI" pitchFamily="34" charset="-122"/>
                          <a:cs typeface="Segoe UI" pitchFamily="34" charset="-120"/>
                        </a:rPr>
                        <a:t>✗  Stock info hours old or missing</a:t>
                      </a:r>
                      <a:endParaRPr lang="en-US" sz="1300" dirty="0">
                        <a:latin typeface="Segoe UI" charset="0"/>
                        <a:ea typeface="Segoe UI" charset="0"/>
                        <a:cs typeface="Segoe UI" charset="0"/>
                      </a:endParaRPr>
                    </a:p>
                  </a:txBody>
                  <a:tcPr marL="91440" marR="91440" marT="45720" marB="45720" anchor="ctr">
                    <a:lnL w="12700" cap="flat" cmpd="sng" algn="ctr">
                      <a:solidFill>
                        <a:srgbClr val="E9E9E9"/>
                      </a:solidFill>
                      <a:prstDash val="solid"/>
                      <a:round/>
                      <a:headEnd type="none" w="med" len="med"/>
                      <a:tailEnd type="none" w="med" len="med"/>
                    </a:lnL>
                    <a:lnR w="12700" cap="flat" cmpd="sng" algn="ctr">
                      <a:solidFill>
                        <a:srgbClr val="E9E9E9"/>
                      </a:solidFill>
                      <a:prstDash val="solid"/>
                      <a:round/>
                      <a:headEnd type="none" w="med" len="med"/>
                      <a:tailEnd type="none" w="med" len="med"/>
                    </a:lnR>
                    <a:lnT w="12700" cap="flat" cmpd="sng" algn="ctr">
                      <a:solidFill>
                        <a:srgbClr val="E9E9E9"/>
                      </a:solidFill>
                      <a:prstDash val="solid"/>
                      <a:round/>
                      <a:headEnd type="none" w="med" len="med"/>
                      <a:tailEnd type="none" w="med" len="med"/>
                    </a:lnT>
                    <a:lnB w="12700" cap="flat" cmpd="sng" algn="ctr">
                      <a:solidFill>
                        <a:srgbClr val="E9E9E9"/>
                      </a:solidFill>
                      <a:prstDash val="solid"/>
                      <a:round/>
                      <a:headEnd type="none" w="med" len="med"/>
                      <a:tailEnd type="none" w="med" len="med"/>
                    </a:lnB>
                    <a:solidFill>
                      <a:srgbClr val="FBE4E6"/>
                    </a:solidFill>
                  </a:tcPr>
                </a:tc>
                <a:tc>
                  <a:txBody>
                    <a:bodyPr/>
                    <a:lstStyle/>
                    <a:p>
                      <a:pPr indent="0" marL="0">
                        <a:buNone/>
                      </a:pPr>
                      <a:r>
                        <a:rPr lang="en-US" sz="1300" dirty="0">
                          <a:solidFill>
                            <a:srgbClr val="2B0A10"/>
                          </a:solidFill>
                          <a:latin typeface="Segoe UI" pitchFamily="34" charset="0"/>
                          <a:ea typeface="Segoe UI" pitchFamily="34" charset="-122"/>
                          <a:cs typeface="Segoe UI" pitchFamily="34" charset="-120"/>
                        </a:rPr>
                        <a:t>✓  Freshness-labelled stock, centres shown instantly</a:t>
                      </a:r>
                      <a:endParaRPr lang="en-US" sz="1300" dirty="0">
                        <a:latin typeface="Segoe UI" charset="0"/>
                        <a:ea typeface="Segoe UI" charset="0"/>
                        <a:cs typeface="Segoe UI" charset="0"/>
                      </a:endParaRPr>
                    </a:p>
                  </a:txBody>
                  <a:tcPr marL="91440" marR="91440" marT="45720" marB="45720" anchor="ctr">
                    <a:lnL w="12700" cap="flat" cmpd="sng" algn="ctr">
                      <a:solidFill>
                        <a:srgbClr val="E9E9E9"/>
                      </a:solidFill>
                      <a:prstDash val="solid"/>
                      <a:round/>
                      <a:headEnd type="none" w="med" len="med"/>
                      <a:tailEnd type="none" w="med" len="med"/>
                    </a:lnL>
                    <a:lnR w="12700" cap="flat" cmpd="sng" algn="ctr">
                      <a:solidFill>
                        <a:srgbClr val="E9E9E9"/>
                      </a:solidFill>
                      <a:prstDash val="solid"/>
                      <a:round/>
                      <a:headEnd type="none" w="med" len="med"/>
                      <a:tailEnd type="none" w="med" len="med"/>
                    </a:lnR>
                    <a:lnT w="12700" cap="flat" cmpd="sng" algn="ctr">
                      <a:solidFill>
                        <a:srgbClr val="E9E9E9"/>
                      </a:solidFill>
                      <a:prstDash val="solid"/>
                      <a:round/>
                      <a:headEnd type="none" w="med" len="med"/>
                      <a:tailEnd type="none" w="med" len="med"/>
                    </a:lnT>
                    <a:lnB w="12700" cap="flat" cmpd="sng" algn="ctr">
                      <a:solidFill>
                        <a:srgbClr val="E9E9E9"/>
                      </a:solidFill>
                      <a:prstDash val="solid"/>
                      <a:round/>
                      <a:headEnd type="none" w="med" len="med"/>
                      <a:tailEnd type="none" w="med" len="med"/>
                    </a:lnB>
                    <a:solidFill>
                      <a:srgbClr val="FBE4E6"/>
                    </a:solidFill>
                  </a:tcPr>
                </a:tc>
              </a:tr>
              <a:tr h="512064">
                <a:tc>
                  <a:txBody>
                    <a:bodyPr/>
                    <a:lstStyle/>
                    <a:p>
                      <a:pPr indent="0" marL="0">
                        <a:buNone/>
                      </a:pPr>
                      <a:r>
                        <a:rPr lang="en-US" sz="1300" dirty="0">
                          <a:solidFill>
                            <a:srgbClr val="5F5F5F"/>
                          </a:solidFill>
                          <a:latin typeface="Segoe UI" pitchFamily="34" charset="0"/>
                          <a:ea typeface="Segoe UI" pitchFamily="34" charset="-122"/>
                          <a:cs typeface="Segoe UI" pitchFamily="34" charset="-120"/>
                        </a:rPr>
                        <a:t>✗  Fake / duplicate appeals waste donors' time</a:t>
                      </a:r>
                      <a:endParaRPr lang="en-US" sz="1300" dirty="0">
                        <a:latin typeface="Segoe UI" charset="0"/>
                        <a:ea typeface="Segoe UI" charset="0"/>
                        <a:cs typeface="Segoe UI" charset="0"/>
                      </a:endParaRPr>
                    </a:p>
                  </a:txBody>
                  <a:tcPr marL="91440" marR="91440" marT="45720" marB="45720" anchor="ctr">
                    <a:lnL w="12700" cap="flat" cmpd="sng" algn="ctr">
                      <a:solidFill>
                        <a:srgbClr val="E9E9E9"/>
                      </a:solidFill>
                      <a:prstDash val="solid"/>
                      <a:round/>
                      <a:headEnd type="none" w="med" len="med"/>
                      <a:tailEnd type="none" w="med" len="med"/>
                    </a:lnL>
                    <a:lnR w="12700" cap="flat" cmpd="sng" algn="ctr">
                      <a:solidFill>
                        <a:srgbClr val="E9E9E9"/>
                      </a:solidFill>
                      <a:prstDash val="solid"/>
                      <a:round/>
                      <a:headEnd type="none" w="med" len="med"/>
                      <a:tailEnd type="none" w="med" len="med"/>
                    </a:lnR>
                    <a:lnT w="12700" cap="flat" cmpd="sng" algn="ctr">
                      <a:solidFill>
                        <a:srgbClr val="E9E9E9"/>
                      </a:solidFill>
                      <a:prstDash val="solid"/>
                      <a:round/>
                      <a:headEnd type="none" w="med" len="med"/>
                      <a:tailEnd type="none" w="med" len="med"/>
                    </a:lnT>
                    <a:lnB w="12700" cap="flat" cmpd="sng" algn="ctr">
                      <a:solidFill>
                        <a:srgbClr val="E9E9E9"/>
                      </a:solidFill>
                      <a:prstDash val="solid"/>
                      <a:round/>
                      <a:headEnd type="none" w="med" len="med"/>
                      <a:tailEnd type="none" w="med" len="med"/>
                    </a:lnB>
                    <a:solidFill>
                      <a:srgbClr val="FFFFFF"/>
                    </a:solidFill>
                  </a:tcPr>
                </a:tc>
                <a:tc>
                  <a:txBody>
                    <a:bodyPr/>
                    <a:lstStyle/>
                    <a:p>
                      <a:pPr indent="0" marL="0">
                        <a:buNone/>
                      </a:pPr>
                      <a:r>
                        <a:rPr lang="en-US" sz="1300" dirty="0">
                          <a:solidFill>
                            <a:srgbClr val="2B0A10"/>
                          </a:solidFill>
                          <a:latin typeface="Segoe UI" pitchFamily="34" charset="0"/>
                          <a:ea typeface="Segoe UI" pitchFamily="34" charset="-122"/>
                          <a:cs typeface="Segoe UI" pitchFamily="34" charset="-120"/>
                        </a:rPr>
                        <a:t>✓  Verified requests only reach private donors</a:t>
                      </a:r>
                      <a:endParaRPr lang="en-US" sz="1300" dirty="0">
                        <a:latin typeface="Segoe UI" charset="0"/>
                        <a:ea typeface="Segoe UI" charset="0"/>
                        <a:cs typeface="Segoe UI" charset="0"/>
                      </a:endParaRPr>
                    </a:p>
                  </a:txBody>
                  <a:tcPr marL="91440" marR="91440" marT="45720" marB="45720" anchor="ctr">
                    <a:lnL w="12700" cap="flat" cmpd="sng" algn="ctr">
                      <a:solidFill>
                        <a:srgbClr val="E9E9E9"/>
                      </a:solidFill>
                      <a:prstDash val="solid"/>
                      <a:round/>
                      <a:headEnd type="none" w="med" len="med"/>
                      <a:tailEnd type="none" w="med" len="med"/>
                    </a:lnL>
                    <a:lnR w="12700" cap="flat" cmpd="sng" algn="ctr">
                      <a:solidFill>
                        <a:srgbClr val="E9E9E9"/>
                      </a:solidFill>
                      <a:prstDash val="solid"/>
                      <a:round/>
                      <a:headEnd type="none" w="med" len="med"/>
                      <a:tailEnd type="none" w="med" len="med"/>
                    </a:lnR>
                    <a:lnT w="12700" cap="flat" cmpd="sng" algn="ctr">
                      <a:solidFill>
                        <a:srgbClr val="E9E9E9"/>
                      </a:solidFill>
                      <a:prstDash val="solid"/>
                      <a:round/>
                      <a:headEnd type="none" w="med" len="med"/>
                      <a:tailEnd type="none" w="med" len="med"/>
                    </a:lnT>
                    <a:lnB w="12700" cap="flat" cmpd="sng" algn="ctr">
                      <a:solidFill>
                        <a:srgbClr val="E9E9E9"/>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5F5F5F"/>
                          </a:solidFill>
                          <a:latin typeface="Segoe UI" pitchFamily="34" charset="0"/>
                          <a:ea typeface="Segoe UI" pitchFamily="34" charset="-122"/>
                          <a:cs typeface="Segoe UI" pitchFamily="34" charset="-120"/>
                        </a:rPr>
                        <a:t>✗  Donors spammed, burn out, drop off</a:t>
                      </a:r>
                      <a:endParaRPr lang="en-US" sz="1300" dirty="0">
                        <a:latin typeface="Segoe UI" charset="0"/>
                        <a:ea typeface="Segoe UI" charset="0"/>
                        <a:cs typeface="Segoe UI" charset="0"/>
                      </a:endParaRPr>
                    </a:p>
                  </a:txBody>
                  <a:tcPr marL="91440" marR="91440" marT="45720" marB="45720" anchor="ctr">
                    <a:lnL w="12700" cap="flat" cmpd="sng" algn="ctr">
                      <a:solidFill>
                        <a:srgbClr val="E9E9E9"/>
                      </a:solidFill>
                      <a:prstDash val="solid"/>
                      <a:round/>
                      <a:headEnd type="none" w="med" len="med"/>
                      <a:tailEnd type="none" w="med" len="med"/>
                    </a:lnL>
                    <a:lnR w="12700" cap="flat" cmpd="sng" algn="ctr">
                      <a:solidFill>
                        <a:srgbClr val="E9E9E9"/>
                      </a:solidFill>
                      <a:prstDash val="solid"/>
                      <a:round/>
                      <a:headEnd type="none" w="med" len="med"/>
                      <a:tailEnd type="none" w="med" len="med"/>
                    </a:lnR>
                    <a:lnT w="12700" cap="flat" cmpd="sng" algn="ctr">
                      <a:solidFill>
                        <a:srgbClr val="E9E9E9"/>
                      </a:solidFill>
                      <a:prstDash val="solid"/>
                      <a:round/>
                      <a:headEnd type="none" w="med" len="med"/>
                      <a:tailEnd type="none" w="med" len="med"/>
                    </a:lnT>
                    <a:lnB w="12700" cap="flat" cmpd="sng" algn="ctr">
                      <a:solidFill>
                        <a:srgbClr val="E9E9E9"/>
                      </a:solidFill>
                      <a:prstDash val="solid"/>
                      <a:round/>
                      <a:headEnd type="none" w="med" len="med"/>
                      <a:tailEnd type="none" w="med" len="med"/>
                    </a:lnB>
                    <a:solidFill>
                      <a:srgbClr val="FBE4E6"/>
                    </a:solidFill>
                  </a:tcPr>
                </a:tc>
                <a:tc>
                  <a:txBody>
                    <a:bodyPr/>
                    <a:lstStyle/>
                    <a:p>
                      <a:pPr indent="0" marL="0">
                        <a:buNone/>
                      </a:pPr>
                      <a:r>
                        <a:rPr lang="en-US" sz="1300" dirty="0">
                          <a:solidFill>
                            <a:srgbClr val="2B0A10"/>
                          </a:solidFill>
                          <a:latin typeface="Segoe UI" pitchFamily="34" charset="0"/>
                          <a:ea typeface="Segoe UI" pitchFamily="34" charset="-122"/>
                          <a:cs typeface="Segoe UI" pitchFamily="34" charset="-120"/>
                        </a:rPr>
                        <a:t>✓  Small ranked waves, stand-downs, consent per purpose</a:t>
                      </a:r>
                      <a:endParaRPr lang="en-US" sz="1300" dirty="0">
                        <a:latin typeface="Segoe UI" charset="0"/>
                        <a:ea typeface="Segoe UI" charset="0"/>
                        <a:cs typeface="Segoe UI" charset="0"/>
                      </a:endParaRPr>
                    </a:p>
                  </a:txBody>
                  <a:tcPr marL="91440" marR="91440" marT="45720" marB="45720" anchor="ctr">
                    <a:lnL w="12700" cap="flat" cmpd="sng" algn="ctr">
                      <a:solidFill>
                        <a:srgbClr val="E9E9E9"/>
                      </a:solidFill>
                      <a:prstDash val="solid"/>
                      <a:round/>
                      <a:headEnd type="none" w="med" len="med"/>
                      <a:tailEnd type="none" w="med" len="med"/>
                    </a:lnL>
                    <a:lnR w="12700" cap="flat" cmpd="sng" algn="ctr">
                      <a:solidFill>
                        <a:srgbClr val="E9E9E9"/>
                      </a:solidFill>
                      <a:prstDash val="solid"/>
                      <a:round/>
                      <a:headEnd type="none" w="med" len="med"/>
                      <a:tailEnd type="none" w="med" len="med"/>
                    </a:lnR>
                    <a:lnT w="12700" cap="flat" cmpd="sng" algn="ctr">
                      <a:solidFill>
                        <a:srgbClr val="E9E9E9"/>
                      </a:solidFill>
                      <a:prstDash val="solid"/>
                      <a:round/>
                      <a:headEnd type="none" w="med" len="med"/>
                      <a:tailEnd type="none" w="med" len="med"/>
                    </a:lnT>
                    <a:lnB w="12700" cap="flat" cmpd="sng" algn="ctr">
                      <a:solidFill>
                        <a:srgbClr val="E9E9E9"/>
                      </a:solidFill>
                      <a:prstDash val="solid"/>
                      <a:round/>
                      <a:headEnd type="none" w="med" len="med"/>
                      <a:tailEnd type="none" w="med" len="med"/>
                    </a:lnB>
                    <a:solidFill>
                      <a:srgbClr val="FBE4E6"/>
                    </a:solidFill>
                  </a:tcPr>
                </a:tc>
              </a:tr>
              <a:tr h="512064">
                <a:tc>
                  <a:txBody>
                    <a:bodyPr/>
                    <a:lstStyle/>
                    <a:p>
                      <a:pPr indent="0" marL="0">
                        <a:buNone/>
                      </a:pPr>
                      <a:r>
                        <a:rPr lang="en-US" sz="1300" dirty="0">
                          <a:solidFill>
                            <a:srgbClr val="5F5F5F"/>
                          </a:solidFill>
                          <a:latin typeface="Segoe UI" pitchFamily="34" charset="0"/>
                          <a:ea typeface="Segoe UI" pitchFamily="34" charset="-122"/>
                          <a:cs typeface="Segoe UI" pitchFamily="34" charset="-120"/>
                        </a:rPr>
                        <a:t>✗  Appeals live forever; no outcome known</a:t>
                      </a:r>
                      <a:endParaRPr lang="en-US" sz="1300" dirty="0">
                        <a:latin typeface="Segoe UI" charset="0"/>
                        <a:ea typeface="Segoe UI" charset="0"/>
                        <a:cs typeface="Segoe UI" charset="0"/>
                      </a:endParaRPr>
                    </a:p>
                  </a:txBody>
                  <a:tcPr marL="91440" marR="91440" marT="45720" marB="45720" anchor="ctr">
                    <a:lnL w="12700" cap="flat" cmpd="sng" algn="ctr">
                      <a:solidFill>
                        <a:srgbClr val="E9E9E9"/>
                      </a:solidFill>
                      <a:prstDash val="solid"/>
                      <a:round/>
                      <a:headEnd type="none" w="med" len="med"/>
                      <a:tailEnd type="none" w="med" len="med"/>
                    </a:lnL>
                    <a:lnR w="12700" cap="flat" cmpd="sng" algn="ctr">
                      <a:solidFill>
                        <a:srgbClr val="E9E9E9"/>
                      </a:solidFill>
                      <a:prstDash val="solid"/>
                      <a:round/>
                      <a:headEnd type="none" w="med" len="med"/>
                      <a:tailEnd type="none" w="med" len="med"/>
                    </a:lnR>
                    <a:lnT w="12700" cap="flat" cmpd="sng" algn="ctr">
                      <a:solidFill>
                        <a:srgbClr val="E9E9E9"/>
                      </a:solidFill>
                      <a:prstDash val="solid"/>
                      <a:round/>
                      <a:headEnd type="none" w="med" len="med"/>
                      <a:tailEnd type="none" w="med" len="med"/>
                    </a:lnT>
                    <a:lnB w="12700" cap="flat" cmpd="sng" algn="ctr">
                      <a:solidFill>
                        <a:srgbClr val="E9E9E9"/>
                      </a:solidFill>
                      <a:prstDash val="solid"/>
                      <a:round/>
                      <a:headEnd type="none" w="med" len="med"/>
                      <a:tailEnd type="none" w="med" len="med"/>
                    </a:lnB>
                    <a:solidFill>
                      <a:srgbClr val="FFFFFF"/>
                    </a:solidFill>
                  </a:tcPr>
                </a:tc>
                <a:tc>
                  <a:txBody>
                    <a:bodyPr/>
                    <a:lstStyle/>
                    <a:p>
                      <a:pPr indent="0" marL="0">
                        <a:buNone/>
                      </a:pPr>
                      <a:r>
                        <a:rPr lang="en-US" sz="1300" dirty="0">
                          <a:solidFill>
                            <a:srgbClr val="2B0A10"/>
                          </a:solidFill>
                          <a:latin typeface="Segoe UI" pitchFamily="34" charset="0"/>
                          <a:ea typeface="Segoe UI" pitchFamily="34" charset="-122"/>
                          <a:cs typeface="Segoe UI" pitchFamily="34" charset="-120"/>
                        </a:rPr>
                        <a:t>✓  Closed-loop case with staff-confirmed outcome</a:t>
                      </a:r>
                      <a:endParaRPr lang="en-US" sz="1300" dirty="0">
                        <a:latin typeface="Segoe UI" charset="0"/>
                        <a:ea typeface="Segoe UI" charset="0"/>
                        <a:cs typeface="Segoe UI" charset="0"/>
                      </a:endParaRPr>
                    </a:p>
                  </a:txBody>
                  <a:tcPr marL="91440" marR="91440" marT="45720" marB="45720" anchor="ctr">
                    <a:lnL w="12700" cap="flat" cmpd="sng" algn="ctr">
                      <a:solidFill>
                        <a:srgbClr val="E9E9E9"/>
                      </a:solidFill>
                      <a:prstDash val="solid"/>
                      <a:round/>
                      <a:headEnd type="none" w="med" len="med"/>
                      <a:tailEnd type="none" w="med" len="med"/>
                    </a:lnL>
                    <a:lnR w="12700" cap="flat" cmpd="sng" algn="ctr">
                      <a:solidFill>
                        <a:srgbClr val="E9E9E9"/>
                      </a:solidFill>
                      <a:prstDash val="solid"/>
                      <a:round/>
                      <a:headEnd type="none" w="med" len="med"/>
                      <a:tailEnd type="none" w="med" len="med"/>
                    </a:lnR>
                    <a:lnT w="12700" cap="flat" cmpd="sng" algn="ctr">
                      <a:solidFill>
                        <a:srgbClr val="E9E9E9"/>
                      </a:solidFill>
                      <a:prstDash val="solid"/>
                      <a:round/>
                      <a:headEnd type="none" w="med" len="med"/>
                      <a:tailEnd type="none" w="med" len="med"/>
                    </a:lnT>
                    <a:lnB w="12700" cap="flat" cmpd="sng" algn="ctr">
                      <a:solidFill>
                        <a:srgbClr val="E9E9E9"/>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5F5F5F"/>
                          </a:solidFill>
                          <a:latin typeface="Segoe UI" pitchFamily="34" charset="0"/>
                          <a:ea typeface="Segoe UI" pitchFamily="34" charset="-122"/>
                          <a:cs typeface="Segoe UI" pitchFamily="34" charset="-120"/>
                        </a:rPr>
                        <a:t>✗  Donor numbers posted publicly</a:t>
                      </a:r>
                      <a:endParaRPr lang="en-US" sz="1300" dirty="0">
                        <a:latin typeface="Segoe UI" charset="0"/>
                        <a:ea typeface="Segoe UI" charset="0"/>
                        <a:cs typeface="Segoe UI" charset="0"/>
                      </a:endParaRPr>
                    </a:p>
                  </a:txBody>
                  <a:tcPr marL="91440" marR="91440" marT="45720" marB="45720" anchor="ctr">
                    <a:lnL w="12700" cap="flat" cmpd="sng" algn="ctr">
                      <a:solidFill>
                        <a:srgbClr val="E9E9E9"/>
                      </a:solidFill>
                      <a:prstDash val="solid"/>
                      <a:round/>
                      <a:headEnd type="none" w="med" len="med"/>
                      <a:tailEnd type="none" w="med" len="med"/>
                    </a:lnL>
                    <a:lnR w="12700" cap="flat" cmpd="sng" algn="ctr">
                      <a:solidFill>
                        <a:srgbClr val="E9E9E9"/>
                      </a:solidFill>
                      <a:prstDash val="solid"/>
                      <a:round/>
                      <a:headEnd type="none" w="med" len="med"/>
                      <a:tailEnd type="none" w="med" len="med"/>
                    </a:lnR>
                    <a:lnT w="12700" cap="flat" cmpd="sng" algn="ctr">
                      <a:solidFill>
                        <a:srgbClr val="E9E9E9"/>
                      </a:solidFill>
                      <a:prstDash val="solid"/>
                      <a:round/>
                      <a:headEnd type="none" w="med" len="med"/>
                      <a:tailEnd type="none" w="med" len="med"/>
                    </a:lnT>
                    <a:lnB w="12700" cap="flat" cmpd="sng" algn="ctr">
                      <a:solidFill>
                        <a:srgbClr val="E9E9E9"/>
                      </a:solidFill>
                      <a:prstDash val="solid"/>
                      <a:round/>
                      <a:headEnd type="none" w="med" len="med"/>
                      <a:tailEnd type="none" w="med" len="med"/>
                    </a:lnB>
                    <a:solidFill>
                      <a:srgbClr val="FBE4E6"/>
                    </a:solidFill>
                  </a:tcPr>
                </a:tc>
                <a:tc>
                  <a:txBody>
                    <a:bodyPr/>
                    <a:lstStyle/>
                    <a:p>
                      <a:pPr indent="0" marL="0">
                        <a:buNone/>
                      </a:pPr>
                      <a:r>
                        <a:rPr lang="en-US" sz="1300" dirty="0">
                          <a:solidFill>
                            <a:srgbClr val="2B0A10"/>
                          </a:solidFill>
                          <a:latin typeface="Segoe UI" pitchFamily="34" charset="0"/>
                          <a:ea typeface="Segoe UI" pitchFamily="34" charset="-122"/>
                          <a:cs typeface="Segoe UI" pitchFamily="34" charset="-120"/>
                        </a:rPr>
                        <a:t>✓  Contact shared only with per-request consent</a:t>
                      </a:r>
                      <a:endParaRPr lang="en-US" sz="1300" dirty="0">
                        <a:latin typeface="Segoe UI" charset="0"/>
                        <a:ea typeface="Segoe UI" charset="0"/>
                        <a:cs typeface="Segoe UI" charset="0"/>
                      </a:endParaRPr>
                    </a:p>
                  </a:txBody>
                  <a:tcPr marL="91440" marR="91440" marT="45720" marB="45720" anchor="ctr">
                    <a:lnL w="12700" cap="flat" cmpd="sng" algn="ctr">
                      <a:solidFill>
                        <a:srgbClr val="E9E9E9"/>
                      </a:solidFill>
                      <a:prstDash val="solid"/>
                      <a:round/>
                      <a:headEnd type="none" w="med" len="med"/>
                      <a:tailEnd type="none" w="med" len="med"/>
                    </a:lnL>
                    <a:lnR w="12700" cap="flat" cmpd="sng" algn="ctr">
                      <a:solidFill>
                        <a:srgbClr val="E9E9E9"/>
                      </a:solidFill>
                      <a:prstDash val="solid"/>
                      <a:round/>
                      <a:headEnd type="none" w="med" len="med"/>
                      <a:tailEnd type="none" w="med" len="med"/>
                    </a:lnR>
                    <a:lnT w="12700" cap="flat" cmpd="sng" algn="ctr">
                      <a:solidFill>
                        <a:srgbClr val="E9E9E9"/>
                      </a:solidFill>
                      <a:prstDash val="solid"/>
                      <a:round/>
                      <a:headEnd type="none" w="med" len="med"/>
                      <a:tailEnd type="none" w="med" len="med"/>
                    </a:lnT>
                    <a:lnB w="12700" cap="flat" cmpd="sng" algn="ctr">
                      <a:solidFill>
                        <a:srgbClr val="E9E9E9"/>
                      </a:solidFill>
                      <a:prstDash val="solid"/>
                      <a:round/>
                      <a:headEnd type="none" w="med" len="med"/>
                      <a:tailEnd type="none" w="med" len="med"/>
                    </a:lnB>
                    <a:solidFill>
                      <a:srgbClr val="FBE4E6"/>
                    </a:solidFill>
                  </a:tcPr>
                </a:tc>
              </a:tr>
              <a:tr h="512064">
                <a:tc>
                  <a:txBody>
                    <a:bodyPr/>
                    <a:lstStyle/>
                    <a:p>
                      <a:pPr indent="0" marL="0">
                        <a:buNone/>
                      </a:pPr>
                      <a:r>
                        <a:rPr lang="en-US" sz="1300" dirty="0">
                          <a:solidFill>
                            <a:srgbClr val="5F5F5F"/>
                          </a:solidFill>
                          <a:latin typeface="Segoe UI" pitchFamily="34" charset="0"/>
                          <a:ea typeface="Segoe UI" pitchFamily="34" charset="-122"/>
                          <a:cs typeface="Segoe UI" pitchFamily="34" charset="-120"/>
                        </a:rPr>
                        <a:t>✗  Shortages discovered too late</a:t>
                      </a:r>
                      <a:endParaRPr lang="en-US" sz="1300" dirty="0">
                        <a:latin typeface="Segoe UI" charset="0"/>
                        <a:ea typeface="Segoe UI" charset="0"/>
                        <a:cs typeface="Segoe UI" charset="0"/>
                      </a:endParaRPr>
                    </a:p>
                  </a:txBody>
                  <a:tcPr marL="91440" marR="91440" marT="45720" marB="45720" anchor="ctr">
                    <a:lnL w="12700" cap="flat" cmpd="sng" algn="ctr">
                      <a:solidFill>
                        <a:srgbClr val="E9E9E9"/>
                      </a:solidFill>
                      <a:prstDash val="solid"/>
                      <a:round/>
                      <a:headEnd type="none" w="med" len="med"/>
                      <a:tailEnd type="none" w="med" len="med"/>
                    </a:lnL>
                    <a:lnR w="12700" cap="flat" cmpd="sng" algn="ctr">
                      <a:solidFill>
                        <a:srgbClr val="E9E9E9"/>
                      </a:solidFill>
                      <a:prstDash val="solid"/>
                      <a:round/>
                      <a:headEnd type="none" w="med" len="med"/>
                      <a:tailEnd type="none" w="med" len="med"/>
                    </a:lnR>
                    <a:lnT w="12700" cap="flat" cmpd="sng" algn="ctr">
                      <a:solidFill>
                        <a:srgbClr val="E9E9E9"/>
                      </a:solidFill>
                      <a:prstDash val="solid"/>
                      <a:round/>
                      <a:headEnd type="none" w="med" len="med"/>
                      <a:tailEnd type="none" w="med" len="med"/>
                    </a:lnT>
                    <a:lnB w="12700" cap="flat" cmpd="sng" algn="ctr">
                      <a:solidFill>
                        <a:srgbClr val="E9E9E9"/>
                      </a:solidFill>
                      <a:prstDash val="solid"/>
                      <a:round/>
                      <a:headEnd type="none" w="med" len="med"/>
                      <a:tailEnd type="none" w="med" len="med"/>
                    </a:lnB>
                    <a:solidFill>
                      <a:srgbClr val="FFFFFF"/>
                    </a:solidFill>
                  </a:tcPr>
                </a:tc>
                <a:tc>
                  <a:txBody>
                    <a:bodyPr/>
                    <a:lstStyle/>
                    <a:p>
                      <a:pPr indent="0" marL="0">
                        <a:buNone/>
                      </a:pPr>
                      <a:r>
                        <a:rPr lang="en-US" sz="1300" dirty="0">
                          <a:solidFill>
                            <a:srgbClr val="2B0A10"/>
                          </a:solidFill>
                          <a:latin typeface="Segoe UI" pitchFamily="34" charset="0"/>
                          <a:ea typeface="Segoe UI" pitchFamily="34" charset="-122"/>
                          <a:cs typeface="Segoe UI" pitchFamily="34" charset="-120"/>
                        </a:rPr>
                        <a:t>✓  Weekly demand forecasts → early, targeted campaigns</a:t>
                      </a:r>
                      <a:endParaRPr lang="en-US" sz="1300" dirty="0">
                        <a:latin typeface="Segoe UI" charset="0"/>
                        <a:ea typeface="Segoe UI" charset="0"/>
                        <a:cs typeface="Segoe UI" charset="0"/>
                      </a:endParaRPr>
                    </a:p>
                  </a:txBody>
                  <a:tcPr marL="91440" marR="91440" marT="45720" marB="45720" anchor="ctr">
                    <a:lnL w="12700" cap="flat" cmpd="sng" algn="ctr">
                      <a:solidFill>
                        <a:srgbClr val="E9E9E9"/>
                      </a:solidFill>
                      <a:prstDash val="solid"/>
                      <a:round/>
                      <a:headEnd type="none" w="med" len="med"/>
                      <a:tailEnd type="none" w="med" len="med"/>
                    </a:lnL>
                    <a:lnR w="12700" cap="flat" cmpd="sng" algn="ctr">
                      <a:solidFill>
                        <a:srgbClr val="E9E9E9"/>
                      </a:solidFill>
                      <a:prstDash val="solid"/>
                      <a:round/>
                      <a:headEnd type="none" w="med" len="med"/>
                      <a:tailEnd type="none" w="med" len="med"/>
                    </a:lnR>
                    <a:lnT w="12700" cap="flat" cmpd="sng" algn="ctr">
                      <a:solidFill>
                        <a:srgbClr val="E9E9E9"/>
                      </a:solidFill>
                      <a:prstDash val="solid"/>
                      <a:round/>
                      <a:headEnd type="none" w="med" len="med"/>
                      <a:tailEnd type="none" w="med" len="med"/>
                    </a:lnT>
                    <a:lnB w="12700" cap="flat" cmpd="sng" algn="ctr">
                      <a:solidFill>
                        <a:srgbClr val="E9E9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8F5"/>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102E"/>
          </a:solidFill>
          <a:ln w="12700">
            <a:solidFill>
              <a:srgbClr val="C8102E"/>
            </a:solidFill>
            <a:prstDash val="solid"/>
          </a:ln>
        </p:spPr>
      </p:sp>
      <p:sp>
        <p:nvSpPr>
          <p:cNvPr id="3" name="Text 1"/>
          <p:cNvSpPr/>
          <p:nvPr/>
        </p:nvSpPr>
        <p:spPr>
          <a:xfrm>
            <a:off x="411480" y="6446520"/>
            <a:ext cx="2743200" cy="274320"/>
          </a:xfrm>
          <a:prstGeom prst="rect">
            <a:avLst/>
          </a:prstGeom>
          <a:noFill/>
          <a:ln/>
        </p:spPr>
        <p:txBody>
          <a:bodyPr wrap="square" rtlCol="0" anchor="ctr"/>
          <a:lstStyle/>
          <a:p>
            <a:pPr indent="0" marL="0">
              <a:buNone/>
            </a:pPr>
            <a:r>
              <a:rPr lang="en-US" sz="1000" b="1" dirty="0">
                <a:solidFill>
                  <a:srgbClr val="C8102E"/>
                </a:solidFill>
                <a:latin typeface="Segoe UI" pitchFamily="34" charset="0"/>
                <a:ea typeface="Segoe UI" pitchFamily="34" charset="-122"/>
                <a:cs typeface="Segoe UI" pitchFamily="34" charset="-120"/>
              </a:rPr>
              <a:t>RaktDoot</a:t>
            </a:r>
            <a:endParaRPr lang="en-US" sz="1000" dirty="0"/>
          </a:p>
        </p:txBody>
      </p:sp>
      <p:sp>
        <p:nvSpPr>
          <p:cNvPr id="4" name="Text 2"/>
          <p:cNvSpPr/>
          <p:nvPr/>
        </p:nvSpPr>
        <p:spPr>
          <a:xfrm>
            <a:off x="11277295" y="6446520"/>
            <a:ext cx="548640" cy="274320"/>
          </a:xfrm>
          <a:prstGeom prst="rect">
            <a:avLst/>
          </a:prstGeom>
          <a:noFill/>
          <a:ln/>
        </p:spPr>
        <p:txBody>
          <a:bodyPr wrap="square" rtlCol="0" anchor="ctr"/>
          <a:lstStyle/>
          <a:p>
            <a:pPr algn="r" indent="0" marL="0">
              <a:buNone/>
            </a:pPr>
            <a:r>
              <a:rPr lang="en-US" sz="1000" dirty="0">
                <a:solidFill>
                  <a:srgbClr val="5F5F5F"/>
                </a:solidFill>
                <a:latin typeface="Segoe UI" pitchFamily="34" charset="0"/>
                <a:ea typeface="Segoe UI" pitchFamily="34" charset="-122"/>
                <a:cs typeface="Segoe UI" pitchFamily="34" charset="-120"/>
              </a:rPr>
              <a:t>9</a:t>
            </a:r>
            <a:endParaRPr lang="en-US" sz="1000" dirty="0"/>
          </a:p>
        </p:txBody>
      </p:sp>
      <p:sp>
        <p:nvSpPr>
          <p:cNvPr id="5" name="Text 3"/>
          <p:cNvSpPr/>
          <p:nvPr/>
        </p:nvSpPr>
        <p:spPr>
          <a:xfrm>
            <a:off x="548640" y="320040"/>
            <a:ext cx="9144000" cy="320040"/>
          </a:xfrm>
          <a:prstGeom prst="rect">
            <a:avLst/>
          </a:prstGeom>
          <a:noFill/>
          <a:ln/>
        </p:spPr>
        <p:txBody>
          <a:bodyPr wrap="square" rtlCol="0" anchor="ctr"/>
          <a:lstStyle/>
          <a:p>
            <a:pPr indent="0" marL="0">
              <a:buNone/>
            </a:pPr>
            <a:r>
              <a:rPr lang="en-US" sz="1200" b="1" spc="300" kern="0" dirty="0">
                <a:solidFill>
                  <a:srgbClr val="C8102E"/>
                </a:solidFill>
                <a:latin typeface="Segoe UI" pitchFamily="34" charset="0"/>
                <a:ea typeface="Segoe UI" pitchFamily="34" charset="-122"/>
                <a:cs typeface="Segoe UI" pitchFamily="34" charset="-120"/>
              </a:rPr>
              <a:t>HOW IT WORKS</a:t>
            </a:r>
            <a:endParaRPr lang="en-US" sz="1200" dirty="0"/>
          </a:p>
        </p:txBody>
      </p:sp>
      <p:sp>
        <p:nvSpPr>
          <p:cNvPr id="6" name="Text 4"/>
          <p:cNvSpPr/>
          <p:nvPr/>
        </p:nvSpPr>
        <p:spPr>
          <a:xfrm>
            <a:off x="548640" y="640080"/>
            <a:ext cx="11064240" cy="777240"/>
          </a:xfrm>
          <a:prstGeom prst="rect">
            <a:avLst/>
          </a:prstGeom>
          <a:noFill/>
          <a:ln/>
        </p:spPr>
        <p:txBody>
          <a:bodyPr wrap="square" rtlCol="0" anchor="ctr"/>
          <a:lstStyle/>
          <a:p>
            <a:pPr indent="0" marL="0">
              <a:buNone/>
            </a:pPr>
            <a:r>
              <a:rPr lang="en-US" sz="3000" b="1" dirty="0">
                <a:solidFill>
                  <a:srgbClr val="2B0A10"/>
                </a:solidFill>
                <a:latin typeface="Segoe UI" pitchFamily="34" charset="0"/>
                <a:ea typeface="Segoe UI" pitchFamily="34" charset="-122"/>
                <a:cs typeface="Segoe UI" pitchFamily="34" charset="-120"/>
              </a:rPr>
              <a:t>From one request to a confirmed donation</a:t>
            </a:r>
            <a:endParaRPr lang="en-US" sz="3000" dirty="0"/>
          </a:p>
        </p:txBody>
      </p:sp>
      <p:sp>
        <p:nvSpPr>
          <p:cNvPr id="7" name="Shape 5"/>
          <p:cNvSpPr/>
          <p:nvPr/>
        </p:nvSpPr>
        <p:spPr>
          <a:xfrm>
            <a:off x="832104" y="1645920"/>
            <a:ext cx="914400" cy="914400"/>
          </a:xfrm>
          <a:prstGeom prst="ellipse">
            <a:avLst/>
          </a:prstGeom>
          <a:solidFill>
            <a:srgbClr val="C8102E"/>
          </a:solidFill>
          <a:ln w="12700">
            <a:solidFill>
              <a:srgbClr val="C8102E"/>
            </a:solidFill>
            <a:prstDash val="solid"/>
          </a:ln>
        </p:spPr>
      </p:sp>
      <p:sp>
        <p:nvSpPr>
          <p:cNvPr id="8" name="Text 6"/>
          <p:cNvSpPr/>
          <p:nvPr/>
        </p:nvSpPr>
        <p:spPr>
          <a:xfrm>
            <a:off x="832104" y="1645920"/>
            <a:ext cx="914400" cy="91440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9" name="Shape 7"/>
          <p:cNvSpPr/>
          <p:nvPr/>
        </p:nvSpPr>
        <p:spPr>
          <a:xfrm>
            <a:off x="1792224" y="2103120"/>
            <a:ext cx="594360" cy="0"/>
          </a:xfrm>
          <a:prstGeom prst="line">
            <a:avLst/>
          </a:prstGeom>
          <a:noFill/>
          <a:ln w="31750">
            <a:solidFill>
              <a:srgbClr val="5F5F5F"/>
            </a:solidFill>
            <a:prstDash val="solid"/>
            <a:tailEnd type="triangle"/>
          </a:ln>
        </p:spPr>
      </p:sp>
      <p:sp>
        <p:nvSpPr>
          <p:cNvPr id="10" name="Text 8"/>
          <p:cNvSpPr/>
          <p:nvPr/>
        </p:nvSpPr>
        <p:spPr>
          <a:xfrm>
            <a:off x="548640" y="2697480"/>
            <a:ext cx="1481328" cy="365760"/>
          </a:xfrm>
          <a:prstGeom prst="rect">
            <a:avLst/>
          </a:prstGeom>
          <a:noFill/>
          <a:ln/>
        </p:spPr>
        <p:txBody>
          <a:bodyPr wrap="square" rtlCol="0" anchor="ctr"/>
          <a:lstStyle/>
          <a:p>
            <a:pPr algn="ctr" indent="0" marL="0">
              <a:buNone/>
            </a:pPr>
            <a:r>
              <a:rPr lang="en-US" sz="1500" b="1" dirty="0">
                <a:solidFill>
                  <a:srgbClr val="2B0A10"/>
                </a:solidFill>
                <a:latin typeface="Segoe UI" pitchFamily="34" charset="0"/>
                <a:ea typeface="Segoe UI" pitchFamily="34" charset="-122"/>
                <a:cs typeface="Segoe UI" pitchFamily="34" charset="-120"/>
              </a:rPr>
              <a:t>Request</a:t>
            </a:r>
            <a:endParaRPr lang="en-US" sz="1500" dirty="0"/>
          </a:p>
        </p:txBody>
      </p:sp>
      <p:sp>
        <p:nvSpPr>
          <p:cNvPr id="11" name="Text 9"/>
          <p:cNvSpPr/>
          <p:nvPr/>
        </p:nvSpPr>
        <p:spPr>
          <a:xfrm>
            <a:off x="548640" y="3063240"/>
            <a:ext cx="1481328" cy="1097280"/>
          </a:xfrm>
          <a:prstGeom prst="rect">
            <a:avLst/>
          </a:prstGeom>
          <a:noFill/>
          <a:ln/>
        </p:spPr>
        <p:txBody>
          <a:bodyPr wrap="square" rtlCol="0" anchor="t"/>
          <a:lstStyle/>
          <a:p>
            <a:pPr algn="ctr" indent="0" marL="0">
              <a:buNone/>
            </a:pPr>
            <a:r>
              <a:rPr lang="en-US" sz="1100" dirty="0">
                <a:solidFill>
                  <a:srgbClr val="5F5F5F"/>
                </a:solidFill>
                <a:latin typeface="Segoe UI" pitchFamily="34" charset="0"/>
                <a:ea typeface="Segoe UI" pitchFamily="34" charset="-122"/>
                <a:cs typeface="Segoe UI" pitchFamily="34" charset="-120"/>
              </a:rPr>
              <a:t>Family raises it in the RaktDoot app: tap, type or speak</a:t>
            </a:r>
            <a:endParaRPr lang="en-US" sz="1100" dirty="0"/>
          </a:p>
        </p:txBody>
      </p:sp>
      <p:sp>
        <p:nvSpPr>
          <p:cNvPr id="12" name="Shape 10"/>
          <p:cNvSpPr/>
          <p:nvPr/>
        </p:nvSpPr>
        <p:spPr>
          <a:xfrm>
            <a:off x="2432304" y="1645920"/>
            <a:ext cx="914400" cy="914400"/>
          </a:xfrm>
          <a:prstGeom prst="ellipse">
            <a:avLst/>
          </a:prstGeom>
          <a:solidFill>
            <a:srgbClr val="C8102E"/>
          </a:solidFill>
          <a:ln w="12700">
            <a:solidFill>
              <a:srgbClr val="C8102E"/>
            </a:solidFill>
            <a:prstDash val="solid"/>
          </a:ln>
        </p:spPr>
      </p:sp>
      <p:sp>
        <p:nvSpPr>
          <p:cNvPr id="13" name="Text 11"/>
          <p:cNvSpPr/>
          <p:nvPr/>
        </p:nvSpPr>
        <p:spPr>
          <a:xfrm>
            <a:off x="2432304" y="1645920"/>
            <a:ext cx="914400" cy="91440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4" name="Shape 12"/>
          <p:cNvSpPr/>
          <p:nvPr/>
        </p:nvSpPr>
        <p:spPr>
          <a:xfrm>
            <a:off x="3392424" y="2103120"/>
            <a:ext cx="594360" cy="0"/>
          </a:xfrm>
          <a:prstGeom prst="line">
            <a:avLst/>
          </a:prstGeom>
          <a:noFill/>
          <a:ln w="31750">
            <a:solidFill>
              <a:srgbClr val="5F5F5F"/>
            </a:solidFill>
            <a:prstDash val="solid"/>
            <a:tailEnd type="triangle"/>
          </a:ln>
        </p:spPr>
      </p:sp>
      <p:sp>
        <p:nvSpPr>
          <p:cNvPr id="15" name="Text 13"/>
          <p:cNvSpPr/>
          <p:nvPr/>
        </p:nvSpPr>
        <p:spPr>
          <a:xfrm>
            <a:off x="2148840" y="2697480"/>
            <a:ext cx="1481328" cy="365760"/>
          </a:xfrm>
          <a:prstGeom prst="rect">
            <a:avLst/>
          </a:prstGeom>
          <a:noFill/>
          <a:ln/>
        </p:spPr>
        <p:txBody>
          <a:bodyPr wrap="square" rtlCol="0" anchor="ctr"/>
          <a:lstStyle/>
          <a:p>
            <a:pPr algn="ctr" indent="0" marL="0">
              <a:buNone/>
            </a:pPr>
            <a:r>
              <a:rPr lang="en-US" sz="1500" b="1" dirty="0">
                <a:solidFill>
                  <a:srgbClr val="2B0A10"/>
                </a:solidFill>
                <a:latin typeface="Segoe UI" pitchFamily="34" charset="0"/>
                <a:ea typeface="Segoe UI" pitchFamily="34" charset="-122"/>
                <a:cs typeface="Segoe UI" pitchFamily="34" charset="-120"/>
              </a:rPr>
              <a:t>AI intake</a:t>
            </a:r>
            <a:endParaRPr lang="en-US" sz="1500" dirty="0"/>
          </a:p>
        </p:txBody>
      </p:sp>
      <p:sp>
        <p:nvSpPr>
          <p:cNvPr id="16" name="Text 14"/>
          <p:cNvSpPr/>
          <p:nvPr/>
        </p:nvSpPr>
        <p:spPr>
          <a:xfrm>
            <a:off x="2148840" y="3063240"/>
            <a:ext cx="1481328" cy="1097280"/>
          </a:xfrm>
          <a:prstGeom prst="rect">
            <a:avLst/>
          </a:prstGeom>
          <a:noFill/>
          <a:ln/>
        </p:spPr>
        <p:txBody>
          <a:bodyPr wrap="square" rtlCol="0" anchor="t"/>
          <a:lstStyle/>
          <a:p>
            <a:pPr algn="ctr" indent="0" marL="0">
              <a:buNone/>
            </a:pPr>
            <a:r>
              <a:rPr lang="en-US" sz="1100" dirty="0">
                <a:solidFill>
                  <a:srgbClr val="5F5F5F"/>
                </a:solidFill>
                <a:latin typeface="Segoe UI" pitchFamily="34" charset="0"/>
                <a:ea typeface="Segoe UI" pitchFamily="34" charset="-122"/>
                <a:cs typeface="Segoe UI" pitchFamily="34" charset="-120"/>
              </a:rPr>
              <a:t>Extracts group, component, units, hospital → confirm card</a:t>
            </a:r>
            <a:endParaRPr lang="en-US" sz="1100" dirty="0"/>
          </a:p>
        </p:txBody>
      </p:sp>
      <p:sp>
        <p:nvSpPr>
          <p:cNvPr id="17" name="Shape 15"/>
          <p:cNvSpPr/>
          <p:nvPr/>
        </p:nvSpPr>
        <p:spPr>
          <a:xfrm>
            <a:off x="4032504" y="1645920"/>
            <a:ext cx="914400" cy="914400"/>
          </a:xfrm>
          <a:prstGeom prst="ellipse">
            <a:avLst/>
          </a:prstGeom>
          <a:solidFill>
            <a:srgbClr val="1F8A70"/>
          </a:solidFill>
          <a:ln w="12700">
            <a:solidFill>
              <a:srgbClr val="1F8A70"/>
            </a:solidFill>
            <a:prstDash val="solid"/>
          </a:ln>
        </p:spPr>
      </p:sp>
      <p:sp>
        <p:nvSpPr>
          <p:cNvPr id="18" name="Text 16"/>
          <p:cNvSpPr/>
          <p:nvPr/>
        </p:nvSpPr>
        <p:spPr>
          <a:xfrm>
            <a:off x="4032504" y="1645920"/>
            <a:ext cx="914400" cy="91440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9" name="Shape 17"/>
          <p:cNvSpPr/>
          <p:nvPr/>
        </p:nvSpPr>
        <p:spPr>
          <a:xfrm>
            <a:off x="4992624" y="2103120"/>
            <a:ext cx="594360" cy="0"/>
          </a:xfrm>
          <a:prstGeom prst="line">
            <a:avLst/>
          </a:prstGeom>
          <a:noFill/>
          <a:ln w="31750">
            <a:solidFill>
              <a:srgbClr val="5F5F5F"/>
            </a:solidFill>
            <a:prstDash val="solid"/>
            <a:tailEnd type="triangle"/>
          </a:ln>
        </p:spPr>
      </p:sp>
      <p:sp>
        <p:nvSpPr>
          <p:cNvPr id="20" name="Text 18"/>
          <p:cNvSpPr/>
          <p:nvPr/>
        </p:nvSpPr>
        <p:spPr>
          <a:xfrm>
            <a:off x="3749040" y="2697480"/>
            <a:ext cx="1481328" cy="365760"/>
          </a:xfrm>
          <a:prstGeom prst="rect">
            <a:avLst/>
          </a:prstGeom>
          <a:noFill/>
          <a:ln/>
        </p:spPr>
        <p:txBody>
          <a:bodyPr wrap="square" rtlCol="0" anchor="ctr"/>
          <a:lstStyle/>
          <a:p>
            <a:pPr algn="ctr" indent="0" marL="0">
              <a:buNone/>
            </a:pPr>
            <a:r>
              <a:rPr lang="en-US" sz="1500" b="1" dirty="0">
                <a:solidFill>
                  <a:srgbClr val="2B0A10"/>
                </a:solidFill>
                <a:latin typeface="Segoe UI" pitchFamily="34" charset="0"/>
                <a:ea typeface="Segoe UI" pitchFamily="34" charset="-122"/>
                <a:cs typeface="Segoe UI" pitchFamily="34" charset="-120"/>
              </a:rPr>
              <a:t>Centres</a:t>
            </a:r>
            <a:endParaRPr lang="en-US" sz="1500" dirty="0"/>
          </a:p>
        </p:txBody>
      </p:sp>
      <p:sp>
        <p:nvSpPr>
          <p:cNvPr id="21" name="Text 19"/>
          <p:cNvSpPr/>
          <p:nvPr/>
        </p:nvSpPr>
        <p:spPr>
          <a:xfrm>
            <a:off x="3749040" y="3063240"/>
            <a:ext cx="1481328" cy="1097280"/>
          </a:xfrm>
          <a:prstGeom prst="rect">
            <a:avLst/>
          </a:prstGeom>
          <a:noFill/>
          <a:ln/>
        </p:spPr>
        <p:txBody>
          <a:bodyPr wrap="square" rtlCol="0" anchor="t"/>
          <a:lstStyle/>
          <a:p>
            <a:pPr algn="ctr" indent="0" marL="0">
              <a:buNone/>
            </a:pPr>
            <a:r>
              <a:rPr lang="en-US" sz="1100" dirty="0">
                <a:solidFill>
                  <a:srgbClr val="5F5F5F"/>
                </a:solidFill>
                <a:latin typeface="Segoe UI" pitchFamily="34" charset="0"/>
                <a:ea typeface="Segoe UI" pitchFamily="34" charset="-122"/>
                <a:cs typeface="Segoe UI" pitchFamily="34" charset="-120"/>
              </a:rPr>
              <a:t>Nearby licensed centres + stock freshness, instantly</a:t>
            </a:r>
            <a:endParaRPr lang="en-US" sz="1100" dirty="0"/>
          </a:p>
        </p:txBody>
      </p:sp>
      <p:sp>
        <p:nvSpPr>
          <p:cNvPr id="22" name="Shape 20"/>
          <p:cNvSpPr/>
          <p:nvPr/>
        </p:nvSpPr>
        <p:spPr>
          <a:xfrm>
            <a:off x="5632704" y="1645920"/>
            <a:ext cx="914400" cy="914400"/>
          </a:xfrm>
          <a:prstGeom prst="ellipse">
            <a:avLst/>
          </a:prstGeom>
          <a:solidFill>
            <a:srgbClr val="1F8A70"/>
          </a:solidFill>
          <a:ln w="12700">
            <a:solidFill>
              <a:srgbClr val="1F8A70"/>
            </a:solidFill>
            <a:prstDash val="solid"/>
          </a:ln>
        </p:spPr>
      </p:sp>
      <p:sp>
        <p:nvSpPr>
          <p:cNvPr id="23" name="Text 21"/>
          <p:cNvSpPr/>
          <p:nvPr/>
        </p:nvSpPr>
        <p:spPr>
          <a:xfrm>
            <a:off x="5632704" y="1645920"/>
            <a:ext cx="914400" cy="91440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24" name="Shape 22"/>
          <p:cNvSpPr/>
          <p:nvPr/>
        </p:nvSpPr>
        <p:spPr>
          <a:xfrm>
            <a:off x="6592824" y="2103120"/>
            <a:ext cx="594360" cy="0"/>
          </a:xfrm>
          <a:prstGeom prst="line">
            <a:avLst/>
          </a:prstGeom>
          <a:noFill/>
          <a:ln w="31750">
            <a:solidFill>
              <a:srgbClr val="5F5F5F"/>
            </a:solidFill>
            <a:prstDash val="solid"/>
            <a:tailEnd type="triangle"/>
          </a:ln>
        </p:spPr>
      </p:sp>
      <p:sp>
        <p:nvSpPr>
          <p:cNvPr id="25" name="Text 23"/>
          <p:cNvSpPr/>
          <p:nvPr/>
        </p:nvSpPr>
        <p:spPr>
          <a:xfrm>
            <a:off x="5349240" y="2697480"/>
            <a:ext cx="1481328" cy="365760"/>
          </a:xfrm>
          <a:prstGeom prst="rect">
            <a:avLst/>
          </a:prstGeom>
          <a:noFill/>
          <a:ln/>
        </p:spPr>
        <p:txBody>
          <a:bodyPr wrap="square" rtlCol="0" anchor="ctr"/>
          <a:lstStyle/>
          <a:p>
            <a:pPr algn="ctr" indent="0" marL="0">
              <a:buNone/>
            </a:pPr>
            <a:r>
              <a:rPr lang="en-US" sz="1500" b="1" dirty="0">
                <a:solidFill>
                  <a:srgbClr val="2B0A10"/>
                </a:solidFill>
                <a:latin typeface="Segoe UI" pitchFamily="34" charset="0"/>
                <a:ea typeface="Segoe UI" pitchFamily="34" charset="-122"/>
                <a:cs typeface="Segoe UI" pitchFamily="34" charset="-120"/>
              </a:rPr>
              <a:t>Verify</a:t>
            </a:r>
            <a:endParaRPr lang="en-US" sz="1500" dirty="0"/>
          </a:p>
        </p:txBody>
      </p:sp>
      <p:sp>
        <p:nvSpPr>
          <p:cNvPr id="26" name="Text 24"/>
          <p:cNvSpPr/>
          <p:nvPr/>
        </p:nvSpPr>
        <p:spPr>
          <a:xfrm>
            <a:off x="5349240" y="3063240"/>
            <a:ext cx="1481328" cy="1097280"/>
          </a:xfrm>
          <a:prstGeom prst="rect">
            <a:avLst/>
          </a:prstGeom>
          <a:noFill/>
          <a:ln/>
        </p:spPr>
        <p:txBody>
          <a:bodyPr wrap="square" rtlCol="0" anchor="t"/>
          <a:lstStyle/>
          <a:p>
            <a:pPr algn="ctr" indent="0" marL="0">
              <a:buNone/>
            </a:pPr>
            <a:r>
              <a:rPr lang="en-US" sz="1100" dirty="0">
                <a:solidFill>
                  <a:srgbClr val="5F5F5F"/>
                </a:solidFill>
                <a:latin typeface="Segoe UI" pitchFamily="34" charset="0"/>
                <a:ea typeface="Segoe UI" pitchFamily="34" charset="-122"/>
                <a:cs typeface="Segoe UI" pitchFamily="34" charset="-120"/>
              </a:rPr>
              <a:t>Hospital / centre / coordinator confirms request</a:t>
            </a:r>
            <a:endParaRPr lang="en-US" sz="1100" dirty="0"/>
          </a:p>
        </p:txBody>
      </p:sp>
      <p:sp>
        <p:nvSpPr>
          <p:cNvPr id="27" name="Shape 25"/>
          <p:cNvSpPr/>
          <p:nvPr/>
        </p:nvSpPr>
        <p:spPr>
          <a:xfrm>
            <a:off x="7232904" y="1645920"/>
            <a:ext cx="914400" cy="914400"/>
          </a:xfrm>
          <a:prstGeom prst="ellipse">
            <a:avLst/>
          </a:prstGeom>
          <a:solidFill>
            <a:srgbClr val="5A0F1C"/>
          </a:solidFill>
          <a:ln w="12700">
            <a:solidFill>
              <a:srgbClr val="5A0F1C"/>
            </a:solidFill>
            <a:prstDash val="solid"/>
          </a:ln>
        </p:spPr>
      </p:sp>
      <p:sp>
        <p:nvSpPr>
          <p:cNvPr id="28" name="Text 26"/>
          <p:cNvSpPr/>
          <p:nvPr/>
        </p:nvSpPr>
        <p:spPr>
          <a:xfrm>
            <a:off x="7232904" y="1645920"/>
            <a:ext cx="914400" cy="91440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29" name="Shape 27"/>
          <p:cNvSpPr/>
          <p:nvPr/>
        </p:nvSpPr>
        <p:spPr>
          <a:xfrm>
            <a:off x="8193024" y="2103120"/>
            <a:ext cx="594360" cy="0"/>
          </a:xfrm>
          <a:prstGeom prst="line">
            <a:avLst/>
          </a:prstGeom>
          <a:noFill/>
          <a:ln w="31750">
            <a:solidFill>
              <a:srgbClr val="5F5F5F"/>
            </a:solidFill>
            <a:prstDash val="solid"/>
            <a:tailEnd type="triangle"/>
          </a:ln>
        </p:spPr>
      </p:sp>
      <p:sp>
        <p:nvSpPr>
          <p:cNvPr id="30" name="Text 28"/>
          <p:cNvSpPr/>
          <p:nvPr/>
        </p:nvSpPr>
        <p:spPr>
          <a:xfrm>
            <a:off x="6949440" y="2697480"/>
            <a:ext cx="1481328" cy="365760"/>
          </a:xfrm>
          <a:prstGeom prst="rect">
            <a:avLst/>
          </a:prstGeom>
          <a:noFill/>
          <a:ln/>
        </p:spPr>
        <p:txBody>
          <a:bodyPr wrap="square" rtlCol="0" anchor="ctr"/>
          <a:lstStyle/>
          <a:p>
            <a:pPr algn="ctr" indent="0" marL="0">
              <a:buNone/>
            </a:pPr>
            <a:r>
              <a:rPr lang="en-US" sz="1500" b="1" dirty="0">
                <a:solidFill>
                  <a:srgbClr val="2B0A10"/>
                </a:solidFill>
                <a:latin typeface="Segoe UI" pitchFamily="34" charset="0"/>
                <a:ea typeface="Segoe UI" pitchFamily="34" charset="-122"/>
                <a:cs typeface="Segoe UI" pitchFamily="34" charset="-120"/>
              </a:rPr>
              <a:t>Match</a:t>
            </a:r>
            <a:endParaRPr lang="en-US" sz="1500" dirty="0"/>
          </a:p>
        </p:txBody>
      </p:sp>
      <p:sp>
        <p:nvSpPr>
          <p:cNvPr id="31" name="Text 29"/>
          <p:cNvSpPr/>
          <p:nvPr/>
        </p:nvSpPr>
        <p:spPr>
          <a:xfrm>
            <a:off x="6949440" y="3063240"/>
            <a:ext cx="1481328" cy="1097280"/>
          </a:xfrm>
          <a:prstGeom prst="rect">
            <a:avLst/>
          </a:prstGeom>
          <a:noFill/>
          <a:ln/>
        </p:spPr>
        <p:txBody>
          <a:bodyPr wrap="square" rtlCol="0" anchor="t"/>
          <a:lstStyle/>
          <a:p>
            <a:pPr algn="ctr" indent="0" marL="0">
              <a:buNone/>
            </a:pPr>
            <a:r>
              <a:rPr lang="en-US" sz="1100" dirty="0">
                <a:solidFill>
                  <a:srgbClr val="5F5F5F"/>
                </a:solidFill>
                <a:latin typeface="Segoe UI" pitchFamily="34" charset="0"/>
                <a:ea typeface="Segoe UI" pitchFamily="34" charset="-122"/>
                <a:cs typeface="Segoe UI" pitchFamily="34" charset="-120"/>
              </a:rPr>
              <a:t>Filter + explainable ranking of consenting donors</a:t>
            </a:r>
            <a:endParaRPr lang="en-US" sz="1100" dirty="0"/>
          </a:p>
        </p:txBody>
      </p:sp>
      <p:sp>
        <p:nvSpPr>
          <p:cNvPr id="32" name="Shape 30"/>
          <p:cNvSpPr/>
          <p:nvPr/>
        </p:nvSpPr>
        <p:spPr>
          <a:xfrm>
            <a:off x="8833104" y="1645920"/>
            <a:ext cx="914400" cy="914400"/>
          </a:xfrm>
          <a:prstGeom prst="ellipse">
            <a:avLst/>
          </a:prstGeom>
          <a:solidFill>
            <a:srgbClr val="5A0F1C"/>
          </a:solidFill>
          <a:ln w="12700">
            <a:solidFill>
              <a:srgbClr val="5A0F1C"/>
            </a:solidFill>
            <a:prstDash val="solid"/>
          </a:ln>
        </p:spPr>
      </p:sp>
      <p:sp>
        <p:nvSpPr>
          <p:cNvPr id="33" name="Text 31"/>
          <p:cNvSpPr/>
          <p:nvPr/>
        </p:nvSpPr>
        <p:spPr>
          <a:xfrm>
            <a:off x="8833104" y="1645920"/>
            <a:ext cx="914400" cy="91440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34" name="Shape 32"/>
          <p:cNvSpPr/>
          <p:nvPr/>
        </p:nvSpPr>
        <p:spPr>
          <a:xfrm>
            <a:off x="9793224" y="2103120"/>
            <a:ext cx="594360" cy="0"/>
          </a:xfrm>
          <a:prstGeom prst="line">
            <a:avLst/>
          </a:prstGeom>
          <a:noFill/>
          <a:ln w="31750">
            <a:solidFill>
              <a:srgbClr val="5F5F5F"/>
            </a:solidFill>
            <a:prstDash val="solid"/>
            <a:tailEnd type="triangle"/>
          </a:ln>
        </p:spPr>
      </p:sp>
      <p:sp>
        <p:nvSpPr>
          <p:cNvPr id="35" name="Text 33"/>
          <p:cNvSpPr/>
          <p:nvPr/>
        </p:nvSpPr>
        <p:spPr>
          <a:xfrm>
            <a:off x="8549640" y="2697480"/>
            <a:ext cx="1481328" cy="365760"/>
          </a:xfrm>
          <a:prstGeom prst="rect">
            <a:avLst/>
          </a:prstGeom>
          <a:noFill/>
          <a:ln/>
        </p:spPr>
        <p:txBody>
          <a:bodyPr wrap="square" rtlCol="0" anchor="ctr"/>
          <a:lstStyle/>
          <a:p>
            <a:pPr algn="ctr" indent="0" marL="0">
              <a:buNone/>
            </a:pPr>
            <a:r>
              <a:rPr lang="en-US" sz="1500" b="1" dirty="0">
                <a:solidFill>
                  <a:srgbClr val="2B0A10"/>
                </a:solidFill>
                <a:latin typeface="Segoe UI" pitchFamily="34" charset="0"/>
                <a:ea typeface="Segoe UI" pitchFamily="34" charset="-122"/>
                <a:cs typeface="Segoe UI" pitchFamily="34" charset="-120"/>
              </a:rPr>
              <a:t>WhatsApp waves</a:t>
            </a:r>
            <a:endParaRPr lang="en-US" sz="1500" dirty="0"/>
          </a:p>
        </p:txBody>
      </p:sp>
      <p:sp>
        <p:nvSpPr>
          <p:cNvPr id="36" name="Text 34"/>
          <p:cNvSpPr/>
          <p:nvPr/>
        </p:nvSpPr>
        <p:spPr>
          <a:xfrm>
            <a:off x="8549640" y="3063240"/>
            <a:ext cx="1481328" cy="1097280"/>
          </a:xfrm>
          <a:prstGeom prst="rect">
            <a:avLst/>
          </a:prstGeom>
          <a:noFill/>
          <a:ln/>
        </p:spPr>
        <p:txBody>
          <a:bodyPr wrap="square" rtlCol="0" anchor="t"/>
          <a:lstStyle/>
          <a:p>
            <a:pPr algn="ctr" indent="0" marL="0">
              <a:buNone/>
            </a:pPr>
            <a:r>
              <a:rPr lang="en-US" sz="1100" dirty="0">
                <a:solidFill>
                  <a:srgbClr val="5F5F5F"/>
                </a:solidFill>
                <a:latin typeface="Segoe UI" pitchFamily="34" charset="0"/>
                <a:ea typeface="Segoe UI" pitchFamily="34" charset="-122"/>
                <a:cs typeface="Segoe UI" pitchFamily="34" charset="-120"/>
              </a:rPr>
              <a:t>Donors alerted on WhatsApp: top 5 → next 10 → partners</a:t>
            </a:r>
            <a:endParaRPr lang="en-US" sz="1100" dirty="0"/>
          </a:p>
        </p:txBody>
      </p:sp>
      <p:sp>
        <p:nvSpPr>
          <p:cNvPr id="37" name="Shape 35"/>
          <p:cNvSpPr/>
          <p:nvPr/>
        </p:nvSpPr>
        <p:spPr>
          <a:xfrm>
            <a:off x="10433304" y="1645920"/>
            <a:ext cx="914400" cy="914400"/>
          </a:xfrm>
          <a:prstGeom prst="ellipse">
            <a:avLst/>
          </a:prstGeom>
          <a:solidFill>
            <a:srgbClr val="F4A259"/>
          </a:solidFill>
          <a:ln w="12700">
            <a:solidFill>
              <a:srgbClr val="F4A259"/>
            </a:solidFill>
            <a:prstDash val="solid"/>
          </a:ln>
        </p:spPr>
      </p:sp>
      <p:sp>
        <p:nvSpPr>
          <p:cNvPr id="38" name="Text 36"/>
          <p:cNvSpPr/>
          <p:nvPr/>
        </p:nvSpPr>
        <p:spPr>
          <a:xfrm>
            <a:off x="10433304" y="1645920"/>
            <a:ext cx="914400" cy="91440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39" name="Text 37"/>
          <p:cNvSpPr/>
          <p:nvPr/>
        </p:nvSpPr>
        <p:spPr>
          <a:xfrm>
            <a:off x="10149840" y="2697480"/>
            <a:ext cx="1481328" cy="365760"/>
          </a:xfrm>
          <a:prstGeom prst="rect">
            <a:avLst/>
          </a:prstGeom>
          <a:noFill/>
          <a:ln/>
        </p:spPr>
        <p:txBody>
          <a:bodyPr wrap="square" rtlCol="0" anchor="ctr"/>
          <a:lstStyle/>
          <a:p>
            <a:pPr algn="ctr" indent="0" marL="0">
              <a:buNone/>
            </a:pPr>
            <a:r>
              <a:rPr lang="en-US" sz="1500" b="1" dirty="0">
                <a:solidFill>
                  <a:srgbClr val="2B0A10"/>
                </a:solidFill>
                <a:latin typeface="Segoe UI" pitchFamily="34" charset="0"/>
                <a:ea typeface="Segoe UI" pitchFamily="34" charset="-122"/>
                <a:cs typeface="Segoe UI" pitchFamily="34" charset="-120"/>
              </a:rPr>
              <a:t>Close</a:t>
            </a:r>
            <a:endParaRPr lang="en-US" sz="1500" dirty="0"/>
          </a:p>
        </p:txBody>
      </p:sp>
      <p:sp>
        <p:nvSpPr>
          <p:cNvPr id="40" name="Text 38"/>
          <p:cNvSpPr/>
          <p:nvPr/>
        </p:nvSpPr>
        <p:spPr>
          <a:xfrm>
            <a:off x="10149840" y="3063240"/>
            <a:ext cx="1481328" cy="1097280"/>
          </a:xfrm>
          <a:prstGeom prst="rect">
            <a:avLst/>
          </a:prstGeom>
          <a:noFill/>
          <a:ln/>
        </p:spPr>
        <p:txBody>
          <a:bodyPr wrap="square" rtlCol="0" anchor="t"/>
          <a:lstStyle/>
          <a:p>
            <a:pPr algn="ctr" indent="0" marL="0">
              <a:buNone/>
            </a:pPr>
            <a:r>
              <a:rPr lang="en-US" sz="1100" dirty="0">
                <a:solidFill>
                  <a:srgbClr val="5F5F5F"/>
                </a:solidFill>
                <a:latin typeface="Segoe UI" pitchFamily="34" charset="0"/>
                <a:ea typeface="Segoe UI" pitchFamily="34" charset="-122"/>
                <a:cs typeface="Segoe UI" pitchFamily="34" charset="-120"/>
              </a:rPr>
              <a:t>Centre confirms donation → badge → case FULFILLED</a:t>
            </a:r>
            <a:endParaRPr lang="en-US" sz="1100" dirty="0"/>
          </a:p>
        </p:txBody>
      </p:sp>
      <p:sp>
        <p:nvSpPr>
          <p:cNvPr id="41" name="Shape 39"/>
          <p:cNvSpPr/>
          <p:nvPr/>
        </p:nvSpPr>
        <p:spPr>
          <a:xfrm>
            <a:off x="548640" y="4251960"/>
            <a:ext cx="3584448" cy="1783080"/>
          </a:xfrm>
          <a:prstGeom prst="roundRect">
            <a:avLst>
              <a:gd name="adj" fmla="val 6154"/>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42" name="Shape 40"/>
          <p:cNvSpPr/>
          <p:nvPr/>
        </p:nvSpPr>
        <p:spPr>
          <a:xfrm>
            <a:off x="685800" y="4251960"/>
            <a:ext cx="3310128" cy="64008"/>
          </a:xfrm>
          <a:prstGeom prst="rect">
            <a:avLst/>
          </a:prstGeom>
          <a:solidFill>
            <a:srgbClr val="C8102E"/>
          </a:solidFill>
          <a:ln w="12700">
            <a:solidFill>
              <a:srgbClr val="C8102E"/>
            </a:solidFill>
            <a:prstDash val="solid"/>
          </a:ln>
        </p:spPr>
      </p:sp>
      <p:sp>
        <p:nvSpPr>
          <p:cNvPr id="43" name="Text 41"/>
          <p:cNvSpPr/>
          <p:nvPr/>
        </p:nvSpPr>
        <p:spPr>
          <a:xfrm>
            <a:off x="731520" y="4389120"/>
            <a:ext cx="3291840" cy="365760"/>
          </a:xfrm>
          <a:prstGeom prst="rect">
            <a:avLst/>
          </a:prstGeom>
          <a:noFill/>
          <a:ln/>
        </p:spPr>
        <p:txBody>
          <a:bodyPr wrap="square" rtlCol="0" anchor="ctr"/>
          <a:lstStyle/>
          <a:p>
            <a:pPr indent="0" marL="0">
              <a:buNone/>
            </a:pPr>
            <a:r>
              <a:rPr lang="en-US" sz="1400" b="1" dirty="0">
                <a:solidFill>
                  <a:srgbClr val="C8102E"/>
                </a:solidFill>
                <a:latin typeface="Segoe UI" pitchFamily="34" charset="0"/>
                <a:ea typeface="Segoe UI" pitchFamily="34" charset="-122"/>
                <a:cs typeface="Segoe UI" pitchFamily="34" charset="-120"/>
              </a:rPr>
              <a:t>🌐 Multilingual by design</a:t>
            </a:r>
            <a:endParaRPr lang="en-US" sz="1400" dirty="0"/>
          </a:p>
        </p:txBody>
      </p:sp>
      <p:sp>
        <p:nvSpPr>
          <p:cNvPr id="44" name="Text 42"/>
          <p:cNvSpPr/>
          <p:nvPr/>
        </p:nvSpPr>
        <p:spPr>
          <a:xfrm>
            <a:off x="731520" y="4754880"/>
            <a:ext cx="3291840" cy="1188720"/>
          </a:xfrm>
          <a:prstGeom prst="rect">
            <a:avLst/>
          </a:prstGeom>
          <a:noFill/>
          <a:ln/>
        </p:spPr>
        <p:txBody>
          <a:bodyPr wrap="square" rtlCol="0" anchor="t"/>
          <a:lstStyle/>
          <a:p>
            <a:pPr indent="0" marL="0">
              <a:buNone/>
            </a:pPr>
            <a:r>
              <a:rPr lang="en-US" sz="1100" dirty="0">
                <a:solidFill>
                  <a:srgbClr val="5F5F5F"/>
                </a:solidFill>
                <a:latin typeface="Segoe UI" pitchFamily="34" charset="0"/>
                <a:ea typeface="Segoe UI" pitchFamily="34" charset="-122"/>
                <a:cs typeface="Segoe UI" pitchFamily="34" charset="-120"/>
              </a:rPr>
              <a:t>Hindi, English, Hinglish + regional languages, typed or by voice. AI turns "B+ve" or "बी पॉजिटिव" into B+, asks follow-ups in the user's language, and shows a confirm card before anything opens.</a:t>
            </a:r>
            <a:endParaRPr lang="en-US" sz="1100" dirty="0"/>
          </a:p>
        </p:txBody>
      </p:sp>
      <p:sp>
        <p:nvSpPr>
          <p:cNvPr id="45" name="Shape 43"/>
          <p:cNvSpPr/>
          <p:nvPr/>
        </p:nvSpPr>
        <p:spPr>
          <a:xfrm>
            <a:off x="4279392" y="4251960"/>
            <a:ext cx="3584448" cy="1783080"/>
          </a:xfrm>
          <a:prstGeom prst="roundRect">
            <a:avLst>
              <a:gd name="adj" fmla="val 6154"/>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46" name="Shape 44"/>
          <p:cNvSpPr/>
          <p:nvPr/>
        </p:nvSpPr>
        <p:spPr>
          <a:xfrm>
            <a:off x="4416552" y="4251960"/>
            <a:ext cx="3310128" cy="64008"/>
          </a:xfrm>
          <a:prstGeom prst="rect">
            <a:avLst/>
          </a:prstGeom>
          <a:solidFill>
            <a:srgbClr val="1F8A70"/>
          </a:solidFill>
          <a:ln w="12700">
            <a:solidFill>
              <a:srgbClr val="1F8A70"/>
            </a:solidFill>
            <a:prstDash val="solid"/>
          </a:ln>
        </p:spPr>
      </p:sp>
      <p:sp>
        <p:nvSpPr>
          <p:cNvPr id="47" name="Text 45"/>
          <p:cNvSpPr/>
          <p:nvPr/>
        </p:nvSpPr>
        <p:spPr>
          <a:xfrm>
            <a:off x="4462272" y="4389120"/>
            <a:ext cx="3291840" cy="365760"/>
          </a:xfrm>
          <a:prstGeom prst="rect">
            <a:avLst/>
          </a:prstGeom>
          <a:noFill/>
          <a:ln/>
        </p:spPr>
        <p:txBody>
          <a:bodyPr wrap="square" rtlCol="0" anchor="ctr"/>
          <a:lstStyle/>
          <a:p>
            <a:pPr indent="0" marL="0">
              <a:buNone/>
            </a:pPr>
            <a:r>
              <a:rPr lang="en-US" sz="1400" b="1" dirty="0">
                <a:solidFill>
                  <a:srgbClr val="1F8A70"/>
                </a:solidFill>
                <a:latin typeface="Segoe UI" pitchFamily="34" charset="0"/>
                <a:ea typeface="Segoe UI" pitchFamily="34" charset="-122"/>
                <a:cs typeface="Segoe UI" pitchFamily="34" charset="-120"/>
              </a:rPr>
              <a:t>⚡ The family is never blocked</a:t>
            </a:r>
            <a:endParaRPr lang="en-US" sz="1400" dirty="0"/>
          </a:p>
        </p:txBody>
      </p:sp>
      <p:sp>
        <p:nvSpPr>
          <p:cNvPr id="48" name="Text 46"/>
          <p:cNvSpPr/>
          <p:nvPr/>
        </p:nvSpPr>
        <p:spPr>
          <a:xfrm>
            <a:off x="4462272" y="4754880"/>
            <a:ext cx="3291840" cy="1188720"/>
          </a:xfrm>
          <a:prstGeom prst="rect">
            <a:avLst/>
          </a:prstGeom>
          <a:noFill/>
          <a:ln/>
        </p:spPr>
        <p:txBody>
          <a:bodyPr wrap="square" rtlCol="0" anchor="t"/>
          <a:lstStyle/>
          <a:p>
            <a:pPr indent="0" marL="0">
              <a:buNone/>
            </a:pPr>
            <a:r>
              <a:rPr lang="en-US" sz="1100" dirty="0">
                <a:solidFill>
                  <a:srgbClr val="5F5F5F"/>
                </a:solidFill>
                <a:latin typeface="Segoe UI" pitchFamily="34" charset="0"/>
                <a:ea typeface="Segoe UI" pitchFamily="34" charset="-122"/>
                <a:cs typeface="Segoe UI" pitchFamily="34" charset="-120"/>
              </a:rPr>
              <a:t>Centre discovery is instant and needs no verification. If a centre confirms stock, the case goes straight to STOCK_CONFIRMED and no donors are disturbed.</a:t>
            </a:r>
            <a:endParaRPr lang="en-US" sz="1100" dirty="0"/>
          </a:p>
        </p:txBody>
      </p:sp>
      <p:sp>
        <p:nvSpPr>
          <p:cNvPr id="49" name="Shape 47"/>
          <p:cNvSpPr/>
          <p:nvPr/>
        </p:nvSpPr>
        <p:spPr>
          <a:xfrm>
            <a:off x="8010144" y="4251960"/>
            <a:ext cx="3584448" cy="1783080"/>
          </a:xfrm>
          <a:prstGeom prst="roundRect">
            <a:avLst>
              <a:gd name="adj" fmla="val 6154"/>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50" name="Shape 48"/>
          <p:cNvSpPr/>
          <p:nvPr/>
        </p:nvSpPr>
        <p:spPr>
          <a:xfrm>
            <a:off x="8147304" y="4251960"/>
            <a:ext cx="3310128" cy="64008"/>
          </a:xfrm>
          <a:prstGeom prst="rect">
            <a:avLst/>
          </a:prstGeom>
          <a:solidFill>
            <a:srgbClr val="5A0F1C"/>
          </a:solidFill>
          <a:ln w="12700">
            <a:solidFill>
              <a:srgbClr val="5A0F1C"/>
            </a:solidFill>
            <a:prstDash val="solid"/>
          </a:ln>
        </p:spPr>
      </p:sp>
      <p:sp>
        <p:nvSpPr>
          <p:cNvPr id="51" name="Text 49"/>
          <p:cNvSpPr/>
          <p:nvPr/>
        </p:nvSpPr>
        <p:spPr>
          <a:xfrm>
            <a:off x="8193024" y="4389120"/>
            <a:ext cx="3291840" cy="365760"/>
          </a:xfrm>
          <a:prstGeom prst="rect">
            <a:avLst/>
          </a:prstGeom>
          <a:noFill/>
          <a:ln/>
        </p:spPr>
        <p:txBody>
          <a:bodyPr wrap="square" rtlCol="0" anchor="ctr"/>
          <a:lstStyle/>
          <a:p>
            <a:pPr indent="0" marL="0">
              <a:buNone/>
            </a:pPr>
            <a:r>
              <a:rPr lang="en-US" sz="1400" b="1" dirty="0">
                <a:solidFill>
                  <a:srgbClr val="5A0F1C"/>
                </a:solidFill>
                <a:latin typeface="Segoe UI" pitchFamily="34" charset="0"/>
                <a:ea typeface="Segoe UI" pitchFamily="34" charset="-122"/>
                <a:cs typeface="Segoe UI" pitchFamily="34" charset="-120"/>
              </a:rPr>
              <a:t>🔁 Real-world fallbacks</a:t>
            </a:r>
            <a:endParaRPr lang="en-US" sz="1400" dirty="0"/>
          </a:p>
        </p:txBody>
      </p:sp>
      <p:sp>
        <p:nvSpPr>
          <p:cNvPr id="52" name="Text 50"/>
          <p:cNvSpPr/>
          <p:nvPr/>
        </p:nvSpPr>
        <p:spPr>
          <a:xfrm>
            <a:off x="8193024" y="4754880"/>
            <a:ext cx="3291840" cy="1188720"/>
          </a:xfrm>
          <a:prstGeom prst="rect">
            <a:avLst/>
          </a:prstGeom>
          <a:noFill/>
          <a:ln/>
        </p:spPr>
        <p:txBody>
          <a:bodyPr wrap="square" rtlCol="0" anchor="t"/>
          <a:lstStyle/>
          <a:p>
            <a:pPr indent="0" marL="0">
              <a:buNone/>
            </a:pPr>
            <a:r>
              <a:rPr lang="en-US" sz="1100" dirty="0">
                <a:solidFill>
                  <a:srgbClr val="5F5F5F"/>
                </a:solidFill>
                <a:latin typeface="Segoe UI" pitchFamily="34" charset="0"/>
                <a:ea typeface="Segoe UI" pitchFamily="34" charset="-122"/>
                <a:cs typeface="Segoe UI" pitchFamily="34" charset="-120"/>
              </a:rPr>
              <a:t>Donor drops out, is deferred at screening, or more units are needed → back to outreach automatically. Staff can reopen closed cases.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8F5"/>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102E"/>
          </a:solidFill>
          <a:ln w="12700">
            <a:solidFill>
              <a:srgbClr val="C8102E"/>
            </a:solidFill>
            <a:prstDash val="solid"/>
          </a:ln>
        </p:spPr>
      </p:sp>
      <p:sp>
        <p:nvSpPr>
          <p:cNvPr id="3" name="Text 1"/>
          <p:cNvSpPr/>
          <p:nvPr/>
        </p:nvSpPr>
        <p:spPr>
          <a:xfrm>
            <a:off x="411480" y="6446520"/>
            <a:ext cx="2743200" cy="274320"/>
          </a:xfrm>
          <a:prstGeom prst="rect">
            <a:avLst/>
          </a:prstGeom>
          <a:noFill/>
          <a:ln/>
        </p:spPr>
        <p:txBody>
          <a:bodyPr wrap="square" rtlCol="0" anchor="ctr"/>
          <a:lstStyle/>
          <a:p>
            <a:pPr indent="0" marL="0">
              <a:buNone/>
            </a:pPr>
            <a:r>
              <a:rPr lang="en-US" sz="1000" b="1" dirty="0">
                <a:solidFill>
                  <a:srgbClr val="C8102E"/>
                </a:solidFill>
                <a:latin typeface="Segoe UI" pitchFamily="34" charset="0"/>
                <a:ea typeface="Segoe UI" pitchFamily="34" charset="-122"/>
                <a:cs typeface="Segoe UI" pitchFamily="34" charset="-120"/>
              </a:rPr>
              <a:t>RaktDoot</a:t>
            </a:r>
            <a:endParaRPr lang="en-US" sz="1000" dirty="0"/>
          </a:p>
        </p:txBody>
      </p:sp>
      <p:sp>
        <p:nvSpPr>
          <p:cNvPr id="4" name="Text 2"/>
          <p:cNvSpPr/>
          <p:nvPr/>
        </p:nvSpPr>
        <p:spPr>
          <a:xfrm>
            <a:off x="11277295" y="6446520"/>
            <a:ext cx="548640" cy="274320"/>
          </a:xfrm>
          <a:prstGeom prst="rect">
            <a:avLst/>
          </a:prstGeom>
          <a:noFill/>
          <a:ln/>
        </p:spPr>
        <p:txBody>
          <a:bodyPr wrap="square" rtlCol="0" anchor="ctr"/>
          <a:lstStyle/>
          <a:p>
            <a:pPr algn="r" indent="0" marL="0">
              <a:buNone/>
            </a:pPr>
            <a:r>
              <a:rPr lang="en-US" sz="1000" dirty="0">
                <a:solidFill>
                  <a:srgbClr val="5F5F5F"/>
                </a:solidFill>
                <a:latin typeface="Segoe UI" pitchFamily="34" charset="0"/>
                <a:ea typeface="Segoe UI" pitchFamily="34" charset="-122"/>
                <a:cs typeface="Segoe UI" pitchFamily="34" charset="-120"/>
              </a:rPr>
              <a:t>10</a:t>
            </a:r>
            <a:endParaRPr lang="en-US" sz="1000" dirty="0"/>
          </a:p>
        </p:txBody>
      </p:sp>
      <p:sp>
        <p:nvSpPr>
          <p:cNvPr id="5" name="Text 3"/>
          <p:cNvSpPr/>
          <p:nvPr/>
        </p:nvSpPr>
        <p:spPr>
          <a:xfrm>
            <a:off x="548640" y="320040"/>
            <a:ext cx="9144000" cy="320040"/>
          </a:xfrm>
          <a:prstGeom prst="rect">
            <a:avLst/>
          </a:prstGeom>
          <a:noFill/>
          <a:ln/>
        </p:spPr>
        <p:txBody>
          <a:bodyPr wrap="square" rtlCol="0" anchor="ctr"/>
          <a:lstStyle/>
          <a:p>
            <a:pPr indent="0" marL="0">
              <a:buNone/>
            </a:pPr>
            <a:r>
              <a:rPr lang="en-US" sz="1200" b="1" spc="300" kern="0" dirty="0">
                <a:solidFill>
                  <a:srgbClr val="C8102E"/>
                </a:solidFill>
                <a:latin typeface="Segoe UI" pitchFamily="34" charset="0"/>
                <a:ea typeface="Segoe UI" pitchFamily="34" charset="-122"/>
                <a:cs typeface="Segoe UI" pitchFamily="34" charset="-120"/>
              </a:rPr>
              <a:t>KEY FEATURE</a:t>
            </a:r>
            <a:endParaRPr lang="en-US" sz="1200" dirty="0"/>
          </a:p>
        </p:txBody>
      </p:sp>
      <p:sp>
        <p:nvSpPr>
          <p:cNvPr id="6" name="Text 4"/>
          <p:cNvSpPr/>
          <p:nvPr/>
        </p:nvSpPr>
        <p:spPr>
          <a:xfrm>
            <a:off x="548640" y="640080"/>
            <a:ext cx="11064240" cy="777240"/>
          </a:xfrm>
          <a:prstGeom prst="rect">
            <a:avLst/>
          </a:prstGeom>
          <a:noFill/>
          <a:ln/>
        </p:spPr>
        <p:txBody>
          <a:bodyPr wrap="square" rtlCol="0" anchor="ctr"/>
          <a:lstStyle/>
          <a:p>
            <a:pPr indent="0" marL="0">
              <a:buNone/>
            </a:pPr>
            <a:r>
              <a:rPr lang="en-US" sz="3000" b="1" dirty="0">
                <a:solidFill>
                  <a:srgbClr val="2B0A10"/>
                </a:solidFill>
                <a:latin typeface="Segoe UI" pitchFamily="34" charset="0"/>
                <a:ea typeface="Segoe UI" pitchFamily="34" charset="-122"/>
                <a:cs typeface="Segoe UI" pitchFamily="34" charset="-120"/>
              </a:rPr>
              <a:t>Explainable donor matching + wave outreach</a:t>
            </a:r>
            <a:endParaRPr lang="en-US" sz="3000" dirty="0"/>
          </a:p>
        </p:txBody>
      </p:sp>
      <p:sp>
        <p:nvSpPr>
          <p:cNvPr id="7" name="Shape 5"/>
          <p:cNvSpPr/>
          <p:nvPr/>
        </p:nvSpPr>
        <p:spPr>
          <a:xfrm>
            <a:off x="548640" y="1554480"/>
            <a:ext cx="3566160" cy="4389120"/>
          </a:xfrm>
          <a:prstGeom prst="roundRect">
            <a:avLst>
              <a:gd name="adj" fmla="val 3077"/>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685800" y="1554480"/>
            <a:ext cx="3291840" cy="64008"/>
          </a:xfrm>
          <a:prstGeom prst="rect">
            <a:avLst/>
          </a:prstGeom>
          <a:solidFill>
            <a:srgbClr val="5A0F1C"/>
          </a:solidFill>
          <a:ln w="12700">
            <a:solidFill>
              <a:srgbClr val="5A0F1C"/>
            </a:solidFill>
            <a:prstDash val="solid"/>
          </a:ln>
        </p:spPr>
      </p:sp>
      <p:sp>
        <p:nvSpPr>
          <p:cNvPr id="9" name="Text 7"/>
          <p:cNvSpPr/>
          <p:nvPr/>
        </p:nvSpPr>
        <p:spPr>
          <a:xfrm>
            <a:off x="777240" y="1691640"/>
            <a:ext cx="3200400" cy="365760"/>
          </a:xfrm>
          <a:prstGeom prst="rect">
            <a:avLst/>
          </a:prstGeom>
          <a:noFill/>
          <a:ln/>
        </p:spPr>
        <p:txBody>
          <a:bodyPr wrap="square" rtlCol="0" anchor="ctr"/>
          <a:lstStyle/>
          <a:p>
            <a:pPr indent="0" marL="0">
              <a:buNone/>
            </a:pPr>
            <a:r>
              <a:rPr lang="en-US" sz="1600" b="1" dirty="0">
                <a:solidFill>
                  <a:srgbClr val="5A0F1C"/>
                </a:solidFill>
                <a:latin typeface="Segoe UI" pitchFamily="34" charset="0"/>
                <a:ea typeface="Segoe UI" pitchFamily="34" charset="-122"/>
                <a:cs typeface="Segoe UI" pitchFamily="34" charset="-120"/>
              </a:rPr>
              <a:t>1 · Hard filters</a:t>
            </a:r>
            <a:endParaRPr lang="en-US" sz="1600" dirty="0"/>
          </a:p>
        </p:txBody>
      </p:sp>
      <p:sp>
        <p:nvSpPr>
          <p:cNvPr id="10" name="Text 8"/>
          <p:cNvSpPr/>
          <p:nvPr/>
        </p:nvSpPr>
        <p:spPr>
          <a:xfrm>
            <a:off x="777240" y="2148840"/>
            <a:ext cx="3200400" cy="3657600"/>
          </a:xfrm>
          <a:prstGeom prst="rect">
            <a:avLst/>
          </a:prstGeom>
          <a:noFill/>
          <a:ln/>
        </p:spPr>
        <p:txBody>
          <a:bodyPr wrap="square" rtlCol="0" anchor="t"/>
          <a:lstStyle/>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Consented to urgent alerts</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Marked available</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Location set (~1 km precision)</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Within their travel radius</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Past provisional interval (90 days M / 120 days F)</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Not committed to another case</a:t>
            </a:r>
            <a:endParaRPr lang="en-US" sz="1300" dirty="0"/>
          </a:p>
        </p:txBody>
      </p:sp>
      <p:sp>
        <p:nvSpPr>
          <p:cNvPr id="11" name="Shape 9"/>
          <p:cNvSpPr/>
          <p:nvPr/>
        </p:nvSpPr>
        <p:spPr>
          <a:xfrm>
            <a:off x="4297680" y="1554480"/>
            <a:ext cx="3566160" cy="4389120"/>
          </a:xfrm>
          <a:prstGeom prst="roundRect">
            <a:avLst>
              <a:gd name="adj" fmla="val 3077"/>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4434840" y="1554480"/>
            <a:ext cx="3291840" cy="64008"/>
          </a:xfrm>
          <a:prstGeom prst="rect">
            <a:avLst/>
          </a:prstGeom>
          <a:solidFill>
            <a:srgbClr val="C8102E"/>
          </a:solidFill>
          <a:ln w="12700">
            <a:solidFill>
              <a:srgbClr val="C8102E"/>
            </a:solidFill>
            <a:prstDash val="solid"/>
          </a:ln>
        </p:spPr>
      </p:sp>
      <p:sp>
        <p:nvSpPr>
          <p:cNvPr id="13" name="Text 11"/>
          <p:cNvSpPr/>
          <p:nvPr/>
        </p:nvSpPr>
        <p:spPr>
          <a:xfrm>
            <a:off x="4526280" y="1691640"/>
            <a:ext cx="3200400" cy="365760"/>
          </a:xfrm>
          <a:prstGeom prst="rect">
            <a:avLst/>
          </a:prstGeom>
          <a:noFill/>
          <a:ln/>
        </p:spPr>
        <p:txBody>
          <a:bodyPr wrap="square" rtlCol="0" anchor="ctr"/>
          <a:lstStyle/>
          <a:p>
            <a:pPr indent="0" marL="0">
              <a:buNone/>
            </a:pPr>
            <a:r>
              <a:rPr lang="en-US" sz="1600" b="1" dirty="0">
                <a:solidFill>
                  <a:srgbClr val="C8102E"/>
                </a:solidFill>
                <a:latin typeface="Segoe UI" pitchFamily="34" charset="0"/>
                <a:ea typeface="Segoe UI" pitchFamily="34" charset="-122"/>
                <a:cs typeface="Segoe UI" pitchFamily="34" charset="-120"/>
              </a:rPr>
              <a:t>2 · Explainable ranking</a:t>
            </a:r>
            <a:endParaRPr lang="en-US" sz="1600" dirty="0"/>
          </a:p>
        </p:txBody>
      </p:sp>
      <p:sp>
        <p:nvSpPr>
          <p:cNvPr id="14" name="Text 12"/>
          <p:cNvSpPr/>
          <p:nvPr/>
        </p:nvSpPr>
        <p:spPr>
          <a:xfrm>
            <a:off x="4526280" y="2240280"/>
            <a:ext cx="3200400" cy="320040"/>
          </a:xfrm>
          <a:prstGeom prst="rect">
            <a:avLst/>
          </a:prstGeom>
          <a:noFill/>
          <a:ln/>
        </p:spPr>
        <p:txBody>
          <a:bodyPr wrap="square" rtlCol="0" anchor="ctr"/>
          <a:lstStyle/>
          <a:p>
            <a:pPr indent="0" marL="0">
              <a:buNone/>
            </a:pPr>
            <a:r>
              <a:rPr lang="en-US" sz="1200" dirty="0">
                <a:solidFill>
                  <a:srgbClr val="222222"/>
                </a:solidFill>
                <a:latin typeface="Segoe UI" pitchFamily="34" charset="0"/>
                <a:ea typeface="Segoe UI" pitchFamily="34" charset="-122"/>
                <a:cs typeface="Segoe UI" pitchFamily="34" charset="-120"/>
              </a:rPr>
              <a:t>Availability freshness  ·  35%</a:t>
            </a:r>
            <a:endParaRPr lang="en-US" sz="1200" dirty="0"/>
          </a:p>
        </p:txBody>
      </p:sp>
      <p:sp>
        <p:nvSpPr>
          <p:cNvPr id="15" name="Shape 13"/>
          <p:cNvSpPr/>
          <p:nvPr/>
        </p:nvSpPr>
        <p:spPr>
          <a:xfrm>
            <a:off x="4526280" y="2587752"/>
            <a:ext cx="3108960" cy="201168"/>
          </a:xfrm>
          <a:prstGeom prst="rect">
            <a:avLst/>
          </a:prstGeom>
          <a:solidFill>
            <a:srgbClr val="E9E9E9"/>
          </a:solidFill>
          <a:ln w="12700">
            <a:solidFill>
              <a:srgbClr val="E9E9E9"/>
            </a:solidFill>
            <a:prstDash val="solid"/>
          </a:ln>
        </p:spPr>
      </p:sp>
      <p:sp>
        <p:nvSpPr>
          <p:cNvPr id="16" name="Shape 14"/>
          <p:cNvSpPr/>
          <p:nvPr/>
        </p:nvSpPr>
        <p:spPr>
          <a:xfrm>
            <a:off x="4526280" y="2587752"/>
            <a:ext cx="3108960" cy="201168"/>
          </a:xfrm>
          <a:prstGeom prst="rect">
            <a:avLst/>
          </a:prstGeom>
          <a:solidFill>
            <a:srgbClr val="C8102E"/>
          </a:solidFill>
          <a:ln w="12700">
            <a:solidFill>
              <a:srgbClr val="C8102E"/>
            </a:solidFill>
            <a:prstDash val="solid"/>
          </a:ln>
        </p:spPr>
      </p:sp>
      <p:sp>
        <p:nvSpPr>
          <p:cNvPr id="17" name="Text 15"/>
          <p:cNvSpPr/>
          <p:nvPr/>
        </p:nvSpPr>
        <p:spPr>
          <a:xfrm>
            <a:off x="4526280" y="3017520"/>
            <a:ext cx="3200400" cy="320040"/>
          </a:xfrm>
          <a:prstGeom prst="rect">
            <a:avLst/>
          </a:prstGeom>
          <a:noFill/>
          <a:ln/>
        </p:spPr>
        <p:txBody>
          <a:bodyPr wrap="square" rtlCol="0" anchor="ctr"/>
          <a:lstStyle/>
          <a:p>
            <a:pPr indent="0" marL="0">
              <a:buNone/>
            </a:pPr>
            <a:r>
              <a:rPr lang="en-US" sz="1200" dirty="0">
                <a:solidFill>
                  <a:srgbClr val="222222"/>
                </a:solidFill>
                <a:latin typeface="Segoe UI" pitchFamily="34" charset="0"/>
                <a:ea typeface="Segoe UI" pitchFamily="34" charset="-122"/>
                <a:cs typeface="Segoe UI" pitchFamily="34" charset="-120"/>
              </a:rPr>
              <a:t>Distance  ·  30%</a:t>
            </a:r>
            <a:endParaRPr lang="en-US" sz="1200" dirty="0"/>
          </a:p>
        </p:txBody>
      </p:sp>
      <p:sp>
        <p:nvSpPr>
          <p:cNvPr id="18" name="Shape 16"/>
          <p:cNvSpPr/>
          <p:nvPr/>
        </p:nvSpPr>
        <p:spPr>
          <a:xfrm>
            <a:off x="4526280" y="3364992"/>
            <a:ext cx="3108960" cy="201168"/>
          </a:xfrm>
          <a:prstGeom prst="rect">
            <a:avLst/>
          </a:prstGeom>
          <a:solidFill>
            <a:srgbClr val="E9E9E9"/>
          </a:solidFill>
          <a:ln w="12700">
            <a:solidFill>
              <a:srgbClr val="E9E9E9"/>
            </a:solidFill>
            <a:prstDash val="solid"/>
          </a:ln>
        </p:spPr>
      </p:sp>
      <p:sp>
        <p:nvSpPr>
          <p:cNvPr id="19" name="Shape 17"/>
          <p:cNvSpPr/>
          <p:nvPr/>
        </p:nvSpPr>
        <p:spPr>
          <a:xfrm>
            <a:off x="4526280" y="3364992"/>
            <a:ext cx="2664823" cy="201168"/>
          </a:xfrm>
          <a:prstGeom prst="rect">
            <a:avLst/>
          </a:prstGeom>
          <a:solidFill>
            <a:srgbClr val="C8102E"/>
          </a:solidFill>
          <a:ln w="12700">
            <a:solidFill>
              <a:srgbClr val="C8102E"/>
            </a:solidFill>
            <a:prstDash val="solid"/>
          </a:ln>
        </p:spPr>
      </p:sp>
      <p:sp>
        <p:nvSpPr>
          <p:cNvPr id="20" name="Text 18"/>
          <p:cNvSpPr/>
          <p:nvPr/>
        </p:nvSpPr>
        <p:spPr>
          <a:xfrm>
            <a:off x="4526280" y="3794760"/>
            <a:ext cx="3200400" cy="320040"/>
          </a:xfrm>
          <a:prstGeom prst="rect">
            <a:avLst/>
          </a:prstGeom>
          <a:noFill/>
          <a:ln/>
        </p:spPr>
        <p:txBody>
          <a:bodyPr wrap="square" rtlCol="0" anchor="ctr"/>
          <a:lstStyle/>
          <a:p>
            <a:pPr indent="0" marL="0">
              <a:buNone/>
            </a:pPr>
            <a:r>
              <a:rPr lang="en-US" sz="1200" dirty="0">
                <a:solidFill>
                  <a:srgbClr val="222222"/>
                </a:solidFill>
                <a:latin typeface="Segoe UI" pitchFamily="34" charset="0"/>
                <a:ea typeface="Segoe UI" pitchFamily="34" charset="-122"/>
                <a:cs typeface="Segoe UI" pitchFamily="34" charset="-120"/>
              </a:rPr>
              <a:t>Recent alert load  ·  20%</a:t>
            </a:r>
            <a:endParaRPr lang="en-US" sz="1200" dirty="0"/>
          </a:p>
        </p:txBody>
      </p:sp>
      <p:sp>
        <p:nvSpPr>
          <p:cNvPr id="21" name="Shape 19"/>
          <p:cNvSpPr/>
          <p:nvPr/>
        </p:nvSpPr>
        <p:spPr>
          <a:xfrm>
            <a:off x="4526280" y="4142232"/>
            <a:ext cx="3108960" cy="201168"/>
          </a:xfrm>
          <a:prstGeom prst="rect">
            <a:avLst/>
          </a:prstGeom>
          <a:solidFill>
            <a:srgbClr val="E9E9E9"/>
          </a:solidFill>
          <a:ln w="12700">
            <a:solidFill>
              <a:srgbClr val="E9E9E9"/>
            </a:solidFill>
            <a:prstDash val="solid"/>
          </a:ln>
        </p:spPr>
      </p:sp>
      <p:sp>
        <p:nvSpPr>
          <p:cNvPr id="22" name="Shape 20"/>
          <p:cNvSpPr/>
          <p:nvPr/>
        </p:nvSpPr>
        <p:spPr>
          <a:xfrm>
            <a:off x="4526280" y="4142232"/>
            <a:ext cx="1776549" cy="201168"/>
          </a:xfrm>
          <a:prstGeom prst="rect">
            <a:avLst/>
          </a:prstGeom>
          <a:solidFill>
            <a:srgbClr val="C8102E"/>
          </a:solidFill>
          <a:ln w="12700">
            <a:solidFill>
              <a:srgbClr val="C8102E"/>
            </a:solidFill>
            <a:prstDash val="solid"/>
          </a:ln>
        </p:spPr>
      </p:sp>
      <p:sp>
        <p:nvSpPr>
          <p:cNvPr id="23" name="Text 21"/>
          <p:cNvSpPr/>
          <p:nvPr/>
        </p:nvSpPr>
        <p:spPr>
          <a:xfrm>
            <a:off x="4526280" y="4572000"/>
            <a:ext cx="3200400" cy="320040"/>
          </a:xfrm>
          <a:prstGeom prst="rect">
            <a:avLst/>
          </a:prstGeom>
          <a:noFill/>
          <a:ln/>
        </p:spPr>
        <p:txBody>
          <a:bodyPr wrap="square" rtlCol="0" anchor="ctr"/>
          <a:lstStyle/>
          <a:p>
            <a:pPr indent="0" marL="0">
              <a:buNone/>
            </a:pPr>
            <a:r>
              <a:rPr lang="en-US" sz="1200" dirty="0">
                <a:solidFill>
                  <a:srgbClr val="222222"/>
                </a:solidFill>
                <a:latin typeface="Segoe UI" pitchFamily="34" charset="0"/>
                <a:ea typeface="Segoe UI" pitchFamily="34" charset="-122"/>
                <a:cs typeface="Segoe UI" pitchFamily="34" charset="-120"/>
              </a:rPr>
              <a:t>Stated arrival time  ·  15%</a:t>
            </a:r>
            <a:endParaRPr lang="en-US" sz="1200" dirty="0"/>
          </a:p>
        </p:txBody>
      </p:sp>
      <p:sp>
        <p:nvSpPr>
          <p:cNvPr id="24" name="Shape 22"/>
          <p:cNvSpPr/>
          <p:nvPr/>
        </p:nvSpPr>
        <p:spPr>
          <a:xfrm>
            <a:off x="4526280" y="4919472"/>
            <a:ext cx="3108960" cy="201168"/>
          </a:xfrm>
          <a:prstGeom prst="rect">
            <a:avLst/>
          </a:prstGeom>
          <a:solidFill>
            <a:srgbClr val="E9E9E9"/>
          </a:solidFill>
          <a:ln w="12700">
            <a:solidFill>
              <a:srgbClr val="E9E9E9"/>
            </a:solidFill>
            <a:prstDash val="solid"/>
          </a:ln>
        </p:spPr>
      </p:sp>
      <p:sp>
        <p:nvSpPr>
          <p:cNvPr id="25" name="Shape 23"/>
          <p:cNvSpPr/>
          <p:nvPr/>
        </p:nvSpPr>
        <p:spPr>
          <a:xfrm>
            <a:off x="4526280" y="4919472"/>
            <a:ext cx="1332411" cy="201168"/>
          </a:xfrm>
          <a:prstGeom prst="rect">
            <a:avLst/>
          </a:prstGeom>
          <a:solidFill>
            <a:srgbClr val="C8102E"/>
          </a:solidFill>
          <a:ln w="12700">
            <a:solidFill>
              <a:srgbClr val="C8102E"/>
            </a:solidFill>
            <a:prstDash val="solid"/>
          </a:ln>
        </p:spPr>
      </p:sp>
      <p:sp>
        <p:nvSpPr>
          <p:cNvPr id="26" name="Text 24"/>
          <p:cNvSpPr/>
          <p:nvPr/>
        </p:nvSpPr>
        <p:spPr>
          <a:xfrm>
            <a:off x="4526280" y="5349240"/>
            <a:ext cx="3200400" cy="457200"/>
          </a:xfrm>
          <a:prstGeom prst="rect">
            <a:avLst/>
          </a:prstGeom>
          <a:noFill/>
          <a:ln/>
        </p:spPr>
        <p:txBody>
          <a:bodyPr wrap="square" rtlCol="0" anchor="ctr"/>
          <a:lstStyle/>
          <a:p>
            <a:pPr indent="0" marL="0">
              <a:buNone/>
            </a:pPr>
            <a:r>
              <a:rPr lang="en-US" sz="1100" i="1" dirty="0">
                <a:solidFill>
                  <a:srgbClr val="5F5F5F"/>
                </a:solidFill>
                <a:latin typeface="Segoe UI" pitchFamily="34" charset="0"/>
                <a:ea typeface="Segoe UI" pitchFamily="34" charset="-122"/>
                <a:cs typeface="Segoe UI" pitchFamily="34" charset="-120"/>
              </a:rPr>
              <a:t>Every score comes with reasons shown to the coordinator.</a:t>
            </a:r>
            <a:endParaRPr lang="en-US" sz="1100" dirty="0"/>
          </a:p>
        </p:txBody>
      </p:sp>
      <p:sp>
        <p:nvSpPr>
          <p:cNvPr id="27" name="Shape 25"/>
          <p:cNvSpPr/>
          <p:nvPr/>
        </p:nvSpPr>
        <p:spPr>
          <a:xfrm>
            <a:off x="8046720" y="1554480"/>
            <a:ext cx="3566160" cy="4389120"/>
          </a:xfrm>
          <a:prstGeom prst="roundRect">
            <a:avLst>
              <a:gd name="adj" fmla="val 3077"/>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28" name="Shape 26"/>
          <p:cNvSpPr/>
          <p:nvPr/>
        </p:nvSpPr>
        <p:spPr>
          <a:xfrm>
            <a:off x="8183880" y="1554480"/>
            <a:ext cx="3291840" cy="64008"/>
          </a:xfrm>
          <a:prstGeom prst="rect">
            <a:avLst/>
          </a:prstGeom>
          <a:solidFill>
            <a:srgbClr val="1F8A70"/>
          </a:solidFill>
          <a:ln w="12700">
            <a:solidFill>
              <a:srgbClr val="1F8A70"/>
            </a:solidFill>
            <a:prstDash val="solid"/>
          </a:ln>
        </p:spPr>
      </p:sp>
      <p:sp>
        <p:nvSpPr>
          <p:cNvPr id="29" name="Text 27"/>
          <p:cNvSpPr/>
          <p:nvPr/>
        </p:nvSpPr>
        <p:spPr>
          <a:xfrm>
            <a:off x="8275320" y="1691640"/>
            <a:ext cx="3200400" cy="365760"/>
          </a:xfrm>
          <a:prstGeom prst="rect">
            <a:avLst/>
          </a:prstGeom>
          <a:noFill/>
          <a:ln/>
        </p:spPr>
        <p:txBody>
          <a:bodyPr wrap="square" rtlCol="0" anchor="ctr"/>
          <a:lstStyle/>
          <a:p>
            <a:pPr indent="0" marL="0">
              <a:buNone/>
            </a:pPr>
            <a:r>
              <a:rPr lang="en-US" sz="1600" b="1" dirty="0">
                <a:solidFill>
                  <a:srgbClr val="1F8A70"/>
                </a:solidFill>
                <a:latin typeface="Segoe UI" pitchFamily="34" charset="0"/>
                <a:ea typeface="Segoe UI" pitchFamily="34" charset="-122"/>
                <a:cs typeface="Segoe UI" pitchFamily="34" charset="-120"/>
              </a:rPr>
              <a:t>3 · Waves, not blasts</a:t>
            </a:r>
            <a:endParaRPr lang="en-US" sz="1600" dirty="0"/>
          </a:p>
        </p:txBody>
      </p:sp>
      <p:sp>
        <p:nvSpPr>
          <p:cNvPr id="30" name="Shape 28"/>
          <p:cNvSpPr/>
          <p:nvPr/>
        </p:nvSpPr>
        <p:spPr>
          <a:xfrm>
            <a:off x="8275320" y="2240280"/>
            <a:ext cx="1280160" cy="685800"/>
          </a:xfrm>
          <a:prstGeom prst="roundRect">
            <a:avLst>
              <a:gd name="adj" fmla="val 13333"/>
            </a:avLst>
          </a:prstGeom>
          <a:solidFill>
            <a:srgbClr val="1F8A70"/>
          </a:solidFill>
          <a:ln w="12700">
            <a:solidFill>
              <a:srgbClr val="1F8A70"/>
            </a:solidFill>
            <a:prstDash val="solid"/>
          </a:ln>
        </p:spPr>
      </p:sp>
      <p:sp>
        <p:nvSpPr>
          <p:cNvPr id="31" name="Text 29"/>
          <p:cNvSpPr/>
          <p:nvPr/>
        </p:nvSpPr>
        <p:spPr>
          <a:xfrm>
            <a:off x="8275320" y="2240280"/>
            <a:ext cx="1280160" cy="685800"/>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Wave 1</a:t>
            </a:r>
            <a:endParaRPr lang="en-US" sz="1200" dirty="0"/>
          </a:p>
        </p:txBody>
      </p:sp>
      <p:sp>
        <p:nvSpPr>
          <p:cNvPr id="32" name="Text 30"/>
          <p:cNvSpPr/>
          <p:nvPr/>
        </p:nvSpPr>
        <p:spPr>
          <a:xfrm>
            <a:off x="9601200" y="2240280"/>
            <a:ext cx="1874520" cy="685800"/>
          </a:xfrm>
          <a:prstGeom prst="rect">
            <a:avLst/>
          </a:prstGeom>
          <a:noFill/>
          <a:ln/>
        </p:spPr>
        <p:txBody>
          <a:bodyPr wrap="square" rtlCol="0" anchor="ctr"/>
          <a:lstStyle/>
          <a:p>
            <a:pPr indent="0" marL="0">
              <a:buNone/>
            </a:pPr>
            <a:r>
              <a:rPr lang="en-US" sz="1100" dirty="0">
                <a:solidFill>
                  <a:srgbClr val="5F5F5F"/>
                </a:solidFill>
                <a:latin typeface="Segoe UI" pitchFamily="34" charset="0"/>
                <a:ea typeface="Segoe UI" pitchFamily="34" charset="-122"/>
                <a:cs typeface="Segoe UI" pitchFamily="34" charset="-120"/>
              </a:rPr>
              <a:t>Top 5 donors</a:t>
            </a:r>
            <a:endParaRPr lang="en-US" sz="1100" dirty="0"/>
          </a:p>
        </p:txBody>
      </p:sp>
      <p:sp>
        <p:nvSpPr>
          <p:cNvPr id="33" name="Shape 31"/>
          <p:cNvSpPr/>
          <p:nvPr/>
        </p:nvSpPr>
        <p:spPr>
          <a:xfrm>
            <a:off x="8275320" y="3108960"/>
            <a:ext cx="1645920" cy="685800"/>
          </a:xfrm>
          <a:prstGeom prst="roundRect">
            <a:avLst>
              <a:gd name="adj" fmla="val 13333"/>
            </a:avLst>
          </a:prstGeom>
          <a:solidFill>
            <a:srgbClr val="1F8A70"/>
          </a:solidFill>
          <a:ln w="12700">
            <a:solidFill>
              <a:srgbClr val="1F8A70"/>
            </a:solidFill>
            <a:prstDash val="solid"/>
          </a:ln>
        </p:spPr>
      </p:sp>
      <p:sp>
        <p:nvSpPr>
          <p:cNvPr id="34" name="Text 32"/>
          <p:cNvSpPr/>
          <p:nvPr/>
        </p:nvSpPr>
        <p:spPr>
          <a:xfrm>
            <a:off x="8275320" y="3108960"/>
            <a:ext cx="1645920" cy="685800"/>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Wave 2</a:t>
            </a:r>
            <a:endParaRPr lang="en-US" sz="1200" dirty="0"/>
          </a:p>
        </p:txBody>
      </p:sp>
      <p:sp>
        <p:nvSpPr>
          <p:cNvPr id="35" name="Text 33"/>
          <p:cNvSpPr/>
          <p:nvPr/>
        </p:nvSpPr>
        <p:spPr>
          <a:xfrm>
            <a:off x="9966960" y="3108960"/>
            <a:ext cx="1508760" cy="685800"/>
          </a:xfrm>
          <a:prstGeom prst="rect">
            <a:avLst/>
          </a:prstGeom>
          <a:noFill/>
          <a:ln/>
        </p:spPr>
        <p:txBody>
          <a:bodyPr wrap="square" rtlCol="0" anchor="ctr"/>
          <a:lstStyle/>
          <a:p>
            <a:pPr indent="0" marL="0">
              <a:buNone/>
            </a:pPr>
            <a:r>
              <a:rPr lang="en-US" sz="1100" dirty="0">
                <a:solidFill>
                  <a:srgbClr val="5F5F5F"/>
                </a:solidFill>
                <a:latin typeface="Segoe UI" pitchFamily="34" charset="0"/>
                <a:ea typeface="Segoe UI" pitchFamily="34" charset="-122"/>
                <a:cs typeface="Segoe UI" pitchFamily="34" charset="-120"/>
              </a:rPr>
              <a:t>Wider radius, next 10</a:t>
            </a:r>
            <a:endParaRPr lang="en-US" sz="1100" dirty="0"/>
          </a:p>
        </p:txBody>
      </p:sp>
      <p:sp>
        <p:nvSpPr>
          <p:cNvPr id="36" name="Shape 34"/>
          <p:cNvSpPr/>
          <p:nvPr/>
        </p:nvSpPr>
        <p:spPr>
          <a:xfrm>
            <a:off x="8275320" y="3977640"/>
            <a:ext cx="2011680" cy="685800"/>
          </a:xfrm>
          <a:prstGeom prst="roundRect">
            <a:avLst>
              <a:gd name="adj" fmla="val 13333"/>
            </a:avLst>
          </a:prstGeom>
          <a:solidFill>
            <a:srgbClr val="1F8A70"/>
          </a:solidFill>
          <a:ln w="12700">
            <a:solidFill>
              <a:srgbClr val="1F8A70"/>
            </a:solidFill>
            <a:prstDash val="solid"/>
          </a:ln>
        </p:spPr>
      </p:sp>
      <p:sp>
        <p:nvSpPr>
          <p:cNvPr id="37" name="Text 35"/>
          <p:cNvSpPr/>
          <p:nvPr/>
        </p:nvSpPr>
        <p:spPr>
          <a:xfrm>
            <a:off x="8275320" y="3977640"/>
            <a:ext cx="2011680" cy="685800"/>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Wave 3</a:t>
            </a:r>
            <a:endParaRPr lang="en-US" sz="1200" dirty="0"/>
          </a:p>
        </p:txBody>
      </p:sp>
      <p:sp>
        <p:nvSpPr>
          <p:cNvPr id="38" name="Text 36"/>
          <p:cNvSpPr/>
          <p:nvPr/>
        </p:nvSpPr>
        <p:spPr>
          <a:xfrm>
            <a:off x="10332720" y="3977640"/>
            <a:ext cx="1143000" cy="685800"/>
          </a:xfrm>
          <a:prstGeom prst="rect">
            <a:avLst/>
          </a:prstGeom>
          <a:noFill/>
          <a:ln/>
        </p:spPr>
        <p:txBody>
          <a:bodyPr wrap="square" rtlCol="0" anchor="ctr"/>
          <a:lstStyle/>
          <a:p>
            <a:pPr indent="0" marL="0">
              <a:buNone/>
            </a:pPr>
            <a:r>
              <a:rPr lang="en-US" sz="1100" dirty="0">
                <a:solidFill>
                  <a:srgbClr val="5F5F5F"/>
                </a:solidFill>
                <a:latin typeface="Segoe UI" pitchFamily="34" charset="0"/>
                <a:ea typeface="Segoe UI" pitchFamily="34" charset="-122"/>
                <a:cs typeface="Segoe UI" pitchFamily="34" charset="-120"/>
              </a:rPr>
              <a:t>Partner NGOs + coordinator</a:t>
            </a:r>
            <a:endParaRPr lang="en-US" sz="1100" dirty="0"/>
          </a:p>
        </p:txBody>
      </p:sp>
      <p:sp>
        <p:nvSpPr>
          <p:cNvPr id="39" name="Text 37"/>
          <p:cNvSpPr/>
          <p:nvPr/>
        </p:nvSpPr>
        <p:spPr>
          <a:xfrm>
            <a:off x="8275320" y="4846320"/>
            <a:ext cx="3200400" cy="914400"/>
          </a:xfrm>
          <a:prstGeom prst="rect">
            <a:avLst/>
          </a:prstGeom>
          <a:noFill/>
          <a:ln/>
        </p:spPr>
        <p:txBody>
          <a:bodyPr wrap="square" rtlCol="0" anchor="ctr"/>
          <a:lstStyle/>
          <a:p>
            <a:pPr indent="0" marL="0">
              <a:buNone/>
            </a:pPr>
            <a:r>
              <a:rPr lang="en-US" sz="1100" dirty="0">
                <a:solidFill>
                  <a:srgbClr val="222222"/>
                </a:solidFill>
                <a:latin typeface="Segoe UI" pitchFamily="34" charset="0"/>
                <a:ea typeface="Segoe UI" pitchFamily="34" charset="-122"/>
                <a:cs typeface="Segoe UI" pitchFamily="34" charset="-120"/>
              </a:rPr>
              <a:t>Donor buttons: [Accept + ETA] [Decline] [Pause alerts]</a:t>
            </a:r>
            <a:endParaRPr lang="en-US" sz="1100" dirty="0"/>
          </a:p>
          <a:p>
            <a:pPr indent="0" marL="0">
              <a:buNone/>
            </a:pPr>
            <a:r>
              <a:rPr lang="en-US" sz="1100" dirty="0">
                <a:solidFill>
                  <a:srgbClr val="222222"/>
                </a:solidFill>
                <a:latin typeface="Segoe UI" pitchFamily="34" charset="0"/>
                <a:ea typeface="Segoe UI" pitchFamily="34" charset="-122"/>
                <a:cs typeface="Segoe UI" pitchFamily="34" charset="-120"/>
              </a:rPr>
              <a:t>Enough accepted → stand-down to everyone else.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8F5"/>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102E"/>
          </a:solidFill>
          <a:ln w="12700">
            <a:solidFill>
              <a:srgbClr val="C8102E"/>
            </a:solidFill>
            <a:prstDash val="solid"/>
          </a:ln>
        </p:spPr>
      </p:sp>
      <p:sp>
        <p:nvSpPr>
          <p:cNvPr id="3" name="Text 1"/>
          <p:cNvSpPr/>
          <p:nvPr/>
        </p:nvSpPr>
        <p:spPr>
          <a:xfrm>
            <a:off x="411480" y="6446520"/>
            <a:ext cx="2743200" cy="274320"/>
          </a:xfrm>
          <a:prstGeom prst="rect">
            <a:avLst/>
          </a:prstGeom>
          <a:noFill/>
          <a:ln/>
        </p:spPr>
        <p:txBody>
          <a:bodyPr wrap="square" rtlCol="0" anchor="ctr"/>
          <a:lstStyle/>
          <a:p>
            <a:pPr indent="0" marL="0">
              <a:buNone/>
            </a:pPr>
            <a:r>
              <a:rPr lang="en-US" sz="1000" b="1" dirty="0">
                <a:solidFill>
                  <a:srgbClr val="C8102E"/>
                </a:solidFill>
                <a:latin typeface="Segoe UI" pitchFamily="34" charset="0"/>
                <a:ea typeface="Segoe UI" pitchFamily="34" charset="-122"/>
                <a:cs typeface="Segoe UI" pitchFamily="34" charset="-120"/>
              </a:rPr>
              <a:t>RaktDoot</a:t>
            </a:r>
            <a:endParaRPr lang="en-US" sz="1000" dirty="0"/>
          </a:p>
        </p:txBody>
      </p:sp>
      <p:sp>
        <p:nvSpPr>
          <p:cNvPr id="4" name="Text 2"/>
          <p:cNvSpPr/>
          <p:nvPr/>
        </p:nvSpPr>
        <p:spPr>
          <a:xfrm>
            <a:off x="11277295" y="6446520"/>
            <a:ext cx="548640" cy="274320"/>
          </a:xfrm>
          <a:prstGeom prst="rect">
            <a:avLst/>
          </a:prstGeom>
          <a:noFill/>
          <a:ln/>
        </p:spPr>
        <p:txBody>
          <a:bodyPr wrap="square" rtlCol="0" anchor="ctr"/>
          <a:lstStyle/>
          <a:p>
            <a:pPr algn="r" indent="0" marL="0">
              <a:buNone/>
            </a:pPr>
            <a:r>
              <a:rPr lang="en-US" sz="1000" dirty="0">
                <a:solidFill>
                  <a:srgbClr val="5F5F5F"/>
                </a:solidFill>
                <a:latin typeface="Segoe UI" pitchFamily="34" charset="0"/>
                <a:ea typeface="Segoe UI" pitchFamily="34" charset="-122"/>
                <a:cs typeface="Segoe UI" pitchFamily="34" charset="-120"/>
              </a:rPr>
              <a:t>11</a:t>
            </a:r>
            <a:endParaRPr lang="en-US" sz="1000" dirty="0"/>
          </a:p>
        </p:txBody>
      </p:sp>
      <p:sp>
        <p:nvSpPr>
          <p:cNvPr id="5" name="Text 3"/>
          <p:cNvSpPr/>
          <p:nvPr/>
        </p:nvSpPr>
        <p:spPr>
          <a:xfrm>
            <a:off x="548640" y="320040"/>
            <a:ext cx="9144000" cy="320040"/>
          </a:xfrm>
          <a:prstGeom prst="rect">
            <a:avLst/>
          </a:prstGeom>
          <a:noFill/>
          <a:ln/>
        </p:spPr>
        <p:txBody>
          <a:bodyPr wrap="square" rtlCol="0" anchor="ctr"/>
          <a:lstStyle/>
          <a:p>
            <a:pPr indent="0" marL="0">
              <a:buNone/>
            </a:pPr>
            <a:r>
              <a:rPr lang="en-US" sz="1200" b="1" spc="300" kern="0" dirty="0">
                <a:solidFill>
                  <a:srgbClr val="C8102E"/>
                </a:solidFill>
                <a:latin typeface="Segoe UI" pitchFamily="34" charset="0"/>
                <a:ea typeface="Segoe UI" pitchFamily="34" charset="-122"/>
                <a:cs typeface="Segoe UI" pitchFamily="34" charset="-120"/>
              </a:rPr>
              <a:t>AI PILLAR 2 + CLINE INSIDE THE PRODUCT</a:t>
            </a:r>
            <a:endParaRPr lang="en-US" sz="1200" dirty="0"/>
          </a:p>
        </p:txBody>
      </p:sp>
      <p:sp>
        <p:nvSpPr>
          <p:cNvPr id="6" name="Text 4"/>
          <p:cNvSpPr/>
          <p:nvPr/>
        </p:nvSpPr>
        <p:spPr>
          <a:xfrm>
            <a:off x="548640" y="640080"/>
            <a:ext cx="11064240" cy="777240"/>
          </a:xfrm>
          <a:prstGeom prst="rect">
            <a:avLst/>
          </a:prstGeom>
          <a:noFill/>
          <a:ln/>
        </p:spPr>
        <p:txBody>
          <a:bodyPr wrap="square" rtlCol="0" anchor="ctr"/>
          <a:lstStyle/>
          <a:p>
            <a:pPr indent="0" marL="0">
              <a:buNone/>
            </a:pPr>
            <a:r>
              <a:rPr lang="en-US" sz="3000" b="1" dirty="0">
                <a:solidFill>
                  <a:srgbClr val="2B0A10"/>
                </a:solidFill>
                <a:latin typeface="Segoe UI" pitchFamily="34" charset="0"/>
                <a:ea typeface="Segoe UI" pitchFamily="34" charset="-122"/>
                <a:cs typeface="Segoe UI" pitchFamily="34" charset="-120"/>
              </a:rPr>
              <a:t>Predict shortages early, act with a human-approved Copilot</a:t>
            </a:r>
            <a:endParaRPr lang="en-US" sz="3000" dirty="0"/>
          </a:p>
        </p:txBody>
      </p:sp>
      <p:sp>
        <p:nvSpPr>
          <p:cNvPr id="7" name="Shape 5"/>
          <p:cNvSpPr/>
          <p:nvPr/>
        </p:nvSpPr>
        <p:spPr>
          <a:xfrm>
            <a:off x="548640" y="1554480"/>
            <a:ext cx="5486400" cy="4389120"/>
          </a:xfrm>
          <a:prstGeom prst="roundRect">
            <a:avLst>
              <a:gd name="adj" fmla="val 2500"/>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685800" y="1554480"/>
            <a:ext cx="5212080" cy="64008"/>
          </a:xfrm>
          <a:prstGeom prst="rect">
            <a:avLst/>
          </a:prstGeom>
          <a:solidFill>
            <a:srgbClr val="F4A259"/>
          </a:solidFill>
          <a:ln w="12700">
            <a:solidFill>
              <a:srgbClr val="F4A259"/>
            </a:solidFill>
            <a:prstDash val="solid"/>
          </a:ln>
        </p:spPr>
      </p:sp>
      <p:sp>
        <p:nvSpPr>
          <p:cNvPr id="9" name="Text 7"/>
          <p:cNvSpPr/>
          <p:nvPr/>
        </p:nvSpPr>
        <p:spPr>
          <a:xfrm>
            <a:off x="777240" y="1691640"/>
            <a:ext cx="5120640" cy="411480"/>
          </a:xfrm>
          <a:prstGeom prst="rect">
            <a:avLst/>
          </a:prstGeom>
          <a:noFill/>
          <a:ln/>
        </p:spPr>
        <p:txBody>
          <a:bodyPr wrap="square" rtlCol="0" anchor="ctr"/>
          <a:lstStyle/>
          <a:p>
            <a:pPr indent="0" marL="0">
              <a:buNone/>
            </a:pPr>
            <a:r>
              <a:rPr lang="en-US" sz="1700" b="1" dirty="0">
                <a:solidFill>
                  <a:srgbClr val="2B0A10"/>
                </a:solidFill>
                <a:latin typeface="Segoe UI" pitchFamily="34" charset="0"/>
                <a:ea typeface="Segoe UI" pitchFamily="34" charset="-122"/>
                <a:cs typeface="Segoe UI" pitchFamily="34" charset="-120"/>
              </a:rPr>
              <a:t>📈 Area demand forecasting</a:t>
            </a:r>
            <a:endParaRPr lang="en-US" sz="1700" dirty="0"/>
          </a:p>
        </p:txBody>
      </p:sp>
      <p:sp>
        <p:nvSpPr>
          <p:cNvPr id="10" name="Text 8"/>
          <p:cNvSpPr/>
          <p:nvPr/>
        </p:nvSpPr>
        <p:spPr>
          <a:xfrm>
            <a:off x="777240" y="2194560"/>
            <a:ext cx="5120640" cy="3657600"/>
          </a:xfrm>
          <a:prstGeom prst="rect">
            <a:avLst/>
          </a:prstGeom>
          <a:noFill/>
          <a:ln/>
        </p:spPr>
        <p:txBody>
          <a:bodyPr wrap="square" rtlCol="0" anchor="t"/>
          <a:lstStyle/>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Weekly demand ranges per district × blood group × component</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Gradient boosting with quantile loss → P10 / P50 / P90 ranges</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Features: lags, rolling means, week of year, festival flag, stock trend</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Captures dengue platelet surge, summer donation dip, festivals</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Rolling backtest vs seasonal-naive baseline; error shown on dashboard</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Labelled "synthetic data" until real data is available</a:t>
            </a:r>
            <a:endParaRPr lang="en-US" sz="1300" dirty="0"/>
          </a:p>
        </p:txBody>
      </p:sp>
      <p:sp>
        <p:nvSpPr>
          <p:cNvPr id="11" name="Shape 9"/>
          <p:cNvSpPr/>
          <p:nvPr/>
        </p:nvSpPr>
        <p:spPr>
          <a:xfrm>
            <a:off x="6217920" y="1554480"/>
            <a:ext cx="5394960" cy="4389120"/>
          </a:xfrm>
          <a:prstGeom prst="roundRect">
            <a:avLst>
              <a:gd name="adj" fmla="val 2500"/>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6355080" y="1554480"/>
            <a:ext cx="5120640" cy="64008"/>
          </a:xfrm>
          <a:prstGeom prst="rect">
            <a:avLst/>
          </a:prstGeom>
          <a:solidFill>
            <a:srgbClr val="1F8A70"/>
          </a:solidFill>
          <a:ln w="12700">
            <a:solidFill>
              <a:srgbClr val="1F8A70"/>
            </a:solidFill>
            <a:prstDash val="solid"/>
          </a:ln>
        </p:spPr>
      </p:sp>
      <p:sp>
        <p:nvSpPr>
          <p:cNvPr id="13" name="Text 11"/>
          <p:cNvSpPr/>
          <p:nvPr/>
        </p:nvSpPr>
        <p:spPr>
          <a:xfrm>
            <a:off x="6446520" y="1691640"/>
            <a:ext cx="5029200" cy="411480"/>
          </a:xfrm>
          <a:prstGeom prst="rect">
            <a:avLst/>
          </a:prstGeom>
          <a:noFill/>
          <a:ln/>
        </p:spPr>
        <p:txBody>
          <a:bodyPr wrap="square" rtlCol="0" anchor="ctr"/>
          <a:lstStyle/>
          <a:p>
            <a:pPr indent="0" marL="0">
              <a:buNone/>
            </a:pPr>
            <a:r>
              <a:rPr lang="en-US" sz="1700" b="1" dirty="0">
                <a:solidFill>
                  <a:srgbClr val="2B0A10"/>
                </a:solidFill>
                <a:latin typeface="Segoe UI" pitchFamily="34" charset="0"/>
                <a:ea typeface="Segoe UI" pitchFamily="34" charset="-122"/>
                <a:cs typeface="Segoe UI" pitchFamily="34" charset="-120"/>
              </a:rPr>
              <a:t>🧑‍✈️ Coordinator Copilot (Cline SDK)</a:t>
            </a:r>
            <a:endParaRPr lang="en-US" sz="1700" dirty="0"/>
          </a:p>
        </p:txBody>
      </p:sp>
      <p:sp>
        <p:nvSpPr>
          <p:cNvPr id="14" name="Text 12"/>
          <p:cNvSpPr/>
          <p:nvPr/>
        </p:nvSpPr>
        <p:spPr>
          <a:xfrm>
            <a:off x="6446520" y="2148840"/>
            <a:ext cx="5029200" cy="365760"/>
          </a:xfrm>
          <a:prstGeom prst="rect">
            <a:avLst/>
          </a:prstGeom>
          <a:noFill/>
          <a:ln/>
        </p:spPr>
        <p:txBody>
          <a:bodyPr wrap="square" rtlCol="0" anchor="ctr"/>
          <a:lstStyle/>
          <a:p>
            <a:pPr indent="0" marL="0">
              <a:buNone/>
            </a:pPr>
            <a:r>
              <a:rPr lang="en-US" sz="1300" i="1" dirty="0">
                <a:solidFill>
                  <a:srgbClr val="1F8A70"/>
                </a:solidFill>
                <a:latin typeface="Segoe UI" pitchFamily="34" charset="0"/>
                <a:ea typeface="Segoe UI" pitchFamily="34" charset="-122"/>
                <a:cs typeface="Segoe UI" pitchFamily="34" charset="-120"/>
              </a:rPr>
              <a:t>"Which requests are at risk today?"</a:t>
            </a:r>
            <a:endParaRPr lang="en-US" sz="1300" dirty="0"/>
          </a:p>
        </p:txBody>
      </p:sp>
      <p:sp>
        <p:nvSpPr>
          <p:cNvPr id="15" name="Shape 13"/>
          <p:cNvSpPr/>
          <p:nvPr/>
        </p:nvSpPr>
        <p:spPr>
          <a:xfrm>
            <a:off x="6446520" y="2651760"/>
            <a:ext cx="2377440" cy="384048"/>
          </a:xfrm>
          <a:prstGeom prst="roundRect">
            <a:avLst>
              <a:gd name="adj" fmla="val 47619"/>
            </a:avLst>
          </a:prstGeom>
          <a:solidFill>
            <a:srgbClr val="FBE4E6"/>
          </a:solidFill>
          <a:ln w="12700">
            <a:solidFill>
              <a:srgbClr val="FBE4E6"/>
            </a:solidFill>
            <a:prstDash val="solid"/>
          </a:ln>
        </p:spPr>
      </p:sp>
      <p:sp>
        <p:nvSpPr>
          <p:cNvPr id="16" name="Text 14"/>
          <p:cNvSpPr/>
          <p:nvPr/>
        </p:nvSpPr>
        <p:spPr>
          <a:xfrm>
            <a:off x="6446520" y="2651760"/>
            <a:ext cx="2377440" cy="384048"/>
          </a:xfrm>
          <a:prstGeom prst="rect">
            <a:avLst/>
          </a:prstGeom>
          <a:noFill/>
          <a:ln/>
        </p:spPr>
        <p:txBody>
          <a:bodyPr wrap="square" rtlCol="0" anchor="ctr"/>
          <a:lstStyle/>
          <a:p>
            <a:pPr algn="ctr" indent="0" marL="0">
              <a:buNone/>
            </a:pPr>
            <a:r>
              <a:rPr lang="en-US" sz="1100" b="1" dirty="0">
                <a:solidFill>
                  <a:srgbClr val="5A0F1C"/>
                </a:solidFill>
                <a:latin typeface="Segoe UI" pitchFamily="34" charset="0"/>
                <a:ea typeface="Segoe UI" pitchFamily="34" charset="-122"/>
                <a:cs typeface="Segoe UI" pitchFamily="34" charset="-120"/>
              </a:rPr>
              <a:t>get_open_requests</a:t>
            </a:r>
            <a:endParaRPr lang="en-US" sz="1100" dirty="0"/>
          </a:p>
        </p:txBody>
      </p:sp>
      <p:sp>
        <p:nvSpPr>
          <p:cNvPr id="17" name="Shape 15"/>
          <p:cNvSpPr/>
          <p:nvPr/>
        </p:nvSpPr>
        <p:spPr>
          <a:xfrm>
            <a:off x="8961120" y="2651760"/>
            <a:ext cx="2377440" cy="384048"/>
          </a:xfrm>
          <a:prstGeom prst="roundRect">
            <a:avLst>
              <a:gd name="adj" fmla="val 47619"/>
            </a:avLst>
          </a:prstGeom>
          <a:solidFill>
            <a:srgbClr val="FBE4E6"/>
          </a:solidFill>
          <a:ln w="12700">
            <a:solidFill>
              <a:srgbClr val="FBE4E6"/>
            </a:solidFill>
            <a:prstDash val="solid"/>
          </a:ln>
        </p:spPr>
      </p:sp>
      <p:sp>
        <p:nvSpPr>
          <p:cNvPr id="18" name="Text 16"/>
          <p:cNvSpPr/>
          <p:nvPr/>
        </p:nvSpPr>
        <p:spPr>
          <a:xfrm>
            <a:off x="8961120" y="2651760"/>
            <a:ext cx="2377440" cy="384048"/>
          </a:xfrm>
          <a:prstGeom prst="rect">
            <a:avLst/>
          </a:prstGeom>
          <a:noFill/>
          <a:ln/>
        </p:spPr>
        <p:txBody>
          <a:bodyPr wrap="square" rtlCol="0" anchor="ctr"/>
          <a:lstStyle/>
          <a:p>
            <a:pPr algn="ctr" indent="0" marL="0">
              <a:buNone/>
            </a:pPr>
            <a:r>
              <a:rPr lang="en-US" sz="1100" b="1" dirty="0">
                <a:solidFill>
                  <a:srgbClr val="5A0F1C"/>
                </a:solidFill>
                <a:latin typeface="Segoe UI" pitchFamily="34" charset="0"/>
                <a:ea typeface="Segoe UI" pitchFamily="34" charset="-122"/>
                <a:cs typeface="Segoe UI" pitchFamily="34" charset="-120"/>
              </a:rPr>
              <a:t>search_blood_centres</a:t>
            </a:r>
            <a:endParaRPr lang="en-US" sz="1100" dirty="0"/>
          </a:p>
        </p:txBody>
      </p:sp>
      <p:sp>
        <p:nvSpPr>
          <p:cNvPr id="19" name="Shape 17"/>
          <p:cNvSpPr/>
          <p:nvPr/>
        </p:nvSpPr>
        <p:spPr>
          <a:xfrm>
            <a:off x="6446520" y="3154680"/>
            <a:ext cx="2377440" cy="384048"/>
          </a:xfrm>
          <a:prstGeom prst="roundRect">
            <a:avLst>
              <a:gd name="adj" fmla="val 47619"/>
            </a:avLst>
          </a:prstGeom>
          <a:solidFill>
            <a:srgbClr val="FBE4E6"/>
          </a:solidFill>
          <a:ln w="12700">
            <a:solidFill>
              <a:srgbClr val="FBE4E6"/>
            </a:solidFill>
            <a:prstDash val="solid"/>
          </a:ln>
        </p:spPr>
      </p:sp>
      <p:sp>
        <p:nvSpPr>
          <p:cNvPr id="20" name="Text 18"/>
          <p:cNvSpPr/>
          <p:nvPr/>
        </p:nvSpPr>
        <p:spPr>
          <a:xfrm>
            <a:off x="6446520" y="3154680"/>
            <a:ext cx="2377440" cy="384048"/>
          </a:xfrm>
          <a:prstGeom prst="rect">
            <a:avLst/>
          </a:prstGeom>
          <a:noFill/>
          <a:ln/>
        </p:spPr>
        <p:txBody>
          <a:bodyPr wrap="square" rtlCol="0" anchor="ctr"/>
          <a:lstStyle/>
          <a:p>
            <a:pPr algn="ctr" indent="0" marL="0">
              <a:buNone/>
            </a:pPr>
            <a:r>
              <a:rPr lang="en-US" sz="1100" b="1" dirty="0">
                <a:solidFill>
                  <a:srgbClr val="5A0F1C"/>
                </a:solidFill>
                <a:latin typeface="Segoe UI" pitchFamily="34" charset="0"/>
                <a:ea typeface="Segoe UI" pitchFamily="34" charset="-122"/>
                <a:cs typeface="Segoe UI" pitchFamily="34" charset="-120"/>
              </a:rPr>
              <a:t>rank_donors</a:t>
            </a:r>
            <a:endParaRPr lang="en-US" sz="1100" dirty="0"/>
          </a:p>
        </p:txBody>
      </p:sp>
      <p:sp>
        <p:nvSpPr>
          <p:cNvPr id="21" name="Shape 19"/>
          <p:cNvSpPr/>
          <p:nvPr/>
        </p:nvSpPr>
        <p:spPr>
          <a:xfrm>
            <a:off x="8961120" y="3154680"/>
            <a:ext cx="2377440" cy="384048"/>
          </a:xfrm>
          <a:prstGeom prst="roundRect">
            <a:avLst>
              <a:gd name="adj" fmla="val 47619"/>
            </a:avLst>
          </a:prstGeom>
          <a:solidFill>
            <a:srgbClr val="FBE4E6"/>
          </a:solidFill>
          <a:ln w="12700">
            <a:solidFill>
              <a:srgbClr val="FBE4E6"/>
            </a:solidFill>
            <a:prstDash val="solid"/>
          </a:ln>
        </p:spPr>
      </p:sp>
      <p:sp>
        <p:nvSpPr>
          <p:cNvPr id="22" name="Text 20"/>
          <p:cNvSpPr/>
          <p:nvPr/>
        </p:nvSpPr>
        <p:spPr>
          <a:xfrm>
            <a:off x="8961120" y="3154680"/>
            <a:ext cx="2377440" cy="384048"/>
          </a:xfrm>
          <a:prstGeom prst="rect">
            <a:avLst/>
          </a:prstGeom>
          <a:noFill/>
          <a:ln/>
        </p:spPr>
        <p:txBody>
          <a:bodyPr wrap="square" rtlCol="0" anchor="ctr"/>
          <a:lstStyle/>
          <a:p>
            <a:pPr algn="ctr" indent="0" marL="0">
              <a:buNone/>
            </a:pPr>
            <a:r>
              <a:rPr lang="en-US" sz="1100" b="1" dirty="0">
                <a:solidFill>
                  <a:srgbClr val="5A0F1C"/>
                </a:solidFill>
                <a:latin typeface="Segoe UI" pitchFamily="34" charset="0"/>
                <a:ea typeface="Segoe UI" pitchFamily="34" charset="-122"/>
                <a:cs typeface="Segoe UI" pitchFamily="34" charset="-120"/>
              </a:rPr>
              <a:t>get_forecast</a:t>
            </a:r>
            <a:endParaRPr lang="en-US" sz="1100" dirty="0"/>
          </a:p>
        </p:txBody>
      </p:sp>
      <p:sp>
        <p:nvSpPr>
          <p:cNvPr id="23" name="Shape 21"/>
          <p:cNvSpPr/>
          <p:nvPr/>
        </p:nvSpPr>
        <p:spPr>
          <a:xfrm>
            <a:off x="6446520" y="3657600"/>
            <a:ext cx="2377440" cy="384048"/>
          </a:xfrm>
          <a:prstGeom prst="roundRect">
            <a:avLst>
              <a:gd name="adj" fmla="val 47619"/>
            </a:avLst>
          </a:prstGeom>
          <a:solidFill>
            <a:srgbClr val="FBE4E6"/>
          </a:solidFill>
          <a:ln w="12700">
            <a:solidFill>
              <a:srgbClr val="FBE4E6"/>
            </a:solidFill>
            <a:prstDash val="solid"/>
          </a:ln>
        </p:spPr>
      </p:sp>
      <p:sp>
        <p:nvSpPr>
          <p:cNvPr id="24" name="Text 22"/>
          <p:cNvSpPr/>
          <p:nvPr/>
        </p:nvSpPr>
        <p:spPr>
          <a:xfrm>
            <a:off x="6446520" y="3657600"/>
            <a:ext cx="2377440" cy="384048"/>
          </a:xfrm>
          <a:prstGeom prst="rect">
            <a:avLst/>
          </a:prstGeom>
          <a:noFill/>
          <a:ln/>
        </p:spPr>
        <p:txBody>
          <a:bodyPr wrap="square" rtlCol="0" anchor="ctr"/>
          <a:lstStyle/>
          <a:p>
            <a:pPr algn="ctr" indent="0" marL="0">
              <a:buNone/>
            </a:pPr>
            <a:r>
              <a:rPr lang="en-US" sz="1100" b="1" dirty="0">
                <a:solidFill>
                  <a:srgbClr val="5A0F1C"/>
                </a:solidFill>
                <a:latin typeface="Segoe UI" pitchFamily="34" charset="0"/>
                <a:ea typeface="Segoe UI" pitchFamily="34" charset="-122"/>
                <a:cs typeface="Segoe UI" pitchFamily="34" charset="-120"/>
              </a:rPr>
              <a:t>summarize_case</a:t>
            </a:r>
            <a:endParaRPr lang="en-US" sz="1100" dirty="0"/>
          </a:p>
        </p:txBody>
      </p:sp>
      <p:sp>
        <p:nvSpPr>
          <p:cNvPr id="25" name="Shape 23"/>
          <p:cNvSpPr/>
          <p:nvPr/>
        </p:nvSpPr>
        <p:spPr>
          <a:xfrm>
            <a:off x="8961120" y="3657600"/>
            <a:ext cx="2377440" cy="384048"/>
          </a:xfrm>
          <a:prstGeom prst="roundRect">
            <a:avLst>
              <a:gd name="adj" fmla="val 47619"/>
            </a:avLst>
          </a:prstGeom>
          <a:solidFill>
            <a:srgbClr val="FBE4E6"/>
          </a:solidFill>
          <a:ln w="12700">
            <a:solidFill>
              <a:srgbClr val="FBE4E6"/>
            </a:solidFill>
            <a:prstDash val="solid"/>
          </a:ln>
        </p:spPr>
      </p:sp>
      <p:sp>
        <p:nvSpPr>
          <p:cNvPr id="26" name="Text 24"/>
          <p:cNvSpPr/>
          <p:nvPr/>
        </p:nvSpPr>
        <p:spPr>
          <a:xfrm>
            <a:off x="8961120" y="3657600"/>
            <a:ext cx="2377440" cy="384048"/>
          </a:xfrm>
          <a:prstGeom prst="rect">
            <a:avLst/>
          </a:prstGeom>
          <a:noFill/>
          <a:ln/>
        </p:spPr>
        <p:txBody>
          <a:bodyPr wrap="square" rtlCol="0" anchor="ctr"/>
          <a:lstStyle/>
          <a:p>
            <a:pPr algn="ctr" indent="0" marL="0">
              <a:buNone/>
            </a:pPr>
            <a:r>
              <a:rPr lang="en-US" sz="1100" b="1" dirty="0">
                <a:solidFill>
                  <a:srgbClr val="5A0F1C"/>
                </a:solidFill>
                <a:latin typeface="Segoe UI" pitchFamily="34" charset="0"/>
                <a:ea typeface="Segoe UI" pitchFamily="34" charset="-122"/>
                <a:cs typeface="Segoe UI" pitchFamily="34" charset="-120"/>
              </a:rPr>
              <a:t>draft_outreach_message</a:t>
            </a:r>
            <a:endParaRPr lang="en-US" sz="1100" dirty="0"/>
          </a:p>
        </p:txBody>
      </p:sp>
      <p:sp>
        <p:nvSpPr>
          <p:cNvPr id="27" name="Text 25"/>
          <p:cNvSpPr/>
          <p:nvPr/>
        </p:nvSpPr>
        <p:spPr>
          <a:xfrm>
            <a:off x="6446520" y="4206240"/>
            <a:ext cx="5029200" cy="365760"/>
          </a:xfrm>
          <a:prstGeom prst="rect">
            <a:avLst/>
          </a:prstGeom>
          <a:noFill/>
          <a:ln/>
        </p:spPr>
        <p:txBody>
          <a:bodyPr wrap="square" rtlCol="0" anchor="ctr"/>
          <a:lstStyle/>
          <a:p>
            <a:pPr indent="0" marL="0">
              <a:buNone/>
            </a:pPr>
            <a:r>
              <a:rPr lang="en-US" sz="1300" dirty="0">
                <a:solidFill>
                  <a:srgbClr val="222222"/>
                </a:solidFill>
                <a:latin typeface="Segoe UI" pitchFamily="34" charset="0"/>
                <a:ea typeface="Segoe UI" pitchFamily="34" charset="-122"/>
                <a:cs typeface="Segoe UI" pitchFamily="34" charset="-120"/>
              </a:rPr>
              <a:t>→ briefing + suggested actions + drafted campaign</a:t>
            </a:r>
            <a:endParaRPr lang="en-US" sz="1300" dirty="0"/>
          </a:p>
        </p:txBody>
      </p:sp>
      <p:sp>
        <p:nvSpPr>
          <p:cNvPr id="28" name="Shape 26"/>
          <p:cNvSpPr/>
          <p:nvPr/>
        </p:nvSpPr>
        <p:spPr>
          <a:xfrm>
            <a:off x="6446520" y="4709160"/>
            <a:ext cx="4937760" cy="1005840"/>
          </a:xfrm>
          <a:prstGeom prst="roundRect">
            <a:avLst>
              <a:gd name="adj" fmla="val 9091"/>
            </a:avLst>
          </a:prstGeom>
          <a:solidFill>
            <a:srgbClr val="1F8A70"/>
          </a:solidFill>
          <a:ln w="12700">
            <a:solidFill>
              <a:srgbClr val="1F8A70"/>
            </a:solidFill>
            <a:prstDash val="solid"/>
          </a:ln>
        </p:spPr>
      </p:sp>
      <p:sp>
        <p:nvSpPr>
          <p:cNvPr id="29" name="Text 27"/>
          <p:cNvSpPr/>
          <p:nvPr/>
        </p:nvSpPr>
        <p:spPr>
          <a:xfrm>
            <a:off x="6583680" y="4709160"/>
            <a:ext cx="4663440" cy="1005840"/>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 Human in the loop: sending, closing or editing ALWAYS needs explicit coordinator approval.</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8F5"/>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102E"/>
          </a:solidFill>
          <a:ln w="12700">
            <a:solidFill>
              <a:srgbClr val="C8102E"/>
            </a:solidFill>
            <a:prstDash val="solid"/>
          </a:ln>
        </p:spPr>
      </p:sp>
      <p:sp>
        <p:nvSpPr>
          <p:cNvPr id="3" name="Text 1"/>
          <p:cNvSpPr/>
          <p:nvPr/>
        </p:nvSpPr>
        <p:spPr>
          <a:xfrm>
            <a:off x="411480" y="6446520"/>
            <a:ext cx="2743200" cy="274320"/>
          </a:xfrm>
          <a:prstGeom prst="rect">
            <a:avLst/>
          </a:prstGeom>
          <a:noFill/>
          <a:ln/>
        </p:spPr>
        <p:txBody>
          <a:bodyPr wrap="square" rtlCol="0" anchor="ctr"/>
          <a:lstStyle/>
          <a:p>
            <a:pPr indent="0" marL="0">
              <a:buNone/>
            </a:pPr>
            <a:r>
              <a:rPr lang="en-US" sz="1000" b="1" dirty="0">
                <a:solidFill>
                  <a:srgbClr val="C8102E"/>
                </a:solidFill>
                <a:latin typeface="Segoe UI" pitchFamily="34" charset="0"/>
                <a:ea typeface="Segoe UI" pitchFamily="34" charset="-122"/>
                <a:cs typeface="Segoe UI" pitchFamily="34" charset="-120"/>
              </a:rPr>
              <a:t>RaktDoot</a:t>
            </a:r>
            <a:endParaRPr lang="en-US" sz="1000" dirty="0"/>
          </a:p>
        </p:txBody>
      </p:sp>
      <p:sp>
        <p:nvSpPr>
          <p:cNvPr id="4" name="Text 2"/>
          <p:cNvSpPr/>
          <p:nvPr/>
        </p:nvSpPr>
        <p:spPr>
          <a:xfrm>
            <a:off x="11277295" y="6446520"/>
            <a:ext cx="548640" cy="274320"/>
          </a:xfrm>
          <a:prstGeom prst="rect">
            <a:avLst/>
          </a:prstGeom>
          <a:noFill/>
          <a:ln/>
        </p:spPr>
        <p:txBody>
          <a:bodyPr wrap="square" rtlCol="0" anchor="ctr"/>
          <a:lstStyle/>
          <a:p>
            <a:pPr algn="r" indent="0" marL="0">
              <a:buNone/>
            </a:pPr>
            <a:r>
              <a:rPr lang="en-US" sz="1000" dirty="0">
                <a:solidFill>
                  <a:srgbClr val="5F5F5F"/>
                </a:solidFill>
                <a:latin typeface="Segoe UI" pitchFamily="34" charset="0"/>
                <a:ea typeface="Segoe UI" pitchFamily="34" charset="-122"/>
                <a:cs typeface="Segoe UI" pitchFamily="34" charset="-120"/>
              </a:rPr>
              <a:t>12</a:t>
            </a:r>
            <a:endParaRPr lang="en-US" sz="1000" dirty="0"/>
          </a:p>
        </p:txBody>
      </p:sp>
      <p:sp>
        <p:nvSpPr>
          <p:cNvPr id="5" name="Text 3"/>
          <p:cNvSpPr/>
          <p:nvPr/>
        </p:nvSpPr>
        <p:spPr>
          <a:xfrm>
            <a:off x="548640" y="320040"/>
            <a:ext cx="9144000" cy="320040"/>
          </a:xfrm>
          <a:prstGeom prst="rect">
            <a:avLst/>
          </a:prstGeom>
          <a:noFill/>
          <a:ln/>
        </p:spPr>
        <p:txBody>
          <a:bodyPr wrap="square" rtlCol="0" anchor="ctr"/>
          <a:lstStyle/>
          <a:p>
            <a:pPr indent="0" marL="0">
              <a:buNone/>
            </a:pPr>
            <a:r>
              <a:rPr lang="en-US" sz="1200" b="1" spc="300" kern="0" dirty="0">
                <a:solidFill>
                  <a:srgbClr val="C8102E"/>
                </a:solidFill>
                <a:latin typeface="Segoe UI" pitchFamily="34" charset="0"/>
                <a:ea typeface="Segoe UI" pitchFamily="34" charset="-122"/>
                <a:cs typeface="Segoe UI" pitchFamily="34" charset="-120"/>
              </a:rPr>
              <a:t>BUILT RESPONSIBLY</a:t>
            </a:r>
            <a:endParaRPr lang="en-US" sz="1200" dirty="0"/>
          </a:p>
        </p:txBody>
      </p:sp>
      <p:sp>
        <p:nvSpPr>
          <p:cNvPr id="6" name="Text 4"/>
          <p:cNvSpPr/>
          <p:nvPr/>
        </p:nvSpPr>
        <p:spPr>
          <a:xfrm>
            <a:off x="548640" y="640080"/>
            <a:ext cx="11064240" cy="777240"/>
          </a:xfrm>
          <a:prstGeom prst="rect">
            <a:avLst/>
          </a:prstGeom>
          <a:noFill/>
          <a:ln/>
        </p:spPr>
        <p:txBody>
          <a:bodyPr wrap="square" rtlCol="0" anchor="ctr"/>
          <a:lstStyle/>
          <a:p>
            <a:pPr indent="0" marL="0">
              <a:buNone/>
            </a:pPr>
            <a:r>
              <a:rPr lang="en-US" sz="3000" b="1" dirty="0">
                <a:solidFill>
                  <a:srgbClr val="2B0A10"/>
                </a:solidFill>
                <a:latin typeface="Segoe UI" pitchFamily="34" charset="0"/>
                <a:ea typeface="Segoe UI" pitchFamily="34" charset="-122"/>
                <a:cs typeface="Segoe UI" pitchFamily="34" charset="-120"/>
              </a:rPr>
              <a:t>Trust, safety &amp; privacy by design</a:t>
            </a:r>
            <a:endParaRPr lang="en-US" sz="3000" dirty="0"/>
          </a:p>
        </p:txBody>
      </p:sp>
      <p:sp>
        <p:nvSpPr>
          <p:cNvPr id="7" name="Shape 5"/>
          <p:cNvSpPr/>
          <p:nvPr/>
        </p:nvSpPr>
        <p:spPr>
          <a:xfrm>
            <a:off x="548640" y="1554480"/>
            <a:ext cx="3611880" cy="2103120"/>
          </a:xfrm>
          <a:prstGeom prst="roundRect">
            <a:avLst>
              <a:gd name="adj" fmla="val 5217"/>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685800" y="1554480"/>
            <a:ext cx="3337560" cy="64008"/>
          </a:xfrm>
          <a:prstGeom prst="rect">
            <a:avLst/>
          </a:prstGeom>
          <a:solidFill>
            <a:srgbClr val="C8102E"/>
          </a:solidFill>
          <a:ln w="12700">
            <a:solidFill>
              <a:srgbClr val="C8102E"/>
            </a:solidFill>
            <a:prstDash val="solid"/>
          </a:ln>
        </p:spPr>
      </p:sp>
      <p:sp>
        <p:nvSpPr>
          <p:cNvPr id="9" name="Shape 7"/>
          <p:cNvSpPr/>
          <p:nvPr/>
        </p:nvSpPr>
        <p:spPr>
          <a:xfrm>
            <a:off x="777240" y="1828800"/>
            <a:ext cx="548640" cy="548640"/>
          </a:xfrm>
          <a:prstGeom prst="ellipse">
            <a:avLst/>
          </a:prstGeom>
          <a:solidFill>
            <a:srgbClr val="C8102E"/>
          </a:solidFill>
          <a:ln w="12700">
            <a:solidFill>
              <a:srgbClr val="C8102E"/>
            </a:solidFill>
            <a:prstDash val="solid"/>
          </a:ln>
        </p:spPr>
      </p:sp>
      <p:sp>
        <p:nvSpPr>
          <p:cNvPr id="10" name="Text 8"/>
          <p:cNvSpPr/>
          <p:nvPr/>
        </p:nvSpPr>
        <p:spPr>
          <a:xfrm>
            <a:off x="777240" y="1828800"/>
            <a:ext cx="548640" cy="54864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a:t>
            </a:r>
            <a:endParaRPr lang="en-US" sz="1800" dirty="0"/>
          </a:p>
        </p:txBody>
      </p:sp>
      <p:sp>
        <p:nvSpPr>
          <p:cNvPr id="11" name="Text 9"/>
          <p:cNvSpPr/>
          <p:nvPr/>
        </p:nvSpPr>
        <p:spPr>
          <a:xfrm>
            <a:off x="1417320" y="1810512"/>
            <a:ext cx="2606040" cy="594360"/>
          </a:xfrm>
          <a:prstGeom prst="rect">
            <a:avLst/>
          </a:prstGeom>
          <a:noFill/>
          <a:ln/>
        </p:spPr>
        <p:txBody>
          <a:bodyPr wrap="square" rtlCol="0" anchor="ctr"/>
          <a:lstStyle/>
          <a:p>
            <a:pPr indent="0" marL="0">
              <a:buNone/>
            </a:pPr>
            <a:r>
              <a:rPr lang="en-US" sz="1500" b="1" dirty="0">
                <a:solidFill>
                  <a:srgbClr val="2B0A10"/>
                </a:solidFill>
                <a:latin typeface="Segoe UI" pitchFamily="34" charset="0"/>
                <a:ea typeface="Segoe UI" pitchFamily="34" charset="-122"/>
                <a:cs typeface="Segoe UI" pitchFamily="34" charset="-120"/>
              </a:rPr>
              <a:t>Licensed centres only</a:t>
            </a:r>
            <a:endParaRPr lang="en-US" sz="1500" dirty="0"/>
          </a:p>
        </p:txBody>
      </p:sp>
      <p:sp>
        <p:nvSpPr>
          <p:cNvPr id="12" name="Text 10"/>
          <p:cNvSpPr/>
          <p:nvPr/>
        </p:nvSpPr>
        <p:spPr>
          <a:xfrm>
            <a:off x="777240" y="2468880"/>
            <a:ext cx="3200400" cy="1097280"/>
          </a:xfrm>
          <a:prstGeom prst="rect">
            <a:avLst/>
          </a:prstGeom>
          <a:noFill/>
          <a:ln/>
        </p:spPr>
        <p:txBody>
          <a:bodyPr wrap="square" rtlCol="0" anchor="t"/>
          <a:lstStyle/>
          <a:p>
            <a:pPr indent="0" marL="0">
              <a:buNone/>
            </a:pPr>
            <a:r>
              <a:rPr lang="en-US" sz="1200" dirty="0">
                <a:solidFill>
                  <a:srgbClr val="5F5F5F"/>
                </a:solidFill>
                <a:latin typeface="Segoe UI" pitchFamily="34" charset="0"/>
                <a:ea typeface="Segoe UI" pitchFamily="34" charset="-122"/>
                <a:cs typeface="Segoe UI" pitchFamily="34" charset="-120"/>
              </a:rPr>
              <a:t>No person-to-person collection. Every donor goes to a licensed blood centre with the request ID.</a:t>
            </a:r>
            <a:endParaRPr lang="en-US" sz="1200" dirty="0"/>
          </a:p>
        </p:txBody>
      </p:sp>
      <p:sp>
        <p:nvSpPr>
          <p:cNvPr id="13" name="Shape 11"/>
          <p:cNvSpPr/>
          <p:nvPr/>
        </p:nvSpPr>
        <p:spPr>
          <a:xfrm>
            <a:off x="4279392" y="1554480"/>
            <a:ext cx="3611880" cy="2103120"/>
          </a:xfrm>
          <a:prstGeom prst="roundRect">
            <a:avLst>
              <a:gd name="adj" fmla="val 5217"/>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4416552" y="1554480"/>
            <a:ext cx="3337560" cy="64008"/>
          </a:xfrm>
          <a:prstGeom prst="rect">
            <a:avLst/>
          </a:prstGeom>
          <a:solidFill>
            <a:srgbClr val="5A0F1C"/>
          </a:solidFill>
          <a:ln w="12700">
            <a:solidFill>
              <a:srgbClr val="5A0F1C"/>
            </a:solidFill>
            <a:prstDash val="solid"/>
          </a:ln>
        </p:spPr>
      </p:sp>
      <p:sp>
        <p:nvSpPr>
          <p:cNvPr id="15" name="Shape 13"/>
          <p:cNvSpPr/>
          <p:nvPr/>
        </p:nvSpPr>
        <p:spPr>
          <a:xfrm>
            <a:off x="4507992" y="1828800"/>
            <a:ext cx="548640" cy="548640"/>
          </a:xfrm>
          <a:prstGeom prst="ellipse">
            <a:avLst/>
          </a:prstGeom>
          <a:solidFill>
            <a:srgbClr val="5A0F1C"/>
          </a:solidFill>
          <a:ln w="12700">
            <a:solidFill>
              <a:srgbClr val="5A0F1C"/>
            </a:solidFill>
            <a:prstDash val="solid"/>
          </a:ln>
        </p:spPr>
      </p:sp>
      <p:sp>
        <p:nvSpPr>
          <p:cNvPr id="16" name="Text 14"/>
          <p:cNvSpPr/>
          <p:nvPr/>
        </p:nvSpPr>
        <p:spPr>
          <a:xfrm>
            <a:off x="4507992" y="1828800"/>
            <a:ext cx="548640" cy="54864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a:t>
            </a:r>
            <a:endParaRPr lang="en-US" sz="1800" dirty="0"/>
          </a:p>
        </p:txBody>
      </p:sp>
      <p:sp>
        <p:nvSpPr>
          <p:cNvPr id="17" name="Text 15"/>
          <p:cNvSpPr/>
          <p:nvPr/>
        </p:nvSpPr>
        <p:spPr>
          <a:xfrm>
            <a:off x="5148072" y="1810512"/>
            <a:ext cx="2606040" cy="594360"/>
          </a:xfrm>
          <a:prstGeom prst="rect">
            <a:avLst/>
          </a:prstGeom>
          <a:noFill/>
          <a:ln/>
        </p:spPr>
        <p:txBody>
          <a:bodyPr wrap="square" rtlCol="0" anchor="ctr"/>
          <a:lstStyle/>
          <a:p>
            <a:pPr indent="0" marL="0">
              <a:buNone/>
            </a:pPr>
            <a:r>
              <a:rPr lang="en-US" sz="1500" b="1" dirty="0">
                <a:solidFill>
                  <a:srgbClr val="2B0A10"/>
                </a:solidFill>
                <a:latin typeface="Segoe UI" pitchFamily="34" charset="0"/>
                <a:ea typeface="Segoe UI" pitchFamily="34" charset="-122"/>
                <a:cs typeface="Segoe UI" pitchFamily="34" charset="-120"/>
              </a:rPr>
              <a:t>AI never makes clinical calls</a:t>
            </a:r>
            <a:endParaRPr lang="en-US" sz="1500" dirty="0"/>
          </a:p>
        </p:txBody>
      </p:sp>
      <p:sp>
        <p:nvSpPr>
          <p:cNvPr id="18" name="Text 16"/>
          <p:cNvSpPr/>
          <p:nvPr/>
        </p:nvSpPr>
        <p:spPr>
          <a:xfrm>
            <a:off x="4507992" y="2468880"/>
            <a:ext cx="3200400" cy="1097280"/>
          </a:xfrm>
          <a:prstGeom prst="rect">
            <a:avLst/>
          </a:prstGeom>
          <a:noFill/>
          <a:ln/>
        </p:spPr>
        <p:txBody>
          <a:bodyPr wrap="square" rtlCol="0" anchor="t"/>
          <a:lstStyle/>
          <a:p>
            <a:pPr indent="0" marL="0">
              <a:buNone/>
            </a:pPr>
            <a:r>
              <a:rPr lang="en-US" sz="1200" dirty="0">
                <a:solidFill>
                  <a:srgbClr val="5F5F5F"/>
                </a:solidFill>
                <a:latin typeface="Segoe UI" pitchFamily="34" charset="0"/>
                <a:ea typeface="Segoe UI" pitchFamily="34" charset="-122"/>
                <a:cs typeface="Segoe UI" pitchFamily="34" charset="-120"/>
              </a:rPr>
              <a:t>No decisions on urgency, fitness, compatibility or substitution. The blood centre's screening decides.</a:t>
            </a:r>
            <a:endParaRPr lang="en-US" sz="1200" dirty="0"/>
          </a:p>
        </p:txBody>
      </p:sp>
      <p:sp>
        <p:nvSpPr>
          <p:cNvPr id="19" name="Shape 17"/>
          <p:cNvSpPr/>
          <p:nvPr/>
        </p:nvSpPr>
        <p:spPr>
          <a:xfrm>
            <a:off x="8010144" y="1554480"/>
            <a:ext cx="3611880" cy="2103120"/>
          </a:xfrm>
          <a:prstGeom prst="roundRect">
            <a:avLst>
              <a:gd name="adj" fmla="val 5217"/>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8147304" y="1554480"/>
            <a:ext cx="3337560" cy="64008"/>
          </a:xfrm>
          <a:prstGeom prst="rect">
            <a:avLst/>
          </a:prstGeom>
          <a:solidFill>
            <a:srgbClr val="1F8A70"/>
          </a:solidFill>
          <a:ln w="12700">
            <a:solidFill>
              <a:srgbClr val="1F8A70"/>
            </a:solidFill>
            <a:prstDash val="solid"/>
          </a:ln>
        </p:spPr>
      </p:sp>
      <p:sp>
        <p:nvSpPr>
          <p:cNvPr id="21" name="Shape 19"/>
          <p:cNvSpPr/>
          <p:nvPr/>
        </p:nvSpPr>
        <p:spPr>
          <a:xfrm>
            <a:off x="8238744" y="1828800"/>
            <a:ext cx="548640" cy="548640"/>
          </a:xfrm>
          <a:prstGeom prst="ellipse">
            <a:avLst/>
          </a:prstGeom>
          <a:solidFill>
            <a:srgbClr val="1F8A70"/>
          </a:solidFill>
          <a:ln w="12700">
            <a:solidFill>
              <a:srgbClr val="1F8A70"/>
            </a:solidFill>
            <a:prstDash val="solid"/>
          </a:ln>
        </p:spPr>
      </p:sp>
      <p:sp>
        <p:nvSpPr>
          <p:cNvPr id="22" name="Text 20"/>
          <p:cNvSpPr/>
          <p:nvPr/>
        </p:nvSpPr>
        <p:spPr>
          <a:xfrm>
            <a:off x="8238744" y="1828800"/>
            <a:ext cx="548640" cy="54864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a:t>
            </a:r>
            <a:endParaRPr lang="en-US" sz="1800" dirty="0"/>
          </a:p>
        </p:txBody>
      </p:sp>
      <p:sp>
        <p:nvSpPr>
          <p:cNvPr id="23" name="Text 21"/>
          <p:cNvSpPr/>
          <p:nvPr/>
        </p:nvSpPr>
        <p:spPr>
          <a:xfrm>
            <a:off x="8878824" y="1810512"/>
            <a:ext cx="2606040" cy="594360"/>
          </a:xfrm>
          <a:prstGeom prst="rect">
            <a:avLst/>
          </a:prstGeom>
          <a:noFill/>
          <a:ln/>
        </p:spPr>
        <p:txBody>
          <a:bodyPr wrap="square" rtlCol="0" anchor="ctr"/>
          <a:lstStyle/>
          <a:p>
            <a:pPr indent="0" marL="0">
              <a:buNone/>
            </a:pPr>
            <a:r>
              <a:rPr lang="en-US" sz="1500" b="1" dirty="0">
                <a:solidFill>
                  <a:srgbClr val="2B0A10"/>
                </a:solidFill>
                <a:latin typeface="Segoe UI" pitchFamily="34" charset="0"/>
                <a:ea typeface="Segoe UI" pitchFamily="34" charset="-122"/>
                <a:cs typeface="Segoe UI" pitchFamily="34" charset="-120"/>
              </a:rPr>
              <a:t>Consent for each purpose</a:t>
            </a:r>
            <a:endParaRPr lang="en-US" sz="1500" dirty="0"/>
          </a:p>
        </p:txBody>
      </p:sp>
      <p:sp>
        <p:nvSpPr>
          <p:cNvPr id="24" name="Text 22"/>
          <p:cNvSpPr/>
          <p:nvPr/>
        </p:nvSpPr>
        <p:spPr>
          <a:xfrm>
            <a:off x="8238744" y="2468880"/>
            <a:ext cx="3200400" cy="1097280"/>
          </a:xfrm>
          <a:prstGeom prst="rect">
            <a:avLst/>
          </a:prstGeom>
          <a:noFill/>
          <a:ln/>
        </p:spPr>
        <p:txBody>
          <a:bodyPr wrap="square" rtlCol="0" anchor="t"/>
          <a:lstStyle/>
          <a:p>
            <a:pPr indent="0" marL="0">
              <a:buNone/>
            </a:pPr>
            <a:r>
              <a:rPr lang="en-US" sz="1200" dirty="0">
                <a:solidFill>
                  <a:srgbClr val="5F5F5F"/>
                </a:solidFill>
                <a:latin typeface="Segoe UI" pitchFamily="34" charset="0"/>
                <a:ea typeface="Segoe UI" pitchFamily="34" charset="-122"/>
                <a:cs typeface="Segoe UI" pitchFamily="34" charset="-120"/>
              </a:rPr>
              <a:t>Separate in-chat buttons: alerts · reminders · location · contact sharing. "STOP" withdraws anytime.</a:t>
            </a:r>
            <a:endParaRPr lang="en-US" sz="1200" dirty="0"/>
          </a:p>
        </p:txBody>
      </p:sp>
      <p:sp>
        <p:nvSpPr>
          <p:cNvPr id="25" name="Shape 23"/>
          <p:cNvSpPr/>
          <p:nvPr/>
        </p:nvSpPr>
        <p:spPr>
          <a:xfrm>
            <a:off x="548640" y="3886200"/>
            <a:ext cx="3611880" cy="2103120"/>
          </a:xfrm>
          <a:prstGeom prst="roundRect">
            <a:avLst>
              <a:gd name="adj" fmla="val 5217"/>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26" name="Shape 24"/>
          <p:cNvSpPr/>
          <p:nvPr/>
        </p:nvSpPr>
        <p:spPr>
          <a:xfrm>
            <a:off x="685800" y="3886200"/>
            <a:ext cx="3337560" cy="64008"/>
          </a:xfrm>
          <a:prstGeom prst="rect">
            <a:avLst/>
          </a:prstGeom>
          <a:solidFill>
            <a:srgbClr val="1F8A70"/>
          </a:solidFill>
          <a:ln w="12700">
            <a:solidFill>
              <a:srgbClr val="1F8A70"/>
            </a:solidFill>
            <a:prstDash val="solid"/>
          </a:ln>
        </p:spPr>
      </p:sp>
      <p:sp>
        <p:nvSpPr>
          <p:cNvPr id="27" name="Shape 25"/>
          <p:cNvSpPr/>
          <p:nvPr/>
        </p:nvSpPr>
        <p:spPr>
          <a:xfrm>
            <a:off x="777240" y="4160520"/>
            <a:ext cx="548640" cy="548640"/>
          </a:xfrm>
          <a:prstGeom prst="ellipse">
            <a:avLst/>
          </a:prstGeom>
          <a:solidFill>
            <a:srgbClr val="1F8A70"/>
          </a:solidFill>
          <a:ln w="12700">
            <a:solidFill>
              <a:srgbClr val="1F8A70"/>
            </a:solidFill>
            <a:prstDash val="solid"/>
          </a:ln>
        </p:spPr>
      </p:sp>
      <p:sp>
        <p:nvSpPr>
          <p:cNvPr id="28" name="Text 26"/>
          <p:cNvSpPr/>
          <p:nvPr/>
        </p:nvSpPr>
        <p:spPr>
          <a:xfrm>
            <a:off x="777240" y="4160520"/>
            <a:ext cx="548640" cy="54864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a:t>
            </a:r>
            <a:endParaRPr lang="en-US" sz="1800" dirty="0"/>
          </a:p>
        </p:txBody>
      </p:sp>
      <p:sp>
        <p:nvSpPr>
          <p:cNvPr id="29" name="Text 27"/>
          <p:cNvSpPr/>
          <p:nvPr/>
        </p:nvSpPr>
        <p:spPr>
          <a:xfrm>
            <a:off x="1417320" y="4142232"/>
            <a:ext cx="2606040" cy="594360"/>
          </a:xfrm>
          <a:prstGeom prst="rect">
            <a:avLst/>
          </a:prstGeom>
          <a:noFill/>
          <a:ln/>
        </p:spPr>
        <p:txBody>
          <a:bodyPr wrap="square" rtlCol="0" anchor="ctr"/>
          <a:lstStyle/>
          <a:p>
            <a:pPr indent="0" marL="0">
              <a:buNone/>
            </a:pPr>
            <a:r>
              <a:rPr lang="en-US" sz="1500" b="1" dirty="0">
                <a:solidFill>
                  <a:srgbClr val="2B0A10"/>
                </a:solidFill>
                <a:latin typeface="Segoe UI" pitchFamily="34" charset="0"/>
                <a:ea typeface="Segoe UI" pitchFamily="34" charset="-122"/>
                <a:cs typeface="Segoe UI" pitchFamily="34" charset="-120"/>
              </a:rPr>
              <a:t>Privacy-preserving location</a:t>
            </a:r>
            <a:endParaRPr lang="en-US" sz="1500" dirty="0"/>
          </a:p>
        </p:txBody>
      </p:sp>
      <p:sp>
        <p:nvSpPr>
          <p:cNvPr id="30" name="Text 28"/>
          <p:cNvSpPr/>
          <p:nvPr/>
        </p:nvSpPr>
        <p:spPr>
          <a:xfrm>
            <a:off x="777240" y="4800600"/>
            <a:ext cx="3200400" cy="1097280"/>
          </a:xfrm>
          <a:prstGeom prst="rect">
            <a:avLst/>
          </a:prstGeom>
          <a:noFill/>
          <a:ln/>
        </p:spPr>
        <p:txBody>
          <a:bodyPr wrap="square" rtlCol="0" anchor="t"/>
          <a:lstStyle/>
          <a:p>
            <a:pPr indent="0" marL="0">
              <a:buNone/>
            </a:pPr>
            <a:r>
              <a:rPr lang="en-US" sz="1200" dirty="0">
                <a:solidFill>
                  <a:srgbClr val="5F5F5F"/>
                </a:solidFill>
                <a:latin typeface="Segoe UI" pitchFamily="34" charset="0"/>
                <a:ea typeface="Segoe UI" pitchFamily="34" charset="-122"/>
                <a:cs typeface="Segoe UI" pitchFamily="34" charset="-120"/>
              </a:rPr>
              <a:t>Manual updates only, stored at ~1 km. No live tracking, no Aadhaar, minimal medical data.</a:t>
            </a:r>
            <a:endParaRPr lang="en-US" sz="1200" dirty="0"/>
          </a:p>
        </p:txBody>
      </p:sp>
      <p:sp>
        <p:nvSpPr>
          <p:cNvPr id="31" name="Shape 29"/>
          <p:cNvSpPr/>
          <p:nvPr/>
        </p:nvSpPr>
        <p:spPr>
          <a:xfrm>
            <a:off x="4279392" y="3886200"/>
            <a:ext cx="3611880" cy="2103120"/>
          </a:xfrm>
          <a:prstGeom prst="roundRect">
            <a:avLst>
              <a:gd name="adj" fmla="val 5217"/>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32" name="Shape 30"/>
          <p:cNvSpPr/>
          <p:nvPr/>
        </p:nvSpPr>
        <p:spPr>
          <a:xfrm>
            <a:off x="4416552" y="3886200"/>
            <a:ext cx="3337560" cy="64008"/>
          </a:xfrm>
          <a:prstGeom prst="rect">
            <a:avLst/>
          </a:prstGeom>
          <a:solidFill>
            <a:srgbClr val="5A0F1C"/>
          </a:solidFill>
          <a:ln w="12700">
            <a:solidFill>
              <a:srgbClr val="5A0F1C"/>
            </a:solidFill>
            <a:prstDash val="solid"/>
          </a:ln>
        </p:spPr>
      </p:sp>
      <p:sp>
        <p:nvSpPr>
          <p:cNvPr id="33" name="Shape 31"/>
          <p:cNvSpPr/>
          <p:nvPr/>
        </p:nvSpPr>
        <p:spPr>
          <a:xfrm>
            <a:off x="4507992" y="4160520"/>
            <a:ext cx="548640" cy="548640"/>
          </a:xfrm>
          <a:prstGeom prst="ellipse">
            <a:avLst/>
          </a:prstGeom>
          <a:solidFill>
            <a:srgbClr val="5A0F1C"/>
          </a:solidFill>
          <a:ln w="12700">
            <a:solidFill>
              <a:srgbClr val="5A0F1C"/>
            </a:solidFill>
            <a:prstDash val="solid"/>
          </a:ln>
        </p:spPr>
      </p:sp>
      <p:sp>
        <p:nvSpPr>
          <p:cNvPr id="34" name="Text 32"/>
          <p:cNvSpPr/>
          <p:nvPr/>
        </p:nvSpPr>
        <p:spPr>
          <a:xfrm>
            <a:off x="4507992" y="4160520"/>
            <a:ext cx="548640" cy="54864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a:t>
            </a:r>
            <a:endParaRPr lang="en-US" sz="1800" dirty="0"/>
          </a:p>
        </p:txBody>
      </p:sp>
      <p:sp>
        <p:nvSpPr>
          <p:cNvPr id="35" name="Text 33"/>
          <p:cNvSpPr/>
          <p:nvPr/>
        </p:nvSpPr>
        <p:spPr>
          <a:xfrm>
            <a:off x="5148072" y="4142232"/>
            <a:ext cx="2606040" cy="594360"/>
          </a:xfrm>
          <a:prstGeom prst="rect">
            <a:avLst/>
          </a:prstGeom>
          <a:noFill/>
          <a:ln/>
        </p:spPr>
        <p:txBody>
          <a:bodyPr wrap="square" rtlCol="0" anchor="ctr"/>
          <a:lstStyle/>
          <a:p>
            <a:pPr indent="0" marL="0">
              <a:buNone/>
            </a:pPr>
            <a:r>
              <a:rPr lang="en-US" sz="1500" b="1" dirty="0">
                <a:solidFill>
                  <a:srgbClr val="2B0A10"/>
                </a:solidFill>
                <a:latin typeface="Segoe UI" pitchFamily="34" charset="0"/>
                <a:ea typeface="Segoe UI" pitchFamily="34" charset="-122"/>
                <a:cs typeface="Segoe UI" pitchFamily="34" charset="-120"/>
              </a:rPr>
              <a:t>Abuse protection</a:t>
            </a:r>
            <a:endParaRPr lang="en-US" sz="1500" dirty="0"/>
          </a:p>
        </p:txBody>
      </p:sp>
      <p:sp>
        <p:nvSpPr>
          <p:cNvPr id="36" name="Text 34"/>
          <p:cNvSpPr/>
          <p:nvPr/>
        </p:nvSpPr>
        <p:spPr>
          <a:xfrm>
            <a:off x="4507992" y="4800600"/>
            <a:ext cx="3200400" cy="1097280"/>
          </a:xfrm>
          <a:prstGeom prst="rect">
            <a:avLst/>
          </a:prstGeom>
          <a:noFill/>
          <a:ln/>
        </p:spPr>
        <p:txBody>
          <a:bodyPr wrap="square" rtlCol="0" anchor="t"/>
          <a:lstStyle/>
          <a:p>
            <a:pPr indent="0" marL="0">
              <a:buNone/>
            </a:pPr>
            <a:r>
              <a:rPr lang="en-US" sz="1200" dirty="0">
                <a:solidFill>
                  <a:srgbClr val="5F5F5F"/>
                </a:solidFill>
                <a:latin typeface="Segoe UI" pitchFamily="34" charset="0"/>
                <a:ea typeface="Segoe UI" pitchFamily="34" charset="-122"/>
                <a:cs typeface="Segoe UI" pitchFamily="34" charset="-120"/>
              </a:rPr>
              <a:t>Verification gate, rate limits, duplicate detection, report / block, no payment features.</a:t>
            </a:r>
            <a:endParaRPr lang="en-US" sz="1200" dirty="0"/>
          </a:p>
        </p:txBody>
      </p:sp>
      <p:sp>
        <p:nvSpPr>
          <p:cNvPr id="37" name="Shape 35"/>
          <p:cNvSpPr/>
          <p:nvPr/>
        </p:nvSpPr>
        <p:spPr>
          <a:xfrm>
            <a:off x="8010144" y="3886200"/>
            <a:ext cx="3611880" cy="2103120"/>
          </a:xfrm>
          <a:prstGeom prst="roundRect">
            <a:avLst>
              <a:gd name="adj" fmla="val 5217"/>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38" name="Shape 36"/>
          <p:cNvSpPr/>
          <p:nvPr/>
        </p:nvSpPr>
        <p:spPr>
          <a:xfrm>
            <a:off x="8147304" y="3886200"/>
            <a:ext cx="3337560" cy="64008"/>
          </a:xfrm>
          <a:prstGeom prst="rect">
            <a:avLst/>
          </a:prstGeom>
          <a:solidFill>
            <a:srgbClr val="C8102E"/>
          </a:solidFill>
          <a:ln w="12700">
            <a:solidFill>
              <a:srgbClr val="C8102E"/>
            </a:solidFill>
            <a:prstDash val="solid"/>
          </a:ln>
        </p:spPr>
      </p:sp>
      <p:sp>
        <p:nvSpPr>
          <p:cNvPr id="39" name="Shape 37"/>
          <p:cNvSpPr/>
          <p:nvPr/>
        </p:nvSpPr>
        <p:spPr>
          <a:xfrm>
            <a:off x="8238744" y="4160520"/>
            <a:ext cx="548640" cy="548640"/>
          </a:xfrm>
          <a:prstGeom prst="ellipse">
            <a:avLst/>
          </a:prstGeom>
          <a:solidFill>
            <a:srgbClr val="C8102E"/>
          </a:solidFill>
          <a:ln w="12700">
            <a:solidFill>
              <a:srgbClr val="C8102E"/>
            </a:solidFill>
            <a:prstDash val="solid"/>
          </a:ln>
        </p:spPr>
      </p:sp>
      <p:sp>
        <p:nvSpPr>
          <p:cNvPr id="40" name="Text 38"/>
          <p:cNvSpPr/>
          <p:nvPr/>
        </p:nvSpPr>
        <p:spPr>
          <a:xfrm>
            <a:off x="8238744" y="4160520"/>
            <a:ext cx="548640" cy="54864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a:t>
            </a:r>
            <a:endParaRPr lang="en-US" sz="1800" dirty="0"/>
          </a:p>
        </p:txBody>
      </p:sp>
      <p:sp>
        <p:nvSpPr>
          <p:cNvPr id="41" name="Text 39"/>
          <p:cNvSpPr/>
          <p:nvPr/>
        </p:nvSpPr>
        <p:spPr>
          <a:xfrm>
            <a:off x="8878824" y="4142232"/>
            <a:ext cx="2606040" cy="594360"/>
          </a:xfrm>
          <a:prstGeom prst="rect">
            <a:avLst/>
          </a:prstGeom>
          <a:noFill/>
          <a:ln/>
        </p:spPr>
        <p:txBody>
          <a:bodyPr wrap="square" rtlCol="0" anchor="ctr"/>
          <a:lstStyle/>
          <a:p>
            <a:pPr indent="0" marL="0">
              <a:buNone/>
            </a:pPr>
            <a:r>
              <a:rPr lang="en-US" sz="1500" b="1" dirty="0">
                <a:solidFill>
                  <a:srgbClr val="2B0A10"/>
                </a:solidFill>
                <a:latin typeface="Segoe UI" pitchFamily="34" charset="0"/>
                <a:ea typeface="Segoe UI" pitchFamily="34" charset="-122"/>
                <a:cs typeface="Segoe UI" pitchFamily="34" charset="-120"/>
              </a:rPr>
              <a:t>Ethical recognition</a:t>
            </a:r>
            <a:endParaRPr lang="en-US" sz="1500" dirty="0"/>
          </a:p>
        </p:txBody>
      </p:sp>
      <p:sp>
        <p:nvSpPr>
          <p:cNvPr id="42" name="Text 40"/>
          <p:cNvSpPr/>
          <p:nvPr/>
        </p:nvSpPr>
        <p:spPr>
          <a:xfrm>
            <a:off x="8238744" y="4800600"/>
            <a:ext cx="3200400" cy="1097280"/>
          </a:xfrm>
          <a:prstGeom prst="rect">
            <a:avLst/>
          </a:prstGeom>
          <a:noFill/>
          <a:ln/>
        </p:spPr>
        <p:txBody>
          <a:bodyPr wrap="square" rtlCol="0" anchor="t"/>
          <a:lstStyle/>
          <a:p>
            <a:pPr indent="0" marL="0">
              <a:buNone/>
            </a:pPr>
            <a:r>
              <a:rPr lang="en-US" sz="1200" dirty="0">
                <a:solidFill>
                  <a:srgbClr val="5F5F5F"/>
                </a:solidFill>
                <a:latin typeface="Segoe UI" pitchFamily="34" charset="0"/>
                <a:ea typeface="Segoe UI" pitchFamily="34" charset="-122"/>
                <a:cs typeface="Segoe UI" pitchFamily="34" charset="-120"/>
              </a:rPr>
              <a:t>Certificates and badges, not cash or coins. Token rewards stay OFF until official guidance arrives.</a:t>
            </a:r>
            <a:endParaRPr lang="en-US" sz="1200" dirty="0"/>
          </a:p>
        </p:txBody>
      </p:sp>
      <p:sp>
        <p:nvSpPr>
          <p:cNvPr id="43" name="Text 41"/>
          <p:cNvSpPr/>
          <p:nvPr/>
        </p:nvSpPr>
        <p:spPr>
          <a:xfrm>
            <a:off x="548640" y="6080760"/>
            <a:ext cx="10972800" cy="320040"/>
          </a:xfrm>
          <a:prstGeom prst="rect">
            <a:avLst/>
          </a:prstGeom>
          <a:noFill/>
          <a:ln/>
        </p:spPr>
        <p:txBody>
          <a:bodyPr wrap="square" rtlCol="0" anchor="ctr"/>
          <a:lstStyle/>
          <a:p>
            <a:pPr indent="0" marL="0">
              <a:buNone/>
            </a:pPr>
            <a:r>
              <a:rPr lang="en-US" sz="900" i="1" dirty="0">
                <a:solidFill>
                  <a:srgbClr val="5F5F5F"/>
                </a:solidFill>
                <a:latin typeface="Segoe UI" pitchFamily="34" charset="0"/>
                <a:ea typeface="Segoe UI" pitchFamily="34" charset="-122"/>
                <a:cs typeface="Segoe UI" pitchFamily="34" charset="-120"/>
              </a:rPr>
              <a:t>Designed with India's DPDP Act 2023 and NBTC voluntary-donation norms in mind (not legal advice). "DELETE MY DATA" erases the profile.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B0A1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102E"/>
          </a:solidFill>
          <a:ln w="12700">
            <a:solidFill>
              <a:srgbClr val="C8102E"/>
            </a:solidFill>
            <a:prstDash val="solid"/>
          </a:ln>
        </p:spPr>
      </p:sp>
      <p:sp>
        <p:nvSpPr>
          <p:cNvPr id="3" name="Text 1"/>
          <p:cNvSpPr/>
          <p:nvPr/>
        </p:nvSpPr>
        <p:spPr>
          <a:xfrm>
            <a:off x="411480" y="6446520"/>
            <a:ext cx="2743200" cy="274320"/>
          </a:xfrm>
          <a:prstGeom prst="rect">
            <a:avLst/>
          </a:prstGeom>
          <a:noFill/>
          <a:ln/>
        </p:spPr>
        <p:txBody>
          <a:bodyPr wrap="square" rtlCol="0" anchor="ctr"/>
          <a:lstStyle/>
          <a:p>
            <a:pPr indent="0" marL="0">
              <a:buNone/>
            </a:pPr>
            <a:r>
              <a:rPr lang="en-US" sz="1000" b="1" dirty="0">
                <a:solidFill>
                  <a:srgbClr val="F4A259"/>
                </a:solidFill>
                <a:latin typeface="Segoe UI" pitchFamily="34" charset="0"/>
                <a:ea typeface="Segoe UI" pitchFamily="34" charset="-122"/>
                <a:cs typeface="Segoe UI" pitchFamily="34" charset="-120"/>
              </a:rPr>
              <a:t>RaktDoot</a:t>
            </a:r>
            <a:endParaRPr lang="en-US" sz="1000" dirty="0"/>
          </a:p>
        </p:txBody>
      </p:sp>
      <p:sp>
        <p:nvSpPr>
          <p:cNvPr id="4" name="Text 2"/>
          <p:cNvSpPr/>
          <p:nvPr/>
        </p:nvSpPr>
        <p:spPr>
          <a:xfrm>
            <a:off x="11277295" y="6446520"/>
            <a:ext cx="548640" cy="274320"/>
          </a:xfrm>
          <a:prstGeom prst="rect">
            <a:avLst/>
          </a:prstGeom>
          <a:noFill/>
          <a:ln/>
        </p:spPr>
        <p:txBody>
          <a:bodyPr wrap="square" rtlCol="0" anchor="ctr"/>
          <a:lstStyle/>
          <a:p>
            <a:pPr algn="r" indent="0" marL="0">
              <a:buNone/>
            </a:pPr>
            <a:r>
              <a:rPr lang="en-US" sz="1000" dirty="0">
                <a:solidFill>
                  <a:srgbClr val="BBBBBB"/>
                </a:solidFill>
                <a:latin typeface="Segoe UI" pitchFamily="34" charset="0"/>
                <a:ea typeface="Segoe UI" pitchFamily="34" charset="-122"/>
                <a:cs typeface="Segoe UI" pitchFamily="34" charset="-120"/>
              </a:rPr>
              <a:t>13</a:t>
            </a:r>
            <a:endParaRPr lang="en-US" sz="1000" dirty="0"/>
          </a:p>
        </p:txBody>
      </p:sp>
      <p:sp>
        <p:nvSpPr>
          <p:cNvPr id="5" name="Text 3"/>
          <p:cNvSpPr/>
          <p:nvPr/>
        </p:nvSpPr>
        <p:spPr>
          <a:xfrm>
            <a:off x="548640" y="320040"/>
            <a:ext cx="9144000" cy="320040"/>
          </a:xfrm>
          <a:prstGeom prst="rect">
            <a:avLst/>
          </a:prstGeom>
          <a:noFill/>
          <a:ln/>
        </p:spPr>
        <p:txBody>
          <a:bodyPr wrap="square" rtlCol="0" anchor="ctr"/>
          <a:lstStyle/>
          <a:p>
            <a:pPr indent="0" marL="0">
              <a:buNone/>
            </a:pPr>
            <a:r>
              <a:rPr lang="en-US" sz="1200" b="1" spc="300" kern="0" dirty="0">
                <a:solidFill>
                  <a:srgbClr val="F4A259"/>
                </a:solidFill>
                <a:latin typeface="Segoe UI" pitchFamily="34" charset="0"/>
                <a:ea typeface="Segoe UI" pitchFamily="34" charset="-122"/>
                <a:cs typeface="Segoe UI" pitchFamily="34" charset="-120"/>
              </a:rPr>
              <a:t>UNDER THE HOOD</a:t>
            </a:r>
            <a:endParaRPr lang="en-US" sz="1200" dirty="0"/>
          </a:p>
        </p:txBody>
      </p:sp>
      <p:sp>
        <p:nvSpPr>
          <p:cNvPr id="6" name="Text 4"/>
          <p:cNvSpPr/>
          <p:nvPr/>
        </p:nvSpPr>
        <p:spPr>
          <a:xfrm>
            <a:off x="548640" y="640080"/>
            <a:ext cx="11064240" cy="777240"/>
          </a:xfrm>
          <a:prstGeom prst="rect">
            <a:avLst/>
          </a:prstGeom>
          <a:noFill/>
          <a:ln/>
        </p:spPr>
        <p:txBody>
          <a:bodyPr wrap="square" rtlCol="0" anchor="ctr"/>
          <a:lstStyle/>
          <a:p>
            <a:pPr indent="0" marL="0">
              <a:buNone/>
            </a:pPr>
            <a:r>
              <a:rPr lang="en-US" sz="3000" b="1" dirty="0">
                <a:solidFill>
                  <a:srgbClr val="FFFFFF"/>
                </a:solidFill>
                <a:latin typeface="Segoe UI" pitchFamily="34" charset="0"/>
                <a:ea typeface="Segoe UI" pitchFamily="34" charset="-122"/>
                <a:cs typeface="Segoe UI" pitchFamily="34" charset="-120"/>
              </a:rPr>
              <a:t>Cloud-native, API-first, event-driven architecture</a:t>
            </a:r>
            <a:endParaRPr lang="en-US" sz="3000" dirty="0"/>
          </a:p>
        </p:txBody>
      </p:sp>
      <p:sp>
        <p:nvSpPr>
          <p:cNvPr id="7" name="Text 5"/>
          <p:cNvSpPr/>
          <p:nvPr/>
        </p:nvSpPr>
        <p:spPr>
          <a:xfrm>
            <a:off x="548640" y="1481328"/>
            <a:ext cx="2651760" cy="256032"/>
          </a:xfrm>
          <a:prstGeom prst="rect">
            <a:avLst/>
          </a:prstGeom>
          <a:noFill/>
          <a:ln/>
        </p:spPr>
        <p:txBody>
          <a:bodyPr wrap="square" rtlCol="0" anchor="ctr"/>
          <a:lstStyle/>
          <a:p>
            <a:pPr indent="0" marL="0">
              <a:buNone/>
            </a:pPr>
            <a:r>
              <a:rPr lang="en-US" sz="900" b="1" spc="200" kern="0" dirty="0">
                <a:solidFill>
                  <a:srgbClr val="F4A259"/>
                </a:solidFill>
                <a:latin typeface="Segoe UI" pitchFamily="34" charset="0"/>
                <a:ea typeface="Segoe UI" pitchFamily="34" charset="-122"/>
                <a:cs typeface="Segoe UI" pitchFamily="34" charset="-120"/>
              </a:rPr>
              <a:t>EXPERIENCE LAYER</a:t>
            </a:r>
            <a:endParaRPr lang="en-US" sz="900" dirty="0"/>
          </a:p>
        </p:txBody>
      </p:sp>
      <p:sp>
        <p:nvSpPr>
          <p:cNvPr id="8" name="Shape 6"/>
          <p:cNvSpPr/>
          <p:nvPr/>
        </p:nvSpPr>
        <p:spPr>
          <a:xfrm>
            <a:off x="548640" y="1783080"/>
            <a:ext cx="2148840" cy="914400"/>
          </a:xfrm>
          <a:prstGeom prst="roundRect">
            <a:avLst>
              <a:gd name="adj" fmla="val 10000"/>
            </a:avLst>
          </a:prstGeom>
          <a:solidFill>
            <a:srgbClr val="5A0F1C"/>
          </a:solidFill>
          <a:ln w="19050">
            <a:solidFill>
              <a:srgbClr val="C8102E"/>
            </a:solidFill>
            <a:prstDash val="solid"/>
          </a:ln>
        </p:spPr>
      </p:sp>
      <p:sp>
        <p:nvSpPr>
          <p:cNvPr id="9" name="Text 7"/>
          <p:cNvSpPr/>
          <p:nvPr/>
        </p:nvSpPr>
        <p:spPr>
          <a:xfrm>
            <a:off x="621792" y="1783080"/>
            <a:ext cx="2002536" cy="91440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 RaktDoot App</a:t>
            </a:r>
            <a:endParaRPr lang="en-US" sz="1300" dirty="0"/>
          </a:p>
          <a:p>
            <a:pPr algn="ctr" indent="0" marL="0">
              <a:buNone/>
            </a:pPr>
            <a:r>
              <a:rPr lang="en-US" sz="1000" dirty="0">
                <a:solidFill>
                  <a:srgbClr val="D8C3C6"/>
                </a:solidFill>
                <a:latin typeface="Segoe UI" pitchFamily="34" charset="0"/>
                <a:ea typeface="Segoe UI" pitchFamily="34" charset="-122"/>
                <a:cs typeface="Segoe UI" pitchFamily="34" charset="-120"/>
              </a:rPr>
              <a:t>Families · PWA · Web Push</a:t>
            </a:r>
            <a:endParaRPr lang="en-US" sz="1300" dirty="0"/>
          </a:p>
        </p:txBody>
      </p:sp>
      <p:sp>
        <p:nvSpPr>
          <p:cNvPr id="10" name="Shape 8"/>
          <p:cNvSpPr/>
          <p:nvPr/>
        </p:nvSpPr>
        <p:spPr>
          <a:xfrm>
            <a:off x="548640" y="2880360"/>
            <a:ext cx="2148840" cy="914400"/>
          </a:xfrm>
          <a:prstGeom prst="roundRect">
            <a:avLst>
              <a:gd name="adj" fmla="val 10000"/>
            </a:avLst>
          </a:prstGeom>
          <a:solidFill>
            <a:srgbClr val="5A0F1C"/>
          </a:solidFill>
          <a:ln w="19050">
            <a:solidFill>
              <a:srgbClr val="1F8A70"/>
            </a:solidFill>
            <a:prstDash val="solid"/>
          </a:ln>
        </p:spPr>
      </p:sp>
      <p:sp>
        <p:nvSpPr>
          <p:cNvPr id="11" name="Text 9"/>
          <p:cNvSpPr/>
          <p:nvPr/>
        </p:nvSpPr>
        <p:spPr>
          <a:xfrm>
            <a:off x="621792" y="2880360"/>
            <a:ext cx="2002536" cy="91440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 WhatsApp Cloud API</a:t>
            </a:r>
            <a:endParaRPr lang="en-US" sz="1300" dirty="0"/>
          </a:p>
          <a:p>
            <a:pPr algn="ctr" indent="0" marL="0">
              <a:buNone/>
            </a:pPr>
            <a:r>
              <a:rPr lang="en-US" sz="1000" dirty="0">
                <a:solidFill>
                  <a:srgbClr val="D8C3C6"/>
                </a:solidFill>
                <a:latin typeface="Segoe UI" pitchFamily="34" charset="0"/>
                <a:ea typeface="Segoe UI" pitchFamily="34" charset="-122"/>
                <a:cs typeface="Segoe UI" pitchFamily="34" charset="-120"/>
              </a:rPr>
              <a:t>Donors · webhooks · buttons</a:t>
            </a:r>
            <a:endParaRPr lang="en-US" sz="1300" dirty="0"/>
          </a:p>
        </p:txBody>
      </p:sp>
      <p:sp>
        <p:nvSpPr>
          <p:cNvPr id="12" name="Shape 10"/>
          <p:cNvSpPr/>
          <p:nvPr/>
        </p:nvSpPr>
        <p:spPr>
          <a:xfrm>
            <a:off x="548640" y="3977640"/>
            <a:ext cx="2148840" cy="914400"/>
          </a:xfrm>
          <a:prstGeom prst="roundRect">
            <a:avLst>
              <a:gd name="adj" fmla="val 10000"/>
            </a:avLst>
          </a:prstGeom>
          <a:solidFill>
            <a:srgbClr val="5A0F1C"/>
          </a:solidFill>
          <a:ln w="19050">
            <a:solidFill>
              <a:srgbClr val="F4A259"/>
            </a:solidFill>
            <a:prstDash val="solid"/>
          </a:ln>
        </p:spPr>
      </p:sp>
      <p:sp>
        <p:nvSpPr>
          <p:cNvPr id="13" name="Text 11"/>
          <p:cNvSpPr/>
          <p:nvPr/>
        </p:nvSpPr>
        <p:spPr>
          <a:xfrm>
            <a:off x="621792" y="3977640"/>
            <a:ext cx="2002536" cy="91440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 Staff Console</a:t>
            </a:r>
            <a:endParaRPr lang="en-US" sz="1300" dirty="0"/>
          </a:p>
          <a:p>
            <a:pPr algn="ctr" indent="0" marL="0">
              <a:buNone/>
            </a:pPr>
            <a:r>
              <a:rPr lang="en-US" sz="1000" dirty="0">
                <a:solidFill>
                  <a:srgbClr val="D8C3C6"/>
                </a:solidFill>
                <a:latin typeface="Segoe UI" pitchFamily="34" charset="0"/>
                <a:ea typeface="Segoe UI" pitchFamily="34" charset="-122"/>
                <a:cs typeface="Segoe UI" pitchFamily="34" charset="-120"/>
              </a:rPr>
              <a:t>Hospitals · centres · NGOs</a:t>
            </a:r>
            <a:endParaRPr lang="en-US" sz="1300" dirty="0"/>
          </a:p>
        </p:txBody>
      </p:sp>
      <p:sp>
        <p:nvSpPr>
          <p:cNvPr id="14" name="Text 12"/>
          <p:cNvSpPr/>
          <p:nvPr/>
        </p:nvSpPr>
        <p:spPr>
          <a:xfrm>
            <a:off x="3108960" y="1481328"/>
            <a:ext cx="2651760" cy="256032"/>
          </a:xfrm>
          <a:prstGeom prst="rect">
            <a:avLst/>
          </a:prstGeom>
          <a:noFill/>
          <a:ln/>
        </p:spPr>
        <p:txBody>
          <a:bodyPr wrap="square" rtlCol="0" anchor="ctr"/>
          <a:lstStyle/>
          <a:p>
            <a:pPr indent="0" marL="0">
              <a:buNone/>
            </a:pPr>
            <a:r>
              <a:rPr lang="en-US" sz="900" b="1" spc="200" kern="0" dirty="0">
                <a:solidFill>
                  <a:srgbClr val="F4A259"/>
                </a:solidFill>
                <a:latin typeface="Segoe UI" pitchFamily="34" charset="0"/>
                <a:ea typeface="Segoe UI" pitchFamily="34" charset="-122"/>
                <a:cs typeface="Segoe UI" pitchFamily="34" charset="-120"/>
              </a:rPr>
              <a:t>SECURE API GATEWAY</a:t>
            </a:r>
            <a:endParaRPr lang="en-US" sz="900" dirty="0"/>
          </a:p>
        </p:txBody>
      </p:sp>
      <p:sp>
        <p:nvSpPr>
          <p:cNvPr id="15" name="Shape 13"/>
          <p:cNvSpPr/>
          <p:nvPr/>
        </p:nvSpPr>
        <p:spPr>
          <a:xfrm>
            <a:off x="3108960" y="1783080"/>
            <a:ext cx="1691640" cy="3108960"/>
          </a:xfrm>
          <a:prstGeom prst="roundRect">
            <a:avLst>
              <a:gd name="adj" fmla="val 5405"/>
            </a:avLst>
          </a:prstGeom>
          <a:solidFill>
            <a:srgbClr val="3D0A14"/>
          </a:solidFill>
          <a:ln w="19050">
            <a:solidFill>
              <a:srgbClr val="C8102E"/>
            </a:solidFill>
            <a:prstDash val="solid"/>
          </a:ln>
        </p:spPr>
      </p:sp>
      <p:sp>
        <p:nvSpPr>
          <p:cNvPr id="16" name="Text 14"/>
          <p:cNvSpPr/>
          <p:nvPr/>
        </p:nvSpPr>
        <p:spPr>
          <a:xfrm>
            <a:off x="3182112" y="1783080"/>
            <a:ext cx="1545336" cy="310896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 Next.js API layer</a:t>
            </a:r>
            <a:endParaRPr lang="en-US" sz="1400" dirty="0"/>
          </a:p>
          <a:p>
            <a:pPr algn="ctr" indent="0" marL="0">
              <a:buNone/>
            </a:pPr>
            <a:r>
              <a:rPr lang="en-US" sz="1000" dirty="0">
                <a:solidFill>
                  <a:srgbClr val="D8C3C6"/>
                </a:solidFill>
                <a:latin typeface="Segoe UI" pitchFamily="34" charset="0"/>
                <a:ea typeface="Segoe UI" pitchFamily="34" charset="-122"/>
                <a:cs typeface="Segoe UI" pitchFamily="34" charset="-120"/>
              </a:rPr>
              <a:t>Auth · RBAC</a:t>
            </a:r>
            <a:endParaRPr lang="en-US" sz="1400" dirty="0"/>
          </a:p>
          <a:p>
            <a:pPr algn="ctr" indent="0" marL="0">
              <a:buNone/>
            </a:pPr>
            <a:r>
              <a:rPr lang="en-US" sz="1000" dirty="0">
                <a:solidFill>
                  <a:srgbClr val="D8C3C6"/>
                </a:solidFill>
                <a:latin typeface="Segoe UI" pitchFamily="34" charset="0"/>
                <a:ea typeface="Segoe UI" pitchFamily="34" charset="-122"/>
                <a:cs typeface="Segoe UI" pitchFamily="34" charset="-120"/>
              </a:rPr>
              <a:t>schema validation</a:t>
            </a:r>
            <a:endParaRPr lang="en-US" sz="1400" dirty="0"/>
          </a:p>
          <a:p>
            <a:pPr algn="ctr" indent="0" marL="0">
              <a:buNone/>
            </a:pPr>
            <a:r>
              <a:rPr lang="en-US" sz="1000" dirty="0">
                <a:solidFill>
                  <a:srgbClr val="D8C3C6"/>
                </a:solidFill>
                <a:latin typeface="Segoe UI" pitchFamily="34" charset="0"/>
                <a:ea typeface="Segoe UI" pitchFamily="34" charset="-122"/>
                <a:cs typeface="Segoe UI" pitchFamily="34" charset="-120"/>
              </a:rPr>
              <a:t>rate limiting</a:t>
            </a:r>
            <a:endParaRPr lang="en-US" sz="1400" dirty="0"/>
          </a:p>
          <a:p>
            <a:pPr algn="ctr" indent="0" marL="0">
              <a:buNone/>
            </a:pPr>
            <a:r>
              <a:rPr lang="en-US" sz="1000" dirty="0">
                <a:solidFill>
                  <a:srgbClr val="D8C3C6"/>
                </a:solidFill>
                <a:latin typeface="Segoe UI" pitchFamily="34" charset="0"/>
                <a:ea typeface="Segoe UI" pitchFamily="34" charset="-122"/>
                <a:cs typeface="Segoe UI" pitchFamily="34" charset="-120"/>
              </a:rPr>
              <a:t>signed webhooks</a:t>
            </a:r>
            <a:endParaRPr lang="en-US" sz="1400" dirty="0"/>
          </a:p>
        </p:txBody>
      </p:sp>
      <p:sp>
        <p:nvSpPr>
          <p:cNvPr id="17" name="Text 15"/>
          <p:cNvSpPr/>
          <p:nvPr/>
        </p:nvSpPr>
        <p:spPr>
          <a:xfrm>
            <a:off x="5212080" y="1481328"/>
            <a:ext cx="2651760" cy="256032"/>
          </a:xfrm>
          <a:prstGeom prst="rect">
            <a:avLst/>
          </a:prstGeom>
          <a:noFill/>
          <a:ln/>
        </p:spPr>
        <p:txBody>
          <a:bodyPr wrap="square" rtlCol="0" anchor="ctr"/>
          <a:lstStyle/>
          <a:p>
            <a:pPr indent="0" marL="0">
              <a:buNone/>
            </a:pPr>
            <a:r>
              <a:rPr lang="en-US" sz="900" b="1" spc="200" kern="0" dirty="0">
                <a:solidFill>
                  <a:srgbClr val="F4A259"/>
                </a:solidFill>
                <a:latin typeface="Segoe UI" pitchFamily="34" charset="0"/>
                <a:ea typeface="Segoe UI" pitchFamily="34" charset="-122"/>
                <a:cs typeface="Segoe UI" pitchFamily="34" charset="-120"/>
              </a:rPr>
              <a:t>CORE DOMAIN SERVICES</a:t>
            </a:r>
            <a:endParaRPr lang="en-US" sz="900" dirty="0"/>
          </a:p>
        </p:txBody>
      </p:sp>
      <p:sp>
        <p:nvSpPr>
          <p:cNvPr id="18" name="Shape 16"/>
          <p:cNvSpPr/>
          <p:nvPr/>
        </p:nvSpPr>
        <p:spPr>
          <a:xfrm>
            <a:off x="5212080" y="1783080"/>
            <a:ext cx="1719072" cy="960120"/>
          </a:xfrm>
          <a:prstGeom prst="roundRect">
            <a:avLst>
              <a:gd name="adj" fmla="val 9524"/>
            </a:avLst>
          </a:prstGeom>
          <a:solidFill>
            <a:srgbClr val="5A0F1C"/>
          </a:solidFill>
          <a:ln w="19050">
            <a:solidFill>
              <a:srgbClr val="C8102E"/>
            </a:solidFill>
            <a:prstDash val="solid"/>
          </a:ln>
        </p:spPr>
      </p:sp>
      <p:sp>
        <p:nvSpPr>
          <p:cNvPr id="19" name="Text 17"/>
          <p:cNvSpPr/>
          <p:nvPr/>
        </p:nvSpPr>
        <p:spPr>
          <a:xfrm>
            <a:off x="5285232" y="1783080"/>
            <a:ext cx="1572768" cy="960120"/>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 AI Intake</a:t>
            </a:r>
            <a:endParaRPr lang="en-US" sz="1200" dirty="0"/>
          </a:p>
          <a:p>
            <a:pPr algn="ctr" indent="0" marL="0">
              <a:buNone/>
            </a:pPr>
            <a:r>
              <a:rPr lang="en-US" sz="1000" dirty="0">
                <a:solidFill>
                  <a:srgbClr val="D8C3C6"/>
                </a:solidFill>
                <a:latin typeface="Segoe UI" pitchFamily="34" charset="0"/>
                <a:ea typeface="Segoe UI" pitchFamily="34" charset="-122"/>
                <a:cs typeface="Segoe UI" pitchFamily="34" charset="-120"/>
              </a:rPr>
              <a:t>NLP · speech-to-text</a:t>
            </a:r>
            <a:endParaRPr lang="en-US" sz="1200" dirty="0"/>
          </a:p>
        </p:txBody>
      </p:sp>
      <p:sp>
        <p:nvSpPr>
          <p:cNvPr id="20" name="Shape 18"/>
          <p:cNvSpPr/>
          <p:nvPr/>
        </p:nvSpPr>
        <p:spPr>
          <a:xfrm>
            <a:off x="7022592" y="1783080"/>
            <a:ext cx="1719072" cy="960120"/>
          </a:xfrm>
          <a:prstGeom prst="roundRect">
            <a:avLst>
              <a:gd name="adj" fmla="val 9524"/>
            </a:avLst>
          </a:prstGeom>
          <a:solidFill>
            <a:srgbClr val="5A0F1C"/>
          </a:solidFill>
          <a:ln w="19050">
            <a:solidFill>
              <a:srgbClr val="1F8A70"/>
            </a:solidFill>
            <a:prstDash val="solid"/>
          </a:ln>
        </p:spPr>
      </p:sp>
      <p:sp>
        <p:nvSpPr>
          <p:cNvPr id="21" name="Text 19"/>
          <p:cNvSpPr/>
          <p:nvPr/>
        </p:nvSpPr>
        <p:spPr>
          <a:xfrm>
            <a:off x="7095744" y="1783080"/>
            <a:ext cx="1572768" cy="960120"/>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 Geo Discovery</a:t>
            </a:r>
            <a:endParaRPr lang="en-US" sz="1200" dirty="0"/>
          </a:p>
          <a:p>
            <a:pPr algn="ctr" indent="0" marL="0">
              <a:buNone/>
            </a:pPr>
            <a:r>
              <a:rPr lang="en-US" sz="1000" dirty="0">
                <a:solidFill>
                  <a:srgbClr val="D8C3C6"/>
                </a:solidFill>
                <a:latin typeface="Segoe UI" pitchFamily="34" charset="0"/>
                <a:ea typeface="Segoe UI" pitchFamily="34" charset="-122"/>
                <a:cs typeface="Segoe UI" pitchFamily="34" charset="-120"/>
              </a:rPr>
              <a:t>centres · stock freshness</a:t>
            </a:r>
            <a:endParaRPr lang="en-US" sz="1200" dirty="0"/>
          </a:p>
        </p:txBody>
      </p:sp>
      <p:sp>
        <p:nvSpPr>
          <p:cNvPr id="22" name="Shape 20"/>
          <p:cNvSpPr/>
          <p:nvPr/>
        </p:nvSpPr>
        <p:spPr>
          <a:xfrm>
            <a:off x="5212080" y="2852928"/>
            <a:ext cx="1719072" cy="960120"/>
          </a:xfrm>
          <a:prstGeom prst="roundRect">
            <a:avLst>
              <a:gd name="adj" fmla="val 9524"/>
            </a:avLst>
          </a:prstGeom>
          <a:solidFill>
            <a:srgbClr val="5A0F1C"/>
          </a:solidFill>
          <a:ln w="19050">
            <a:solidFill>
              <a:srgbClr val="C8102E"/>
            </a:solidFill>
            <a:prstDash val="solid"/>
          </a:ln>
        </p:spPr>
      </p:sp>
      <p:sp>
        <p:nvSpPr>
          <p:cNvPr id="23" name="Text 21"/>
          <p:cNvSpPr/>
          <p:nvPr/>
        </p:nvSpPr>
        <p:spPr>
          <a:xfrm>
            <a:off x="5285232" y="2852928"/>
            <a:ext cx="1572768" cy="960120"/>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 Verification</a:t>
            </a:r>
            <a:endParaRPr lang="en-US" sz="1200" dirty="0"/>
          </a:p>
          <a:p>
            <a:pPr algn="ctr" indent="0" marL="0">
              <a:buNone/>
            </a:pPr>
            <a:r>
              <a:rPr lang="en-US" sz="1000" dirty="0">
                <a:solidFill>
                  <a:srgbClr val="D8C3C6"/>
                </a:solidFill>
                <a:latin typeface="Segoe UI" pitchFamily="34" charset="0"/>
                <a:ea typeface="Segoe UI" pitchFamily="34" charset="-122"/>
                <a:cs typeface="Segoe UI" pitchFamily="34" charset="-120"/>
              </a:rPr>
              <a:t>trust &amp; safety gate</a:t>
            </a:r>
            <a:endParaRPr lang="en-US" sz="1200" dirty="0"/>
          </a:p>
        </p:txBody>
      </p:sp>
      <p:sp>
        <p:nvSpPr>
          <p:cNvPr id="24" name="Shape 22"/>
          <p:cNvSpPr/>
          <p:nvPr/>
        </p:nvSpPr>
        <p:spPr>
          <a:xfrm>
            <a:off x="7022592" y="2852928"/>
            <a:ext cx="1719072" cy="960120"/>
          </a:xfrm>
          <a:prstGeom prst="roundRect">
            <a:avLst>
              <a:gd name="adj" fmla="val 9524"/>
            </a:avLst>
          </a:prstGeom>
          <a:solidFill>
            <a:srgbClr val="5A0F1C"/>
          </a:solidFill>
          <a:ln w="19050">
            <a:solidFill>
              <a:srgbClr val="1F8A70"/>
            </a:solidFill>
            <a:prstDash val="solid"/>
          </a:ln>
        </p:spPr>
      </p:sp>
      <p:sp>
        <p:nvSpPr>
          <p:cNvPr id="25" name="Text 23"/>
          <p:cNvSpPr/>
          <p:nvPr/>
        </p:nvSpPr>
        <p:spPr>
          <a:xfrm>
            <a:off x="7095744" y="2852928"/>
            <a:ext cx="1572768" cy="960120"/>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 Smart Matching</a:t>
            </a:r>
            <a:endParaRPr lang="en-US" sz="1200" dirty="0"/>
          </a:p>
          <a:p>
            <a:pPr algn="ctr" indent="0" marL="0">
              <a:buNone/>
            </a:pPr>
            <a:r>
              <a:rPr lang="en-US" sz="1000" dirty="0">
                <a:solidFill>
                  <a:srgbClr val="D8C3C6"/>
                </a:solidFill>
                <a:latin typeface="Segoe UI" pitchFamily="34" charset="0"/>
                <a:ea typeface="Segoe UI" pitchFamily="34" charset="-122"/>
                <a:cs typeface="Segoe UI" pitchFamily="34" charset="-120"/>
              </a:rPr>
              <a:t>explainable scoring</a:t>
            </a:r>
            <a:endParaRPr lang="en-US" sz="1200" dirty="0"/>
          </a:p>
        </p:txBody>
      </p:sp>
      <p:sp>
        <p:nvSpPr>
          <p:cNvPr id="26" name="Shape 24"/>
          <p:cNvSpPr/>
          <p:nvPr/>
        </p:nvSpPr>
        <p:spPr>
          <a:xfrm>
            <a:off x="5212080" y="3922776"/>
            <a:ext cx="1719072" cy="960120"/>
          </a:xfrm>
          <a:prstGeom prst="roundRect">
            <a:avLst>
              <a:gd name="adj" fmla="val 9524"/>
            </a:avLst>
          </a:prstGeom>
          <a:solidFill>
            <a:srgbClr val="5A0F1C"/>
          </a:solidFill>
          <a:ln w="19050">
            <a:solidFill>
              <a:srgbClr val="C8102E"/>
            </a:solidFill>
            <a:prstDash val="solid"/>
          </a:ln>
        </p:spPr>
      </p:sp>
      <p:sp>
        <p:nvSpPr>
          <p:cNvPr id="27" name="Text 25"/>
          <p:cNvSpPr/>
          <p:nvPr/>
        </p:nvSpPr>
        <p:spPr>
          <a:xfrm>
            <a:off x="5285232" y="3922776"/>
            <a:ext cx="1572768" cy="960120"/>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 Outreach Engine</a:t>
            </a:r>
            <a:endParaRPr lang="en-US" sz="1200" dirty="0"/>
          </a:p>
          <a:p>
            <a:pPr algn="ctr" indent="0" marL="0">
              <a:buNone/>
            </a:pPr>
            <a:r>
              <a:rPr lang="en-US" sz="1000" dirty="0">
                <a:solidFill>
                  <a:srgbClr val="D8C3C6"/>
                </a:solidFill>
                <a:latin typeface="Segoe UI" pitchFamily="34" charset="0"/>
                <a:ea typeface="Segoe UI" pitchFamily="34" charset="-122"/>
                <a:cs typeface="Segoe UI" pitchFamily="34" charset="-120"/>
              </a:rPr>
              <a:t>waves · stand-down</a:t>
            </a:r>
            <a:endParaRPr lang="en-US" sz="1200" dirty="0"/>
          </a:p>
        </p:txBody>
      </p:sp>
      <p:sp>
        <p:nvSpPr>
          <p:cNvPr id="28" name="Shape 26"/>
          <p:cNvSpPr/>
          <p:nvPr/>
        </p:nvSpPr>
        <p:spPr>
          <a:xfrm>
            <a:off x="7022592" y="3922776"/>
            <a:ext cx="1719072" cy="960120"/>
          </a:xfrm>
          <a:prstGeom prst="roundRect">
            <a:avLst>
              <a:gd name="adj" fmla="val 9524"/>
            </a:avLst>
          </a:prstGeom>
          <a:solidFill>
            <a:srgbClr val="5A0F1C"/>
          </a:solidFill>
          <a:ln w="19050">
            <a:solidFill>
              <a:srgbClr val="1F8A70"/>
            </a:solidFill>
            <a:prstDash val="solid"/>
          </a:ln>
        </p:spPr>
      </p:sp>
      <p:sp>
        <p:nvSpPr>
          <p:cNvPr id="29" name="Text 27"/>
          <p:cNvSpPr/>
          <p:nvPr/>
        </p:nvSpPr>
        <p:spPr>
          <a:xfrm>
            <a:off x="7095744" y="3922776"/>
            <a:ext cx="1572768" cy="960120"/>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 Case Lifecycle</a:t>
            </a:r>
            <a:endParaRPr lang="en-US" sz="1200" dirty="0"/>
          </a:p>
          <a:p>
            <a:pPr algn="ctr" indent="0" marL="0">
              <a:buNone/>
            </a:pPr>
            <a:r>
              <a:rPr lang="en-US" sz="1000" dirty="0">
                <a:solidFill>
                  <a:srgbClr val="D8C3C6"/>
                </a:solidFill>
                <a:latin typeface="Segoe UI" pitchFamily="34" charset="0"/>
                <a:ea typeface="Segoe UI" pitchFamily="34" charset="-122"/>
                <a:cs typeface="Segoe UI" pitchFamily="34" charset="-120"/>
              </a:rPr>
              <a:t>state machine · audit</a:t>
            </a:r>
            <a:endParaRPr lang="en-US" sz="1200" dirty="0"/>
          </a:p>
        </p:txBody>
      </p:sp>
      <p:sp>
        <p:nvSpPr>
          <p:cNvPr id="30" name="Text 28"/>
          <p:cNvSpPr/>
          <p:nvPr/>
        </p:nvSpPr>
        <p:spPr>
          <a:xfrm>
            <a:off x="9006840" y="1481328"/>
            <a:ext cx="2651760" cy="256032"/>
          </a:xfrm>
          <a:prstGeom prst="rect">
            <a:avLst/>
          </a:prstGeom>
          <a:noFill/>
          <a:ln/>
        </p:spPr>
        <p:txBody>
          <a:bodyPr wrap="square" rtlCol="0" anchor="ctr"/>
          <a:lstStyle/>
          <a:p>
            <a:pPr indent="0" marL="0">
              <a:buNone/>
            </a:pPr>
            <a:r>
              <a:rPr lang="en-US" sz="900" b="1" spc="200" kern="0" dirty="0">
                <a:solidFill>
                  <a:srgbClr val="F4A259"/>
                </a:solidFill>
                <a:latin typeface="Segoe UI" pitchFamily="34" charset="0"/>
                <a:ea typeface="Segoe UI" pitchFamily="34" charset="-122"/>
                <a:cs typeface="Segoe UI" pitchFamily="34" charset="-120"/>
              </a:rPr>
              <a:t>INTELLIGENCE LAYER</a:t>
            </a:r>
            <a:endParaRPr lang="en-US" sz="900" dirty="0"/>
          </a:p>
        </p:txBody>
      </p:sp>
      <p:sp>
        <p:nvSpPr>
          <p:cNvPr id="31" name="Shape 29"/>
          <p:cNvSpPr/>
          <p:nvPr/>
        </p:nvSpPr>
        <p:spPr>
          <a:xfrm>
            <a:off x="9006840" y="1783080"/>
            <a:ext cx="2606040" cy="896112"/>
          </a:xfrm>
          <a:prstGeom prst="roundRect">
            <a:avLst>
              <a:gd name="adj" fmla="val 10204"/>
            </a:avLst>
          </a:prstGeom>
          <a:solidFill>
            <a:srgbClr val="5A0F1C"/>
          </a:solidFill>
          <a:ln w="19050">
            <a:solidFill>
              <a:srgbClr val="F4A259"/>
            </a:solidFill>
            <a:prstDash val="solid"/>
          </a:ln>
        </p:spPr>
      </p:sp>
      <p:sp>
        <p:nvSpPr>
          <p:cNvPr id="32" name="Text 30"/>
          <p:cNvSpPr/>
          <p:nvPr/>
        </p:nvSpPr>
        <p:spPr>
          <a:xfrm>
            <a:off x="9079992" y="1783080"/>
            <a:ext cx="2459736" cy="896112"/>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 GenAI layer</a:t>
            </a:r>
            <a:endParaRPr lang="en-US" sz="1200" dirty="0"/>
          </a:p>
          <a:p>
            <a:pPr algn="ctr" indent="0" marL="0">
              <a:buNone/>
            </a:pPr>
            <a:r>
              <a:rPr lang="en-US" sz="1000" dirty="0">
                <a:solidFill>
                  <a:srgbClr val="D8C3C6"/>
                </a:solidFill>
                <a:latin typeface="Segoe UI" pitchFamily="34" charset="0"/>
                <a:ea typeface="Segoe UI" pitchFamily="34" charset="-122"/>
                <a:cs typeface="Segoe UI" pitchFamily="34" charset="-120"/>
              </a:rPr>
              <a:t>Gemini + Groq (Whisper) · auto-failover</a:t>
            </a:r>
            <a:endParaRPr lang="en-US" sz="1200" dirty="0"/>
          </a:p>
        </p:txBody>
      </p:sp>
      <p:sp>
        <p:nvSpPr>
          <p:cNvPr id="33" name="Shape 31"/>
          <p:cNvSpPr/>
          <p:nvPr/>
        </p:nvSpPr>
        <p:spPr>
          <a:xfrm>
            <a:off x="9006840" y="2798064"/>
            <a:ext cx="2606040" cy="896112"/>
          </a:xfrm>
          <a:prstGeom prst="roundRect">
            <a:avLst>
              <a:gd name="adj" fmla="val 10204"/>
            </a:avLst>
          </a:prstGeom>
          <a:solidFill>
            <a:srgbClr val="5A0F1C"/>
          </a:solidFill>
          <a:ln w="19050">
            <a:solidFill>
              <a:srgbClr val="F4A259"/>
            </a:solidFill>
            <a:prstDash val="solid"/>
          </a:ln>
        </p:spPr>
      </p:sp>
      <p:sp>
        <p:nvSpPr>
          <p:cNvPr id="34" name="Text 32"/>
          <p:cNvSpPr/>
          <p:nvPr/>
        </p:nvSpPr>
        <p:spPr>
          <a:xfrm>
            <a:off x="9079992" y="2798064"/>
            <a:ext cx="2459736" cy="896112"/>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 Predictive ML service</a:t>
            </a:r>
            <a:endParaRPr lang="en-US" sz="1200" dirty="0"/>
          </a:p>
          <a:p>
            <a:pPr algn="ctr" indent="0" marL="0">
              <a:buNone/>
            </a:pPr>
            <a:r>
              <a:rPr lang="en-US" sz="1000" dirty="0">
                <a:solidFill>
                  <a:srgbClr val="D8C3C6"/>
                </a:solidFill>
                <a:latin typeface="Segoe UI" pitchFamily="34" charset="0"/>
                <a:ea typeface="Segoe UI" pitchFamily="34" charset="-122"/>
                <a:cs typeface="Segoe UI" pitchFamily="34" charset="-120"/>
              </a:rPr>
              <a:t>FastAPI · scikit-learn · P10–P90</a:t>
            </a:r>
            <a:endParaRPr lang="en-US" sz="1200" dirty="0"/>
          </a:p>
        </p:txBody>
      </p:sp>
      <p:sp>
        <p:nvSpPr>
          <p:cNvPr id="35" name="Shape 33"/>
          <p:cNvSpPr/>
          <p:nvPr/>
        </p:nvSpPr>
        <p:spPr>
          <a:xfrm>
            <a:off x="9006840" y="3813048"/>
            <a:ext cx="2606040" cy="896112"/>
          </a:xfrm>
          <a:prstGeom prst="roundRect">
            <a:avLst>
              <a:gd name="adj" fmla="val 10204"/>
            </a:avLst>
          </a:prstGeom>
          <a:solidFill>
            <a:srgbClr val="5A0F1C"/>
          </a:solidFill>
          <a:ln w="19050">
            <a:solidFill>
              <a:srgbClr val="F4A259"/>
            </a:solidFill>
            <a:prstDash val="solid"/>
          </a:ln>
        </p:spPr>
      </p:sp>
      <p:sp>
        <p:nvSpPr>
          <p:cNvPr id="36" name="Text 34"/>
          <p:cNvSpPr/>
          <p:nvPr/>
        </p:nvSpPr>
        <p:spPr>
          <a:xfrm>
            <a:off x="9079992" y="3813048"/>
            <a:ext cx="2459736" cy="896112"/>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 Agentic Copilot</a:t>
            </a:r>
            <a:endParaRPr lang="en-US" sz="1200" dirty="0"/>
          </a:p>
          <a:p>
            <a:pPr algn="ctr" indent="0" marL="0">
              <a:buNone/>
            </a:pPr>
            <a:r>
              <a:rPr lang="en-US" sz="1000" dirty="0">
                <a:solidFill>
                  <a:srgbClr val="D8C3C6"/>
                </a:solidFill>
                <a:latin typeface="Segoe UI" pitchFamily="34" charset="0"/>
                <a:ea typeface="Segoe UI" pitchFamily="34" charset="-122"/>
                <a:cs typeface="Segoe UI" pitchFamily="34" charset="-120"/>
              </a:rPr>
              <a:t>Cline SDK · tool-calling · human-in-loop</a:t>
            </a:r>
            <a:endParaRPr lang="en-US" sz="1200" dirty="0"/>
          </a:p>
        </p:txBody>
      </p:sp>
      <p:sp>
        <p:nvSpPr>
          <p:cNvPr id="37" name="Shape 35"/>
          <p:cNvSpPr/>
          <p:nvPr/>
        </p:nvSpPr>
        <p:spPr>
          <a:xfrm>
            <a:off x="2724912" y="2240280"/>
            <a:ext cx="356616" cy="0"/>
          </a:xfrm>
          <a:prstGeom prst="line">
            <a:avLst/>
          </a:prstGeom>
          <a:noFill/>
          <a:ln w="22225">
            <a:solidFill>
              <a:srgbClr val="F4A259"/>
            </a:solidFill>
            <a:prstDash val="solid"/>
            <a:tailEnd type="triangle"/>
          </a:ln>
        </p:spPr>
      </p:sp>
      <p:sp>
        <p:nvSpPr>
          <p:cNvPr id="38" name="Shape 36"/>
          <p:cNvSpPr/>
          <p:nvPr/>
        </p:nvSpPr>
        <p:spPr>
          <a:xfrm>
            <a:off x="2724912" y="3337560"/>
            <a:ext cx="356616" cy="0"/>
          </a:xfrm>
          <a:prstGeom prst="line">
            <a:avLst/>
          </a:prstGeom>
          <a:noFill/>
          <a:ln w="22225">
            <a:solidFill>
              <a:srgbClr val="F4A259"/>
            </a:solidFill>
            <a:prstDash val="solid"/>
            <a:tailEnd type="triangle"/>
          </a:ln>
        </p:spPr>
      </p:sp>
      <p:sp>
        <p:nvSpPr>
          <p:cNvPr id="39" name="Shape 37"/>
          <p:cNvSpPr/>
          <p:nvPr/>
        </p:nvSpPr>
        <p:spPr>
          <a:xfrm>
            <a:off x="2724912" y="4434840"/>
            <a:ext cx="356616" cy="0"/>
          </a:xfrm>
          <a:prstGeom prst="line">
            <a:avLst/>
          </a:prstGeom>
          <a:noFill/>
          <a:ln w="22225">
            <a:solidFill>
              <a:srgbClr val="F4A259"/>
            </a:solidFill>
            <a:prstDash val="solid"/>
            <a:tailEnd type="triangle"/>
          </a:ln>
        </p:spPr>
      </p:sp>
      <p:sp>
        <p:nvSpPr>
          <p:cNvPr id="40" name="Shape 38"/>
          <p:cNvSpPr/>
          <p:nvPr/>
        </p:nvSpPr>
        <p:spPr>
          <a:xfrm>
            <a:off x="4818888" y="3337560"/>
            <a:ext cx="365760" cy="0"/>
          </a:xfrm>
          <a:prstGeom prst="line">
            <a:avLst/>
          </a:prstGeom>
          <a:noFill/>
          <a:ln w="22225">
            <a:solidFill>
              <a:srgbClr val="F4A259"/>
            </a:solidFill>
            <a:prstDash val="solid"/>
            <a:headEnd type="triangle"/>
            <a:tailEnd type="triangle"/>
          </a:ln>
        </p:spPr>
      </p:sp>
      <p:sp>
        <p:nvSpPr>
          <p:cNvPr id="41" name="Shape 39"/>
          <p:cNvSpPr/>
          <p:nvPr/>
        </p:nvSpPr>
        <p:spPr>
          <a:xfrm>
            <a:off x="8778240" y="2231136"/>
            <a:ext cx="201168" cy="0"/>
          </a:xfrm>
          <a:prstGeom prst="line">
            <a:avLst/>
          </a:prstGeom>
          <a:noFill/>
          <a:ln w="22225">
            <a:solidFill>
              <a:srgbClr val="F4A259"/>
            </a:solidFill>
            <a:prstDash val="solid"/>
            <a:headEnd type="triangle"/>
            <a:tailEnd type="triangle"/>
          </a:ln>
        </p:spPr>
      </p:sp>
      <p:sp>
        <p:nvSpPr>
          <p:cNvPr id="42" name="Shape 40"/>
          <p:cNvSpPr/>
          <p:nvPr/>
        </p:nvSpPr>
        <p:spPr>
          <a:xfrm>
            <a:off x="8778240" y="3246120"/>
            <a:ext cx="201168" cy="0"/>
          </a:xfrm>
          <a:prstGeom prst="line">
            <a:avLst/>
          </a:prstGeom>
          <a:noFill/>
          <a:ln w="22225">
            <a:solidFill>
              <a:srgbClr val="F4A259"/>
            </a:solidFill>
            <a:prstDash val="solid"/>
            <a:headEnd type="triangle"/>
            <a:tailEnd type="triangle"/>
          </a:ln>
        </p:spPr>
      </p:sp>
      <p:sp>
        <p:nvSpPr>
          <p:cNvPr id="43" name="Shape 41"/>
          <p:cNvSpPr/>
          <p:nvPr/>
        </p:nvSpPr>
        <p:spPr>
          <a:xfrm>
            <a:off x="8778240" y="4261104"/>
            <a:ext cx="201168" cy="0"/>
          </a:xfrm>
          <a:prstGeom prst="line">
            <a:avLst/>
          </a:prstGeom>
          <a:noFill/>
          <a:ln w="22225">
            <a:solidFill>
              <a:srgbClr val="F4A259"/>
            </a:solidFill>
            <a:prstDash val="solid"/>
            <a:headEnd type="triangle"/>
            <a:tailEnd type="triangle"/>
          </a:ln>
        </p:spPr>
      </p:sp>
      <p:sp>
        <p:nvSpPr>
          <p:cNvPr id="44" name="Shape 42"/>
          <p:cNvSpPr/>
          <p:nvPr/>
        </p:nvSpPr>
        <p:spPr>
          <a:xfrm>
            <a:off x="548640" y="5120640"/>
            <a:ext cx="11064240" cy="868680"/>
          </a:xfrm>
          <a:prstGeom prst="roundRect">
            <a:avLst>
              <a:gd name="adj" fmla="val 10526"/>
            </a:avLst>
          </a:prstGeom>
          <a:solidFill>
            <a:srgbClr val="3D0A14"/>
          </a:solidFill>
          <a:ln w="12700">
            <a:solidFill>
              <a:srgbClr val="6E3540"/>
            </a:solidFill>
            <a:prstDash val="solid"/>
          </a:ln>
        </p:spPr>
      </p:sp>
      <p:sp>
        <p:nvSpPr>
          <p:cNvPr id="45" name="Text 43"/>
          <p:cNvSpPr/>
          <p:nvPr/>
        </p:nvSpPr>
        <p:spPr>
          <a:xfrm>
            <a:off x="685800" y="5120640"/>
            <a:ext cx="2103120" cy="868680"/>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 Prisma ORM</a:t>
            </a:r>
            <a:endParaRPr lang="en-US" sz="1200" dirty="0"/>
          </a:p>
          <a:p>
            <a:pPr algn="ctr" indent="0" marL="0">
              <a:buNone/>
            </a:pPr>
            <a:r>
              <a:rPr lang="en-US" sz="1000" dirty="0">
                <a:solidFill>
                  <a:srgbClr val="D8C3C6"/>
                </a:solidFill>
                <a:latin typeface="Segoe UI" pitchFamily="34" charset="0"/>
                <a:ea typeface="Segoe UI" pitchFamily="34" charset="-122"/>
                <a:cs typeface="Segoe UI" pitchFamily="34" charset="-120"/>
              </a:rPr>
              <a:t>SQLite → PostgreSQL</a:t>
            </a:r>
            <a:endParaRPr lang="en-US" sz="1200" dirty="0"/>
          </a:p>
        </p:txBody>
      </p:sp>
      <p:sp>
        <p:nvSpPr>
          <p:cNvPr id="46" name="Text 44"/>
          <p:cNvSpPr/>
          <p:nvPr/>
        </p:nvSpPr>
        <p:spPr>
          <a:xfrm>
            <a:off x="2880360" y="5120640"/>
            <a:ext cx="2103120" cy="868680"/>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 Async worker</a:t>
            </a:r>
            <a:endParaRPr lang="en-US" sz="1200" dirty="0"/>
          </a:p>
          <a:p>
            <a:pPr algn="ctr" indent="0" marL="0">
              <a:buNone/>
            </a:pPr>
            <a:r>
              <a:rPr lang="en-US" sz="1000" dirty="0">
                <a:solidFill>
                  <a:srgbClr val="D8C3C6"/>
                </a:solidFill>
                <a:latin typeface="Segoe UI" pitchFamily="34" charset="0"/>
                <a:ea typeface="Segoe UI" pitchFamily="34" charset="-122"/>
                <a:cs typeface="Segoe UI" pitchFamily="34" charset="-120"/>
              </a:rPr>
              <a:t>wave timers · reminders · cron</a:t>
            </a:r>
            <a:endParaRPr lang="en-US" sz="1200" dirty="0"/>
          </a:p>
        </p:txBody>
      </p:sp>
      <p:sp>
        <p:nvSpPr>
          <p:cNvPr id="47" name="Shape 45"/>
          <p:cNvSpPr/>
          <p:nvPr/>
        </p:nvSpPr>
        <p:spPr>
          <a:xfrm>
            <a:off x="2834640" y="5257800"/>
            <a:ext cx="0" cy="594360"/>
          </a:xfrm>
          <a:prstGeom prst="line">
            <a:avLst/>
          </a:prstGeom>
          <a:noFill/>
          <a:ln w="12700">
            <a:solidFill>
              <a:srgbClr val="6E3540"/>
            </a:solidFill>
            <a:prstDash val="solid"/>
          </a:ln>
        </p:spPr>
      </p:sp>
      <p:sp>
        <p:nvSpPr>
          <p:cNvPr id="48" name="Text 46"/>
          <p:cNvSpPr/>
          <p:nvPr/>
        </p:nvSpPr>
        <p:spPr>
          <a:xfrm>
            <a:off x="5074920" y="5120640"/>
            <a:ext cx="2103120" cy="868680"/>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 Shared domain core</a:t>
            </a:r>
            <a:endParaRPr lang="en-US" sz="1200" dirty="0"/>
          </a:p>
          <a:p>
            <a:pPr algn="ctr" indent="0" marL="0">
              <a:buNone/>
            </a:pPr>
            <a:r>
              <a:rPr lang="en-US" sz="1000" dirty="0">
                <a:solidFill>
                  <a:srgbClr val="D8C3C6"/>
                </a:solidFill>
                <a:latin typeface="Segoe UI" pitchFamily="34" charset="0"/>
                <a:ea typeface="Segoe UI" pitchFamily="34" charset="-122"/>
                <a:cs typeface="Segoe UI" pitchFamily="34" charset="-120"/>
              </a:rPr>
              <a:t>TypeScript · unit-tested</a:t>
            </a:r>
            <a:endParaRPr lang="en-US" sz="1200" dirty="0"/>
          </a:p>
        </p:txBody>
      </p:sp>
      <p:sp>
        <p:nvSpPr>
          <p:cNvPr id="49" name="Shape 47"/>
          <p:cNvSpPr/>
          <p:nvPr/>
        </p:nvSpPr>
        <p:spPr>
          <a:xfrm>
            <a:off x="5029200" y="5257800"/>
            <a:ext cx="0" cy="594360"/>
          </a:xfrm>
          <a:prstGeom prst="line">
            <a:avLst/>
          </a:prstGeom>
          <a:noFill/>
          <a:ln w="12700">
            <a:solidFill>
              <a:srgbClr val="6E3540"/>
            </a:solidFill>
            <a:prstDash val="solid"/>
          </a:ln>
        </p:spPr>
      </p:sp>
      <p:sp>
        <p:nvSpPr>
          <p:cNvPr id="50" name="Text 48"/>
          <p:cNvSpPr/>
          <p:nvPr/>
        </p:nvSpPr>
        <p:spPr>
          <a:xfrm>
            <a:off x="7269480" y="5120640"/>
            <a:ext cx="2103120" cy="868680"/>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 Privacy by design</a:t>
            </a:r>
            <a:endParaRPr lang="en-US" sz="1200" dirty="0"/>
          </a:p>
          <a:p>
            <a:pPr algn="ctr" indent="0" marL="0">
              <a:buNone/>
            </a:pPr>
            <a:r>
              <a:rPr lang="en-US" sz="1000" dirty="0">
                <a:solidFill>
                  <a:srgbClr val="D8C3C6"/>
                </a:solidFill>
                <a:latin typeface="Segoe UI" pitchFamily="34" charset="0"/>
                <a:ea typeface="Segoe UI" pitchFamily="34" charset="-122"/>
                <a:cs typeface="Segoe UI" pitchFamily="34" charset="-120"/>
              </a:rPr>
              <a:t>consent ledger · audit log</a:t>
            </a:r>
            <a:endParaRPr lang="en-US" sz="1200" dirty="0"/>
          </a:p>
        </p:txBody>
      </p:sp>
      <p:sp>
        <p:nvSpPr>
          <p:cNvPr id="51" name="Shape 49"/>
          <p:cNvSpPr/>
          <p:nvPr/>
        </p:nvSpPr>
        <p:spPr>
          <a:xfrm>
            <a:off x="7223760" y="5257800"/>
            <a:ext cx="0" cy="594360"/>
          </a:xfrm>
          <a:prstGeom prst="line">
            <a:avLst/>
          </a:prstGeom>
          <a:noFill/>
          <a:ln w="12700">
            <a:solidFill>
              <a:srgbClr val="6E3540"/>
            </a:solidFill>
            <a:prstDash val="solid"/>
          </a:ln>
        </p:spPr>
      </p:sp>
      <p:sp>
        <p:nvSpPr>
          <p:cNvPr id="52" name="Text 50"/>
          <p:cNvSpPr/>
          <p:nvPr/>
        </p:nvSpPr>
        <p:spPr>
          <a:xfrm>
            <a:off x="9464040" y="5120640"/>
            <a:ext cx="2103120" cy="868680"/>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 Zero-cost cloud</a:t>
            </a:r>
            <a:endParaRPr lang="en-US" sz="1200" dirty="0"/>
          </a:p>
          <a:p>
            <a:pPr algn="ctr" indent="0" marL="0">
              <a:buNone/>
            </a:pPr>
            <a:r>
              <a:rPr lang="en-US" sz="1000" dirty="0">
                <a:solidFill>
                  <a:srgbClr val="D8C3C6"/>
                </a:solidFill>
                <a:latin typeface="Segoe UI" pitchFamily="34" charset="0"/>
                <a:ea typeface="Segoe UI" pitchFamily="34" charset="-122"/>
                <a:cs typeface="Segoe UI" pitchFamily="34" charset="-120"/>
              </a:rPr>
              <a:t>Render / Railway free tier</a:t>
            </a:r>
            <a:endParaRPr lang="en-US" sz="1200" dirty="0"/>
          </a:p>
        </p:txBody>
      </p:sp>
      <p:sp>
        <p:nvSpPr>
          <p:cNvPr id="53" name="Shape 51"/>
          <p:cNvSpPr/>
          <p:nvPr/>
        </p:nvSpPr>
        <p:spPr>
          <a:xfrm>
            <a:off x="9418320" y="5257800"/>
            <a:ext cx="0" cy="594360"/>
          </a:xfrm>
          <a:prstGeom prst="line">
            <a:avLst/>
          </a:prstGeom>
          <a:noFill/>
          <a:ln w="12700">
            <a:solidFill>
              <a:srgbClr val="6E3540"/>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8F5"/>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102E"/>
          </a:solidFill>
          <a:ln w="12700">
            <a:solidFill>
              <a:srgbClr val="C8102E"/>
            </a:solidFill>
            <a:prstDash val="solid"/>
          </a:ln>
        </p:spPr>
      </p:sp>
      <p:sp>
        <p:nvSpPr>
          <p:cNvPr id="3" name="Text 1"/>
          <p:cNvSpPr/>
          <p:nvPr/>
        </p:nvSpPr>
        <p:spPr>
          <a:xfrm>
            <a:off x="411480" y="6446520"/>
            <a:ext cx="2743200" cy="274320"/>
          </a:xfrm>
          <a:prstGeom prst="rect">
            <a:avLst/>
          </a:prstGeom>
          <a:noFill/>
          <a:ln/>
        </p:spPr>
        <p:txBody>
          <a:bodyPr wrap="square" rtlCol="0" anchor="ctr"/>
          <a:lstStyle/>
          <a:p>
            <a:pPr indent="0" marL="0">
              <a:buNone/>
            </a:pPr>
            <a:r>
              <a:rPr lang="en-US" sz="1000" b="1" dirty="0">
                <a:solidFill>
                  <a:srgbClr val="C8102E"/>
                </a:solidFill>
                <a:latin typeface="Segoe UI" pitchFamily="34" charset="0"/>
                <a:ea typeface="Segoe UI" pitchFamily="34" charset="-122"/>
                <a:cs typeface="Segoe UI" pitchFamily="34" charset="-120"/>
              </a:rPr>
              <a:t>RaktDoot</a:t>
            </a:r>
            <a:endParaRPr lang="en-US" sz="1000" dirty="0"/>
          </a:p>
        </p:txBody>
      </p:sp>
      <p:sp>
        <p:nvSpPr>
          <p:cNvPr id="4" name="Text 2"/>
          <p:cNvSpPr/>
          <p:nvPr/>
        </p:nvSpPr>
        <p:spPr>
          <a:xfrm>
            <a:off x="11277295" y="6446520"/>
            <a:ext cx="548640" cy="274320"/>
          </a:xfrm>
          <a:prstGeom prst="rect">
            <a:avLst/>
          </a:prstGeom>
          <a:noFill/>
          <a:ln/>
        </p:spPr>
        <p:txBody>
          <a:bodyPr wrap="square" rtlCol="0" anchor="ctr"/>
          <a:lstStyle/>
          <a:p>
            <a:pPr algn="r" indent="0" marL="0">
              <a:buNone/>
            </a:pPr>
            <a:r>
              <a:rPr lang="en-US" sz="1000" dirty="0">
                <a:solidFill>
                  <a:srgbClr val="5F5F5F"/>
                </a:solidFill>
                <a:latin typeface="Segoe UI" pitchFamily="34" charset="0"/>
                <a:ea typeface="Segoe UI" pitchFamily="34" charset="-122"/>
                <a:cs typeface="Segoe UI" pitchFamily="34" charset="-120"/>
              </a:rPr>
              <a:t>14</a:t>
            </a:r>
            <a:endParaRPr lang="en-US" sz="1000" dirty="0"/>
          </a:p>
        </p:txBody>
      </p:sp>
      <p:sp>
        <p:nvSpPr>
          <p:cNvPr id="5" name="Text 3"/>
          <p:cNvSpPr/>
          <p:nvPr/>
        </p:nvSpPr>
        <p:spPr>
          <a:xfrm>
            <a:off x="548640" y="320040"/>
            <a:ext cx="9144000" cy="320040"/>
          </a:xfrm>
          <a:prstGeom prst="rect">
            <a:avLst/>
          </a:prstGeom>
          <a:noFill/>
          <a:ln/>
        </p:spPr>
        <p:txBody>
          <a:bodyPr wrap="square" rtlCol="0" anchor="ctr"/>
          <a:lstStyle/>
          <a:p>
            <a:pPr indent="0" marL="0">
              <a:buNone/>
            </a:pPr>
            <a:r>
              <a:rPr lang="en-US" sz="1200" b="1" spc="300" kern="0" dirty="0">
                <a:solidFill>
                  <a:srgbClr val="C8102E"/>
                </a:solidFill>
                <a:latin typeface="Segoe UI" pitchFamily="34" charset="0"/>
                <a:ea typeface="Segoe UI" pitchFamily="34" charset="-122"/>
                <a:cs typeface="Segoe UI" pitchFamily="34" charset="-120"/>
              </a:rPr>
              <a:t>THE AI ENGINE</a:t>
            </a:r>
            <a:endParaRPr lang="en-US" sz="1200" dirty="0"/>
          </a:p>
        </p:txBody>
      </p:sp>
      <p:sp>
        <p:nvSpPr>
          <p:cNvPr id="6" name="Text 4"/>
          <p:cNvSpPr/>
          <p:nvPr/>
        </p:nvSpPr>
        <p:spPr>
          <a:xfrm>
            <a:off x="548640" y="640080"/>
            <a:ext cx="11064240" cy="777240"/>
          </a:xfrm>
          <a:prstGeom prst="rect">
            <a:avLst/>
          </a:prstGeom>
          <a:noFill/>
          <a:ln/>
        </p:spPr>
        <p:txBody>
          <a:bodyPr wrap="square" rtlCol="0" anchor="ctr"/>
          <a:lstStyle/>
          <a:p>
            <a:pPr indent="0" marL="0">
              <a:buNone/>
            </a:pPr>
            <a:r>
              <a:rPr lang="en-US" sz="3000" b="1" dirty="0">
                <a:solidFill>
                  <a:srgbClr val="2B0A10"/>
                </a:solidFill>
                <a:latin typeface="Segoe UI" pitchFamily="34" charset="0"/>
                <a:ea typeface="Segoe UI" pitchFamily="34" charset="-122"/>
                <a:cs typeface="Segoe UI" pitchFamily="34" charset="-120"/>
              </a:rPr>
              <a:t>Three AI pillars, one human-in-the-loop pipeline</a:t>
            </a:r>
            <a:endParaRPr lang="en-US" sz="3000" dirty="0"/>
          </a:p>
        </p:txBody>
      </p:sp>
      <p:sp>
        <p:nvSpPr>
          <p:cNvPr id="7" name="Shape 5"/>
          <p:cNvSpPr/>
          <p:nvPr/>
        </p:nvSpPr>
        <p:spPr>
          <a:xfrm>
            <a:off x="548640" y="1554480"/>
            <a:ext cx="1600200" cy="1097280"/>
          </a:xfrm>
          <a:prstGeom prst="roundRect">
            <a:avLst>
              <a:gd name="adj" fmla="val 8333"/>
            </a:avLst>
          </a:prstGeom>
          <a:solidFill>
            <a:srgbClr val="C8102E"/>
          </a:solidFill>
          <a:ln w="12700">
            <a:solidFill>
              <a:srgbClr val="C8102E"/>
            </a:solidFill>
            <a:prstDash val="solid"/>
          </a:ln>
        </p:spPr>
      </p:sp>
      <p:sp>
        <p:nvSpPr>
          <p:cNvPr id="8" name="Text 6"/>
          <p:cNvSpPr/>
          <p:nvPr/>
        </p:nvSpPr>
        <p:spPr>
          <a:xfrm>
            <a:off x="548640" y="1554480"/>
            <a:ext cx="1600200" cy="109728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1 · Multilingual</a:t>
            </a:r>
            <a:endParaRPr lang="en-US" sz="1300" dirty="0"/>
          </a:p>
          <a:p>
            <a:pPr algn="ctr" indent="0" marL="0">
              <a:buNone/>
            </a:pPr>
            <a:r>
              <a:rPr lang="en-US" sz="1300" b="1" dirty="0">
                <a:solidFill>
                  <a:srgbClr val="FFFFFF"/>
                </a:solidFill>
                <a:latin typeface="Segoe UI" pitchFamily="34" charset="0"/>
                <a:ea typeface="Segoe UI" pitchFamily="34" charset="-122"/>
                <a:cs typeface="Segoe UI" pitchFamily="34" charset="-120"/>
              </a:rPr>
              <a:t>NLP intake</a:t>
            </a:r>
            <a:endParaRPr lang="en-US" sz="1300" dirty="0"/>
          </a:p>
        </p:txBody>
      </p:sp>
      <p:sp>
        <p:nvSpPr>
          <p:cNvPr id="9" name="Shape 7"/>
          <p:cNvSpPr/>
          <p:nvPr/>
        </p:nvSpPr>
        <p:spPr>
          <a:xfrm>
            <a:off x="2167128" y="2103120"/>
            <a:ext cx="182880" cy="0"/>
          </a:xfrm>
          <a:prstGeom prst="line">
            <a:avLst/>
          </a:prstGeom>
          <a:noFill/>
          <a:ln w="22225">
            <a:solidFill>
              <a:srgbClr val="C8102E"/>
            </a:solidFill>
            <a:prstDash val="solid"/>
            <a:tailEnd type="triangle"/>
          </a:ln>
        </p:spPr>
      </p:sp>
      <p:sp>
        <p:nvSpPr>
          <p:cNvPr id="10" name="Shape 8"/>
          <p:cNvSpPr/>
          <p:nvPr/>
        </p:nvSpPr>
        <p:spPr>
          <a:xfrm>
            <a:off x="2377440" y="1627632"/>
            <a:ext cx="2103120" cy="950976"/>
          </a:xfrm>
          <a:prstGeom prst="roundRect">
            <a:avLst>
              <a:gd name="adj" fmla="val 9615"/>
            </a:avLst>
          </a:prstGeom>
          <a:solidFill>
            <a:srgbClr val="FFFFFF"/>
          </a:solidFill>
          <a:ln w="19050">
            <a:solidFill>
              <a:srgbClr val="C8102E"/>
            </a:solidFill>
            <a:prstDash val="solid"/>
          </a:ln>
          <a:effectLst>
            <a:outerShdw sx="100000" sy="100000" kx="0" ky="0" algn="bl" rotWithShape="0" blurRad="63500" dist="25400" dir="5400000">
              <a:srgbClr val="000000">
                <a:alpha val="10000"/>
              </a:srgbClr>
            </a:outerShdw>
          </a:effectLst>
        </p:spPr>
      </p:sp>
      <p:sp>
        <p:nvSpPr>
          <p:cNvPr id="11" name="Text 9"/>
          <p:cNvSpPr/>
          <p:nvPr/>
        </p:nvSpPr>
        <p:spPr>
          <a:xfrm>
            <a:off x="2487168" y="1627632"/>
            <a:ext cx="1920240" cy="950976"/>
          </a:xfrm>
          <a:prstGeom prst="rect">
            <a:avLst/>
          </a:prstGeom>
          <a:noFill/>
          <a:ln/>
        </p:spPr>
        <p:txBody>
          <a:bodyPr wrap="square" rtlCol="0" anchor="ctr"/>
          <a:lstStyle/>
          <a:p>
            <a:pPr indent="0" marL="0">
              <a:buNone/>
            </a:pPr>
            <a:r>
              <a:rPr lang="en-US" sz="1200" b="1" dirty="0">
                <a:solidFill>
                  <a:srgbClr val="2B0A10"/>
                </a:solidFill>
                <a:latin typeface="Segoe UI" pitchFamily="34" charset="0"/>
                <a:ea typeface="Segoe UI" pitchFamily="34" charset="-122"/>
                <a:cs typeface="Segoe UI" pitchFamily="34" charset="-120"/>
              </a:rPr>
              <a:t>🎙️ Speech-to-text</a:t>
            </a:r>
            <a:endParaRPr lang="en-US" sz="1200" dirty="0"/>
          </a:p>
          <a:p>
            <a:pPr indent="0" marL="0">
              <a:buNone/>
            </a:pPr>
            <a:r>
              <a:rPr lang="en-US" sz="1000" dirty="0">
                <a:solidFill>
                  <a:srgbClr val="5F5F5F"/>
                </a:solidFill>
                <a:latin typeface="Segoe UI" pitchFamily="34" charset="0"/>
                <a:ea typeface="Segoe UI" pitchFamily="34" charset="-122"/>
                <a:cs typeface="Segoe UI" pitchFamily="34" charset="-120"/>
              </a:rPr>
              <a:t>Whisper voice notes</a:t>
            </a:r>
            <a:endParaRPr lang="en-US" sz="1200" dirty="0"/>
          </a:p>
        </p:txBody>
      </p:sp>
      <p:sp>
        <p:nvSpPr>
          <p:cNvPr id="12" name="Shape 10"/>
          <p:cNvSpPr/>
          <p:nvPr/>
        </p:nvSpPr>
        <p:spPr>
          <a:xfrm>
            <a:off x="4498848" y="2103120"/>
            <a:ext cx="210312" cy="0"/>
          </a:xfrm>
          <a:prstGeom prst="line">
            <a:avLst/>
          </a:prstGeom>
          <a:noFill/>
          <a:ln w="22225">
            <a:solidFill>
              <a:srgbClr val="C8102E"/>
            </a:solidFill>
            <a:prstDash val="solid"/>
            <a:tailEnd type="triangle"/>
          </a:ln>
        </p:spPr>
      </p:sp>
      <p:sp>
        <p:nvSpPr>
          <p:cNvPr id="13" name="Shape 11"/>
          <p:cNvSpPr/>
          <p:nvPr/>
        </p:nvSpPr>
        <p:spPr>
          <a:xfrm>
            <a:off x="4727448" y="1627632"/>
            <a:ext cx="2103120" cy="950976"/>
          </a:xfrm>
          <a:prstGeom prst="roundRect">
            <a:avLst>
              <a:gd name="adj" fmla="val 9615"/>
            </a:avLst>
          </a:prstGeom>
          <a:solidFill>
            <a:srgbClr val="FFFFFF"/>
          </a:solidFill>
          <a:ln w="19050">
            <a:solidFill>
              <a:srgbClr val="C8102E"/>
            </a:solidFill>
            <a:prstDash val="solid"/>
          </a:ln>
          <a:effectLst>
            <a:outerShdw sx="100000" sy="100000" kx="0" ky="0" algn="bl" rotWithShape="0" blurRad="63500" dist="25400" dir="5400000">
              <a:srgbClr val="000000">
                <a:alpha val="10000"/>
              </a:srgbClr>
            </a:outerShdw>
          </a:effectLst>
        </p:spPr>
      </p:sp>
      <p:sp>
        <p:nvSpPr>
          <p:cNvPr id="14" name="Text 12"/>
          <p:cNvSpPr/>
          <p:nvPr/>
        </p:nvSpPr>
        <p:spPr>
          <a:xfrm>
            <a:off x="4837176" y="1627632"/>
            <a:ext cx="1920240" cy="950976"/>
          </a:xfrm>
          <a:prstGeom prst="rect">
            <a:avLst/>
          </a:prstGeom>
          <a:noFill/>
          <a:ln/>
        </p:spPr>
        <p:txBody>
          <a:bodyPr wrap="square" rtlCol="0" anchor="ctr"/>
          <a:lstStyle/>
          <a:p>
            <a:pPr indent="0" marL="0">
              <a:buNone/>
            </a:pPr>
            <a:r>
              <a:rPr lang="en-US" sz="1200" b="1" dirty="0">
                <a:solidFill>
                  <a:srgbClr val="2B0A10"/>
                </a:solidFill>
                <a:latin typeface="Segoe UI" pitchFamily="34" charset="0"/>
                <a:ea typeface="Segoe UI" pitchFamily="34" charset="-122"/>
                <a:cs typeface="Segoe UI" pitchFamily="34" charset="-120"/>
              </a:rPr>
              <a:t>🌐 Language ID</a:t>
            </a:r>
            <a:endParaRPr lang="en-US" sz="1200" dirty="0"/>
          </a:p>
          <a:p>
            <a:pPr indent="0" marL="0">
              <a:buNone/>
            </a:pPr>
            <a:r>
              <a:rPr lang="en-US" sz="1000" dirty="0">
                <a:solidFill>
                  <a:srgbClr val="5F5F5F"/>
                </a:solidFill>
                <a:latin typeface="Segoe UI" pitchFamily="34" charset="0"/>
                <a:ea typeface="Segoe UI" pitchFamily="34" charset="-122"/>
                <a:cs typeface="Segoe UI" pitchFamily="34" charset="-120"/>
              </a:rPr>
              <a:t>Hindi · Hinglish · regional</a:t>
            </a:r>
            <a:endParaRPr lang="en-US" sz="1200" dirty="0"/>
          </a:p>
        </p:txBody>
      </p:sp>
      <p:sp>
        <p:nvSpPr>
          <p:cNvPr id="15" name="Shape 13"/>
          <p:cNvSpPr/>
          <p:nvPr/>
        </p:nvSpPr>
        <p:spPr>
          <a:xfrm>
            <a:off x="6848856" y="2103120"/>
            <a:ext cx="210312" cy="0"/>
          </a:xfrm>
          <a:prstGeom prst="line">
            <a:avLst/>
          </a:prstGeom>
          <a:noFill/>
          <a:ln w="22225">
            <a:solidFill>
              <a:srgbClr val="C8102E"/>
            </a:solidFill>
            <a:prstDash val="solid"/>
            <a:tailEnd type="triangle"/>
          </a:ln>
        </p:spPr>
      </p:sp>
      <p:sp>
        <p:nvSpPr>
          <p:cNvPr id="16" name="Shape 14"/>
          <p:cNvSpPr/>
          <p:nvPr/>
        </p:nvSpPr>
        <p:spPr>
          <a:xfrm>
            <a:off x="7077456" y="1627632"/>
            <a:ext cx="2103120" cy="950976"/>
          </a:xfrm>
          <a:prstGeom prst="roundRect">
            <a:avLst>
              <a:gd name="adj" fmla="val 9615"/>
            </a:avLst>
          </a:prstGeom>
          <a:solidFill>
            <a:srgbClr val="FFFFFF"/>
          </a:solidFill>
          <a:ln w="19050">
            <a:solidFill>
              <a:srgbClr val="C8102E"/>
            </a:solidFill>
            <a:prstDash val="solid"/>
          </a:ln>
          <a:effectLst>
            <a:outerShdw sx="100000" sy="100000" kx="0" ky="0" algn="bl" rotWithShape="0" blurRad="63500" dist="25400" dir="5400000">
              <a:srgbClr val="000000">
                <a:alpha val="10000"/>
              </a:srgbClr>
            </a:outerShdw>
          </a:effectLst>
        </p:spPr>
      </p:sp>
      <p:sp>
        <p:nvSpPr>
          <p:cNvPr id="17" name="Text 15"/>
          <p:cNvSpPr/>
          <p:nvPr/>
        </p:nvSpPr>
        <p:spPr>
          <a:xfrm>
            <a:off x="7187184" y="1627632"/>
            <a:ext cx="1920240" cy="950976"/>
          </a:xfrm>
          <a:prstGeom prst="rect">
            <a:avLst/>
          </a:prstGeom>
          <a:noFill/>
          <a:ln/>
        </p:spPr>
        <p:txBody>
          <a:bodyPr wrap="square" rtlCol="0" anchor="ctr"/>
          <a:lstStyle/>
          <a:p>
            <a:pPr indent="0" marL="0">
              <a:buNone/>
            </a:pPr>
            <a:r>
              <a:rPr lang="en-US" sz="1200" b="1" dirty="0">
                <a:solidFill>
                  <a:srgbClr val="2B0A10"/>
                </a:solidFill>
                <a:latin typeface="Segoe UI" pitchFamily="34" charset="0"/>
                <a:ea typeface="Segoe UI" pitchFamily="34" charset="-122"/>
                <a:cs typeface="Segoe UI" pitchFamily="34" charset="-120"/>
              </a:rPr>
              <a:t>🧠 LLM extraction</a:t>
            </a:r>
            <a:endParaRPr lang="en-US" sz="1200" dirty="0"/>
          </a:p>
          <a:p>
            <a:pPr indent="0" marL="0">
              <a:buNone/>
            </a:pPr>
            <a:r>
              <a:rPr lang="en-US" sz="1000" dirty="0">
                <a:solidFill>
                  <a:srgbClr val="5F5F5F"/>
                </a:solidFill>
                <a:latin typeface="Segoe UI" pitchFamily="34" charset="0"/>
                <a:ea typeface="Segoe UI" pitchFamily="34" charset="-122"/>
                <a:cs typeface="Segoe UI" pitchFamily="34" charset="-120"/>
              </a:rPr>
              <a:t>structured JSON + confidence</a:t>
            </a:r>
            <a:endParaRPr lang="en-US" sz="1200" dirty="0"/>
          </a:p>
        </p:txBody>
      </p:sp>
      <p:sp>
        <p:nvSpPr>
          <p:cNvPr id="18" name="Shape 16"/>
          <p:cNvSpPr/>
          <p:nvPr/>
        </p:nvSpPr>
        <p:spPr>
          <a:xfrm>
            <a:off x="9198864" y="2103120"/>
            <a:ext cx="210312" cy="0"/>
          </a:xfrm>
          <a:prstGeom prst="line">
            <a:avLst/>
          </a:prstGeom>
          <a:noFill/>
          <a:ln w="22225">
            <a:solidFill>
              <a:srgbClr val="C8102E"/>
            </a:solidFill>
            <a:prstDash val="solid"/>
            <a:tailEnd type="triangle"/>
          </a:ln>
        </p:spPr>
      </p:sp>
      <p:sp>
        <p:nvSpPr>
          <p:cNvPr id="19" name="Shape 17"/>
          <p:cNvSpPr/>
          <p:nvPr/>
        </p:nvSpPr>
        <p:spPr>
          <a:xfrm>
            <a:off x="9427464" y="1627632"/>
            <a:ext cx="2103120" cy="950976"/>
          </a:xfrm>
          <a:prstGeom prst="roundRect">
            <a:avLst>
              <a:gd name="adj" fmla="val 9615"/>
            </a:avLst>
          </a:prstGeom>
          <a:solidFill>
            <a:srgbClr val="FFFFFF"/>
          </a:solidFill>
          <a:ln w="19050">
            <a:solidFill>
              <a:srgbClr val="C8102E"/>
            </a:solidFill>
            <a:prstDash val="solid"/>
          </a:ln>
          <a:effectLst>
            <a:outerShdw sx="100000" sy="100000" kx="0" ky="0" algn="bl" rotWithShape="0" blurRad="63500" dist="25400" dir="5400000">
              <a:srgbClr val="000000">
                <a:alpha val="10000"/>
              </a:srgbClr>
            </a:outerShdw>
          </a:effectLst>
        </p:spPr>
      </p:sp>
      <p:sp>
        <p:nvSpPr>
          <p:cNvPr id="20" name="Text 18"/>
          <p:cNvSpPr/>
          <p:nvPr/>
        </p:nvSpPr>
        <p:spPr>
          <a:xfrm>
            <a:off x="9537192" y="1627632"/>
            <a:ext cx="1920240" cy="950976"/>
          </a:xfrm>
          <a:prstGeom prst="rect">
            <a:avLst/>
          </a:prstGeom>
          <a:noFill/>
          <a:ln/>
        </p:spPr>
        <p:txBody>
          <a:bodyPr wrap="square" rtlCol="0" anchor="ctr"/>
          <a:lstStyle/>
          <a:p>
            <a:pPr indent="0" marL="0">
              <a:buNone/>
            </a:pPr>
            <a:r>
              <a:rPr lang="en-US" sz="1200" b="1" dirty="0">
                <a:solidFill>
                  <a:srgbClr val="2B0A10"/>
                </a:solidFill>
                <a:latin typeface="Segoe UI" pitchFamily="34" charset="0"/>
                <a:ea typeface="Segoe UI" pitchFamily="34" charset="-122"/>
                <a:cs typeface="Segoe UI" pitchFamily="34" charset="-120"/>
              </a:rPr>
              <a:t>🛡️ Guardrails</a:t>
            </a:r>
            <a:endParaRPr lang="en-US" sz="1200" dirty="0"/>
          </a:p>
          <a:p>
            <a:pPr indent="0" marL="0">
              <a:buNone/>
            </a:pPr>
            <a:r>
              <a:rPr lang="en-US" sz="1000" dirty="0">
                <a:solidFill>
                  <a:srgbClr val="5F5F5F"/>
                </a:solidFill>
                <a:latin typeface="Segoe UI" pitchFamily="34" charset="0"/>
                <a:ea typeface="Segoe UI" pitchFamily="34" charset="-122"/>
                <a:cs typeface="Segoe UI" pitchFamily="34" charset="-120"/>
              </a:rPr>
              <a:t>schema check · normalise · confirm</a:t>
            </a:r>
            <a:endParaRPr lang="en-US" sz="1200" dirty="0"/>
          </a:p>
        </p:txBody>
      </p:sp>
      <p:sp>
        <p:nvSpPr>
          <p:cNvPr id="21" name="Shape 19"/>
          <p:cNvSpPr/>
          <p:nvPr/>
        </p:nvSpPr>
        <p:spPr>
          <a:xfrm>
            <a:off x="548640" y="2834640"/>
            <a:ext cx="1600200" cy="1097280"/>
          </a:xfrm>
          <a:prstGeom prst="roundRect">
            <a:avLst>
              <a:gd name="adj" fmla="val 8333"/>
            </a:avLst>
          </a:prstGeom>
          <a:solidFill>
            <a:srgbClr val="1F8A70"/>
          </a:solidFill>
          <a:ln w="12700">
            <a:solidFill>
              <a:srgbClr val="1F8A70"/>
            </a:solidFill>
            <a:prstDash val="solid"/>
          </a:ln>
        </p:spPr>
      </p:sp>
      <p:sp>
        <p:nvSpPr>
          <p:cNvPr id="22" name="Text 20"/>
          <p:cNvSpPr/>
          <p:nvPr/>
        </p:nvSpPr>
        <p:spPr>
          <a:xfrm>
            <a:off x="548640" y="2834640"/>
            <a:ext cx="1600200" cy="109728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2 · Predictive</a:t>
            </a:r>
            <a:endParaRPr lang="en-US" sz="1300" dirty="0"/>
          </a:p>
          <a:p>
            <a:pPr algn="ctr" indent="0" marL="0">
              <a:buNone/>
            </a:pPr>
            <a:r>
              <a:rPr lang="en-US" sz="1300" b="1" dirty="0">
                <a:solidFill>
                  <a:srgbClr val="FFFFFF"/>
                </a:solidFill>
                <a:latin typeface="Segoe UI" pitchFamily="34" charset="0"/>
                <a:ea typeface="Segoe UI" pitchFamily="34" charset="-122"/>
                <a:cs typeface="Segoe UI" pitchFamily="34" charset="-120"/>
              </a:rPr>
              <a:t>analytics</a:t>
            </a:r>
            <a:endParaRPr lang="en-US" sz="1300" dirty="0"/>
          </a:p>
        </p:txBody>
      </p:sp>
      <p:sp>
        <p:nvSpPr>
          <p:cNvPr id="23" name="Shape 21"/>
          <p:cNvSpPr/>
          <p:nvPr/>
        </p:nvSpPr>
        <p:spPr>
          <a:xfrm>
            <a:off x="2167128" y="3383280"/>
            <a:ext cx="182880" cy="0"/>
          </a:xfrm>
          <a:prstGeom prst="line">
            <a:avLst/>
          </a:prstGeom>
          <a:noFill/>
          <a:ln w="22225">
            <a:solidFill>
              <a:srgbClr val="1F8A70"/>
            </a:solidFill>
            <a:prstDash val="solid"/>
            <a:tailEnd type="triangle"/>
          </a:ln>
        </p:spPr>
      </p:sp>
      <p:sp>
        <p:nvSpPr>
          <p:cNvPr id="24" name="Shape 22"/>
          <p:cNvSpPr/>
          <p:nvPr/>
        </p:nvSpPr>
        <p:spPr>
          <a:xfrm>
            <a:off x="2377440" y="2907792"/>
            <a:ext cx="2103120" cy="950976"/>
          </a:xfrm>
          <a:prstGeom prst="roundRect">
            <a:avLst>
              <a:gd name="adj" fmla="val 9615"/>
            </a:avLst>
          </a:prstGeom>
          <a:solidFill>
            <a:srgbClr val="FFFFFF"/>
          </a:solidFill>
          <a:ln w="19050">
            <a:solidFill>
              <a:srgbClr val="1F8A70"/>
            </a:solidFill>
            <a:prstDash val="solid"/>
          </a:ln>
          <a:effectLst>
            <a:outerShdw sx="100000" sy="100000" kx="0" ky="0" algn="bl" rotWithShape="0" blurRad="63500" dist="25400" dir="5400000">
              <a:srgbClr val="000000">
                <a:alpha val="10000"/>
              </a:srgbClr>
            </a:outerShdw>
          </a:effectLst>
        </p:spPr>
      </p:sp>
      <p:sp>
        <p:nvSpPr>
          <p:cNvPr id="25" name="Text 23"/>
          <p:cNvSpPr/>
          <p:nvPr/>
        </p:nvSpPr>
        <p:spPr>
          <a:xfrm>
            <a:off x="2487168" y="2907792"/>
            <a:ext cx="1920240" cy="950976"/>
          </a:xfrm>
          <a:prstGeom prst="rect">
            <a:avLst/>
          </a:prstGeom>
          <a:noFill/>
          <a:ln/>
        </p:spPr>
        <p:txBody>
          <a:bodyPr wrap="square" rtlCol="0" anchor="ctr"/>
          <a:lstStyle/>
          <a:p>
            <a:pPr indent="0" marL="0">
              <a:buNone/>
            </a:pPr>
            <a:r>
              <a:rPr lang="en-US" sz="1200" b="1" dirty="0">
                <a:solidFill>
                  <a:srgbClr val="2B0A10"/>
                </a:solidFill>
                <a:latin typeface="Segoe UI" pitchFamily="34" charset="0"/>
                <a:ea typeface="Segoe UI" pitchFamily="34" charset="-122"/>
                <a:cs typeface="Segoe UI" pitchFamily="34" charset="-120"/>
              </a:rPr>
              <a:t>🧮 Feature engineering</a:t>
            </a:r>
            <a:endParaRPr lang="en-US" sz="1200" dirty="0"/>
          </a:p>
          <a:p>
            <a:pPr indent="0" marL="0">
              <a:buNone/>
            </a:pPr>
            <a:r>
              <a:rPr lang="en-US" sz="1000" dirty="0">
                <a:solidFill>
                  <a:srgbClr val="5F5F5F"/>
                </a:solidFill>
                <a:latin typeface="Segoe UI" pitchFamily="34" charset="0"/>
                <a:ea typeface="Segoe UI" pitchFamily="34" charset="-122"/>
                <a:cs typeface="Segoe UI" pitchFamily="34" charset="-120"/>
              </a:rPr>
              <a:t>lags · seasonality · festivals</a:t>
            </a:r>
            <a:endParaRPr lang="en-US" sz="1200" dirty="0"/>
          </a:p>
        </p:txBody>
      </p:sp>
      <p:sp>
        <p:nvSpPr>
          <p:cNvPr id="26" name="Shape 24"/>
          <p:cNvSpPr/>
          <p:nvPr/>
        </p:nvSpPr>
        <p:spPr>
          <a:xfrm>
            <a:off x="4498848" y="3383280"/>
            <a:ext cx="210312" cy="0"/>
          </a:xfrm>
          <a:prstGeom prst="line">
            <a:avLst/>
          </a:prstGeom>
          <a:noFill/>
          <a:ln w="22225">
            <a:solidFill>
              <a:srgbClr val="1F8A70"/>
            </a:solidFill>
            <a:prstDash val="solid"/>
            <a:tailEnd type="triangle"/>
          </a:ln>
        </p:spPr>
      </p:sp>
      <p:sp>
        <p:nvSpPr>
          <p:cNvPr id="27" name="Shape 25"/>
          <p:cNvSpPr/>
          <p:nvPr/>
        </p:nvSpPr>
        <p:spPr>
          <a:xfrm>
            <a:off x="4727448" y="2907792"/>
            <a:ext cx="2103120" cy="950976"/>
          </a:xfrm>
          <a:prstGeom prst="roundRect">
            <a:avLst>
              <a:gd name="adj" fmla="val 9615"/>
            </a:avLst>
          </a:prstGeom>
          <a:solidFill>
            <a:srgbClr val="FFFFFF"/>
          </a:solidFill>
          <a:ln w="19050">
            <a:solidFill>
              <a:srgbClr val="1F8A70"/>
            </a:solidFill>
            <a:prstDash val="solid"/>
          </a:ln>
          <a:effectLst>
            <a:outerShdw sx="100000" sy="100000" kx="0" ky="0" algn="bl" rotWithShape="0" blurRad="63500" dist="25400" dir="5400000">
              <a:srgbClr val="000000">
                <a:alpha val="10000"/>
              </a:srgbClr>
            </a:outerShdw>
          </a:effectLst>
        </p:spPr>
      </p:sp>
      <p:sp>
        <p:nvSpPr>
          <p:cNvPr id="28" name="Text 26"/>
          <p:cNvSpPr/>
          <p:nvPr/>
        </p:nvSpPr>
        <p:spPr>
          <a:xfrm>
            <a:off x="4837176" y="2907792"/>
            <a:ext cx="1920240" cy="950976"/>
          </a:xfrm>
          <a:prstGeom prst="rect">
            <a:avLst/>
          </a:prstGeom>
          <a:noFill/>
          <a:ln/>
        </p:spPr>
        <p:txBody>
          <a:bodyPr wrap="square" rtlCol="0" anchor="ctr"/>
          <a:lstStyle/>
          <a:p>
            <a:pPr indent="0" marL="0">
              <a:buNone/>
            </a:pPr>
            <a:r>
              <a:rPr lang="en-US" sz="1200" b="1" dirty="0">
                <a:solidFill>
                  <a:srgbClr val="2B0A10"/>
                </a:solidFill>
                <a:latin typeface="Segoe UI" pitchFamily="34" charset="0"/>
                <a:ea typeface="Segoe UI" pitchFamily="34" charset="-122"/>
                <a:cs typeface="Segoe UI" pitchFamily="34" charset="-120"/>
              </a:rPr>
              <a:t>🌲 Gradient boosting</a:t>
            </a:r>
            <a:endParaRPr lang="en-US" sz="1200" dirty="0"/>
          </a:p>
          <a:p>
            <a:pPr indent="0" marL="0">
              <a:buNone/>
            </a:pPr>
            <a:r>
              <a:rPr lang="en-US" sz="1000" dirty="0">
                <a:solidFill>
                  <a:srgbClr val="5F5F5F"/>
                </a:solidFill>
                <a:latin typeface="Segoe UI" pitchFamily="34" charset="0"/>
                <a:ea typeface="Segoe UI" pitchFamily="34" charset="-122"/>
                <a:cs typeface="Segoe UI" pitchFamily="34" charset="-120"/>
              </a:rPr>
              <a:t>quantile regression</a:t>
            </a:r>
            <a:endParaRPr lang="en-US" sz="1200" dirty="0"/>
          </a:p>
        </p:txBody>
      </p:sp>
      <p:sp>
        <p:nvSpPr>
          <p:cNvPr id="29" name="Shape 27"/>
          <p:cNvSpPr/>
          <p:nvPr/>
        </p:nvSpPr>
        <p:spPr>
          <a:xfrm>
            <a:off x="6848856" y="3383280"/>
            <a:ext cx="210312" cy="0"/>
          </a:xfrm>
          <a:prstGeom prst="line">
            <a:avLst/>
          </a:prstGeom>
          <a:noFill/>
          <a:ln w="22225">
            <a:solidFill>
              <a:srgbClr val="1F8A70"/>
            </a:solidFill>
            <a:prstDash val="solid"/>
            <a:tailEnd type="triangle"/>
          </a:ln>
        </p:spPr>
      </p:sp>
      <p:sp>
        <p:nvSpPr>
          <p:cNvPr id="30" name="Shape 28"/>
          <p:cNvSpPr/>
          <p:nvPr/>
        </p:nvSpPr>
        <p:spPr>
          <a:xfrm>
            <a:off x="7077456" y="2907792"/>
            <a:ext cx="2103120" cy="950976"/>
          </a:xfrm>
          <a:prstGeom prst="roundRect">
            <a:avLst>
              <a:gd name="adj" fmla="val 9615"/>
            </a:avLst>
          </a:prstGeom>
          <a:solidFill>
            <a:srgbClr val="FFFFFF"/>
          </a:solidFill>
          <a:ln w="19050">
            <a:solidFill>
              <a:srgbClr val="1F8A70"/>
            </a:solidFill>
            <a:prstDash val="solid"/>
          </a:ln>
          <a:effectLst>
            <a:outerShdw sx="100000" sy="100000" kx="0" ky="0" algn="bl" rotWithShape="0" blurRad="63500" dist="25400" dir="5400000">
              <a:srgbClr val="000000">
                <a:alpha val="10000"/>
              </a:srgbClr>
            </a:outerShdw>
          </a:effectLst>
        </p:spPr>
      </p:sp>
      <p:sp>
        <p:nvSpPr>
          <p:cNvPr id="31" name="Text 29"/>
          <p:cNvSpPr/>
          <p:nvPr/>
        </p:nvSpPr>
        <p:spPr>
          <a:xfrm>
            <a:off x="7187184" y="2907792"/>
            <a:ext cx="1920240" cy="950976"/>
          </a:xfrm>
          <a:prstGeom prst="rect">
            <a:avLst/>
          </a:prstGeom>
          <a:noFill/>
          <a:ln/>
        </p:spPr>
        <p:txBody>
          <a:bodyPr wrap="square" rtlCol="0" anchor="ctr"/>
          <a:lstStyle/>
          <a:p>
            <a:pPr indent="0" marL="0">
              <a:buNone/>
            </a:pPr>
            <a:r>
              <a:rPr lang="en-US" sz="1200" b="1" dirty="0">
                <a:solidFill>
                  <a:srgbClr val="2B0A10"/>
                </a:solidFill>
                <a:latin typeface="Segoe UI" pitchFamily="34" charset="0"/>
                <a:ea typeface="Segoe UI" pitchFamily="34" charset="-122"/>
                <a:cs typeface="Segoe UI" pitchFamily="34" charset="-120"/>
              </a:rPr>
              <a:t>📊 Backtesting</a:t>
            </a:r>
            <a:endParaRPr lang="en-US" sz="1200" dirty="0"/>
          </a:p>
          <a:p>
            <a:pPr indent="0" marL="0">
              <a:buNone/>
            </a:pPr>
            <a:r>
              <a:rPr lang="en-US" sz="1000" dirty="0">
                <a:solidFill>
                  <a:srgbClr val="5F5F5F"/>
                </a:solidFill>
                <a:latin typeface="Segoe UI" pitchFamily="34" charset="0"/>
                <a:ea typeface="Segoe UI" pitchFamily="34" charset="-122"/>
                <a:cs typeface="Segoe UI" pitchFamily="34" charset="-120"/>
              </a:rPr>
              <a:t>vs seasonal-naive baseline</a:t>
            </a:r>
            <a:endParaRPr lang="en-US" sz="1200" dirty="0"/>
          </a:p>
        </p:txBody>
      </p:sp>
      <p:sp>
        <p:nvSpPr>
          <p:cNvPr id="32" name="Shape 30"/>
          <p:cNvSpPr/>
          <p:nvPr/>
        </p:nvSpPr>
        <p:spPr>
          <a:xfrm>
            <a:off x="9198864" y="3383280"/>
            <a:ext cx="210312" cy="0"/>
          </a:xfrm>
          <a:prstGeom prst="line">
            <a:avLst/>
          </a:prstGeom>
          <a:noFill/>
          <a:ln w="22225">
            <a:solidFill>
              <a:srgbClr val="1F8A70"/>
            </a:solidFill>
            <a:prstDash val="solid"/>
            <a:tailEnd type="triangle"/>
          </a:ln>
        </p:spPr>
      </p:sp>
      <p:sp>
        <p:nvSpPr>
          <p:cNvPr id="33" name="Shape 31"/>
          <p:cNvSpPr/>
          <p:nvPr/>
        </p:nvSpPr>
        <p:spPr>
          <a:xfrm>
            <a:off x="9427464" y="2907792"/>
            <a:ext cx="2103120" cy="950976"/>
          </a:xfrm>
          <a:prstGeom prst="roundRect">
            <a:avLst>
              <a:gd name="adj" fmla="val 9615"/>
            </a:avLst>
          </a:prstGeom>
          <a:solidFill>
            <a:srgbClr val="FFFFFF"/>
          </a:solidFill>
          <a:ln w="19050">
            <a:solidFill>
              <a:srgbClr val="1F8A70"/>
            </a:solidFill>
            <a:prstDash val="solid"/>
          </a:ln>
          <a:effectLst>
            <a:outerShdw sx="100000" sy="100000" kx="0" ky="0" algn="bl" rotWithShape="0" blurRad="63500" dist="25400" dir="5400000">
              <a:srgbClr val="000000">
                <a:alpha val="10000"/>
              </a:srgbClr>
            </a:outerShdw>
          </a:effectLst>
        </p:spPr>
      </p:sp>
      <p:sp>
        <p:nvSpPr>
          <p:cNvPr id="34" name="Text 32"/>
          <p:cNvSpPr/>
          <p:nvPr/>
        </p:nvSpPr>
        <p:spPr>
          <a:xfrm>
            <a:off x="9537192" y="2907792"/>
            <a:ext cx="1920240" cy="950976"/>
          </a:xfrm>
          <a:prstGeom prst="rect">
            <a:avLst/>
          </a:prstGeom>
          <a:noFill/>
          <a:ln/>
        </p:spPr>
        <p:txBody>
          <a:bodyPr wrap="square" rtlCol="0" anchor="ctr"/>
          <a:lstStyle/>
          <a:p>
            <a:pPr indent="0" marL="0">
              <a:buNone/>
            </a:pPr>
            <a:r>
              <a:rPr lang="en-US" sz="1200" b="1" dirty="0">
                <a:solidFill>
                  <a:srgbClr val="2B0A10"/>
                </a:solidFill>
                <a:latin typeface="Segoe UI" pitchFamily="34" charset="0"/>
                <a:ea typeface="Segoe UI" pitchFamily="34" charset="-122"/>
                <a:cs typeface="Segoe UI" pitchFamily="34" charset="-120"/>
              </a:rPr>
              <a:t>🚨 Shortage radar</a:t>
            </a:r>
            <a:endParaRPr lang="en-US" sz="1200" dirty="0"/>
          </a:p>
          <a:p>
            <a:pPr indent="0" marL="0">
              <a:buNone/>
            </a:pPr>
            <a:r>
              <a:rPr lang="en-US" sz="1000" dirty="0">
                <a:solidFill>
                  <a:srgbClr val="5F5F5F"/>
                </a:solidFill>
                <a:latin typeface="Segoe UI" pitchFamily="34" charset="0"/>
                <a:ea typeface="Segoe UI" pitchFamily="34" charset="-122"/>
                <a:cs typeface="Segoe UI" pitchFamily="34" charset="-120"/>
              </a:rPr>
              <a:t>district × group × component</a:t>
            </a:r>
            <a:endParaRPr lang="en-US" sz="1200" dirty="0"/>
          </a:p>
        </p:txBody>
      </p:sp>
      <p:sp>
        <p:nvSpPr>
          <p:cNvPr id="35" name="Shape 33"/>
          <p:cNvSpPr/>
          <p:nvPr/>
        </p:nvSpPr>
        <p:spPr>
          <a:xfrm>
            <a:off x="548640" y="4114800"/>
            <a:ext cx="1600200" cy="1097280"/>
          </a:xfrm>
          <a:prstGeom prst="roundRect">
            <a:avLst>
              <a:gd name="adj" fmla="val 8333"/>
            </a:avLst>
          </a:prstGeom>
          <a:solidFill>
            <a:srgbClr val="5A0F1C"/>
          </a:solidFill>
          <a:ln w="12700">
            <a:solidFill>
              <a:srgbClr val="5A0F1C"/>
            </a:solidFill>
            <a:prstDash val="solid"/>
          </a:ln>
        </p:spPr>
      </p:sp>
      <p:sp>
        <p:nvSpPr>
          <p:cNvPr id="36" name="Text 34"/>
          <p:cNvSpPr/>
          <p:nvPr/>
        </p:nvSpPr>
        <p:spPr>
          <a:xfrm>
            <a:off x="548640" y="4114800"/>
            <a:ext cx="1600200" cy="109728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3 · Agentic</a:t>
            </a:r>
            <a:endParaRPr lang="en-US" sz="1300" dirty="0"/>
          </a:p>
          <a:p>
            <a:pPr algn="ctr" indent="0" marL="0">
              <a:buNone/>
            </a:pPr>
            <a:r>
              <a:rPr lang="en-US" sz="1300" b="1" dirty="0">
                <a:solidFill>
                  <a:srgbClr val="FFFFFF"/>
                </a:solidFill>
                <a:latin typeface="Segoe UI" pitchFamily="34" charset="0"/>
                <a:ea typeface="Segoe UI" pitchFamily="34" charset="-122"/>
                <a:cs typeface="Segoe UI" pitchFamily="34" charset="-120"/>
              </a:rPr>
              <a:t>Copilot</a:t>
            </a:r>
            <a:endParaRPr lang="en-US" sz="1300" dirty="0"/>
          </a:p>
        </p:txBody>
      </p:sp>
      <p:sp>
        <p:nvSpPr>
          <p:cNvPr id="37" name="Shape 35"/>
          <p:cNvSpPr/>
          <p:nvPr/>
        </p:nvSpPr>
        <p:spPr>
          <a:xfrm>
            <a:off x="2167128" y="4663440"/>
            <a:ext cx="182880" cy="0"/>
          </a:xfrm>
          <a:prstGeom prst="line">
            <a:avLst/>
          </a:prstGeom>
          <a:noFill/>
          <a:ln w="22225">
            <a:solidFill>
              <a:srgbClr val="5A0F1C"/>
            </a:solidFill>
            <a:prstDash val="solid"/>
            <a:tailEnd type="triangle"/>
          </a:ln>
        </p:spPr>
      </p:sp>
      <p:sp>
        <p:nvSpPr>
          <p:cNvPr id="38" name="Shape 36"/>
          <p:cNvSpPr/>
          <p:nvPr/>
        </p:nvSpPr>
        <p:spPr>
          <a:xfrm>
            <a:off x="2377440" y="4187952"/>
            <a:ext cx="2103120" cy="950976"/>
          </a:xfrm>
          <a:prstGeom prst="roundRect">
            <a:avLst>
              <a:gd name="adj" fmla="val 9615"/>
            </a:avLst>
          </a:prstGeom>
          <a:solidFill>
            <a:srgbClr val="FFFFFF"/>
          </a:solidFill>
          <a:ln w="19050">
            <a:solidFill>
              <a:srgbClr val="5A0F1C"/>
            </a:solidFill>
            <a:prstDash val="solid"/>
          </a:ln>
          <a:effectLst>
            <a:outerShdw sx="100000" sy="100000" kx="0" ky="0" algn="bl" rotWithShape="0" blurRad="63500" dist="25400" dir="5400000">
              <a:srgbClr val="000000">
                <a:alpha val="10000"/>
              </a:srgbClr>
            </a:outerShdw>
          </a:effectLst>
        </p:spPr>
      </p:sp>
      <p:sp>
        <p:nvSpPr>
          <p:cNvPr id="39" name="Text 37"/>
          <p:cNvSpPr/>
          <p:nvPr/>
        </p:nvSpPr>
        <p:spPr>
          <a:xfrm>
            <a:off x="2487168" y="4187952"/>
            <a:ext cx="1920240" cy="950976"/>
          </a:xfrm>
          <a:prstGeom prst="rect">
            <a:avLst/>
          </a:prstGeom>
          <a:noFill/>
          <a:ln/>
        </p:spPr>
        <p:txBody>
          <a:bodyPr wrap="square" rtlCol="0" anchor="ctr"/>
          <a:lstStyle/>
          <a:p>
            <a:pPr indent="0" marL="0">
              <a:buNone/>
            </a:pPr>
            <a:r>
              <a:rPr lang="en-US" sz="1200" b="1" dirty="0">
                <a:solidFill>
                  <a:srgbClr val="2B0A10"/>
                </a:solidFill>
                <a:latin typeface="Segoe UI" pitchFamily="34" charset="0"/>
                <a:ea typeface="Segoe UI" pitchFamily="34" charset="-122"/>
                <a:cs typeface="Segoe UI" pitchFamily="34" charset="-120"/>
              </a:rPr>
              <a:t>💭 Ask anything</a:t>
            </a:r>
            <a:endParaRPr lang="en-US" sz="1200" dirty="0"/>
          </a:p>
          <a:p>
            <a:pPr indent="0" marL="0">
              <a:buNone/>
            </a:pPr>
            <a:r>
              <a:rPr lang="en-US" sz="1000" dirty="0">
                <a:solidFill>
                  <a:srgbClr val="5F5F5F"/>
                </a:solidFill>
                <a:latin typeface="Segoe UI" pitchFamily="34" charset="0"/>
                <a:ea typeface="Segoe UI" pitchFamily="34" charset="-122"/>
                <a:cs typeface="Segoe UI" pitchFamily="34" charset="-120"/>
              </a:rPr>
              <a:t>"Which cases are at risk?"</a:t>
            </a:r>
            <a:endParaRPr lang="en-US" sz="1200" dirty="0"/>
          </a:p>
        </p:txBody>
      </p:sp>
      <p:sp>
        <p:nvSpPr>
          <p:cNvPr id="40" name="Shape 38"/>
          <p:cNvSpPr/>
          <p:nvPr/>
        </p:nvSpPr>
        <p:spPr>
          <a:xfrm>
            <a:off x="4498848" y="4663440"/>
            <a:ext cx="210312" cy="0"/>
          </a:xfrm>
          <a:prstGeom prst="line">
            <a:avLst/>
          </a:prstGeom>
          <a:noFill/>
          <a:ln w="22225">
            <a:solidFill>
              <a:srgbClr val="5A0F1C"/>
            </a:solidFill>
            <a:prstDash val="solid"/>
            <a:tailEnd type="triangle"/>
          </a:ln>
        </p:spPr>
      </p:sp>
      <p:sp>
        <p:nvSpPr>
          <p:cNvPr id="41" name="Shape 39"/>
          <p:cNvSpPr/>
          <p:nvPr/>
        </p:nvSpPr>
        <p:spPr>
          <a:xfrm>
            <a:off x="4727448" y="4187952"/>
            <a:ext cx="2103120" cy="950976"/>
          </a:xfrm>
          <a:prstGeom prst="roundRect">
            <a:avLst>
              <a:gd name="adj" fmla="val 9615"/>
            </a:avLst>
          </a:prstGeom>
          <a:solidFill>
            <a:srgbClr val="FFFFFF"/>
          </a:solidFill>
          <a:ln w="19050">
            <a:solidFill>
              <a:srgbClr val="5A0F1C"/>
            </a:solidFill>
            <a:prstDash val="solid"/>
          </a:ln>
          <a:effectLst>
            <a:outerShdw sx="100000" sy="100000" kx="0" ky="0" algn="bl" rotWithShape="0" blurRad="63500" dist="25400" dir="5400000">
              <a:srgbClr val="000000">
                <a:alpha val="10000"/>
              </a:srgbClr>
            </a:outerShdw>
          </a:effectLst>
        </p:spPr>
      </p:sp>
      <p:sp>
        <p:nvSpPr>
          <p:cNvPr id="42" name="Text 40"/>
          <p:cNvSpPr/>
          <p:nvPr/>
        </p:nvSpPr>
        <p:spPr>
          <a:xfrm>
            <a:off x="4837176" y="4187952"/>
            <a:ext cx="1920240" cy="950976"/>
          </a:xfrm>
          <a:prstGeom prst="rect">
            <a:avLst/>
          </a:prstGeom>
          <a:noFill/>
          <a:ln/>
        </p:spPr>
        <p:txBody>
          <a:bodyPr wrap="square" rtlCol="0" anchor="ctr"/>
          <a:lstStyle/>
          <a:p>
            <a:pPr indent="0" marL="0">
              <a:buNone/>
            </a:pPr>
            <a:r>
              <a:rPr lang="en-US" sz="1200" b="1" dirty="0">
                <a:solidFill>
                  <a:srgbClr val="2B0A10"/>
                </a:solidFill>
                <a:latin typeface="Segoe UI" pitchFamily="34" charset="0"/>
                <a:ea typeface="Segoe UI" pitchFamily="34" charset="-122"/>
                <a:cs typeface="Segoe UI" pitchFamily="34" charset="-120"/>
              </a:rPr>
              <a:t>🛠️ Tool-calling agent</a:t>
            </a:r>
            <a:endParaRPr lang="en-US" sz="1200" dirty="0"/>
          </a:p>
          <a:p>
            <a:pPr indent="0" marL="0">
              <a:buNone/>
            </a:pPr>
            <a:r>
              <a:rPr lang="en-US" sz="1000" dirty="0">
                <a:solidFill>
                  <a:srgbClr val="5F5F5F"/>
                </a:solidFill>
                <a:latin typeface="Segoe UI" pitchFamily="34" charset="0"/>
                <a:ea typeface="Segoe UI" pitchFamily="34" charset="-122"/>
                <a:cs typeface="Segoe UI" pitchFamily="34" charset="-120"/>
              </a:rPr>
              <a:t>Cline SDK · 6 typed tools</a:t>
            </a:r>
            <a:endParaRPr lang="en-US" sz="1200" dirty="0"/>
          </a:p>
        </p:txBody>
      </p:sp>
      <p:sp>
        <p:nvSpPr>
          <p:cNvPr id="43" name="Shape 41"/>
          <p:cNvSpPr/>
          <p:nvPr/>
        </p:nvSpPr>
        <p:spPr>
          <a:xfrm>
            <a:off x="6848856" y="4663440"/>
            <a:ext cx="210312" cy="0"/>
          </a:xfrm>
          <a:prstGeom prst="line">
            <a:avLst/>
          </a:prstGeom>
          <a:noFill/>
          <a:ln w="22225">
            <a:solidFill>
              <a:srgbClr val="5A0F1C"/>
            </a:solidFill>
            <a:prstDash val="solid"/>
            <a:tailEnd type="triangle"/>
          </a:ln>
        </p:spPr>
      </p:sp>
      <p:sp>
        <p:nvSpPr>
          <p:cNvPr id="44" name="Shape 42"/>
          <p:cNvSpPr/>
          <p:nvPr/>
        </p:nvSpPr>
        <p:spPr>
          <a:xfrm>
            <a:off x="7077456" y="4187952"/>
            <a:ext cx="2103120" cy="950976"/>
          </a:xfrm>
          <a:prstGeom prst="roundRect">
            <a:avLst>
              <a:gd name="adj" fmla="val 9615"/>
            </a:avLst>
          </a:prstGeom>
          <a:solidFill>
            <a:srgbClr val="FFFFFF"/>
          </a:solidFill>
          <a:ln w="19050">
            <a:solidFill>
              <a:srgbClr val="5A0F1C"/>
            </a:solidFill>
            <a:prstDash val="solid"/>
          </a:ln>
          <a:effectLst>
            <a:outerShdw sx="100000" sy="100000" kx="0" ky="0" algn="bl" rotWithShape="0" blurRad="63500" dist="25400" dir="5400000">
              <a:srgbClr val="000000">
                <a:alpha val="10000"/>
              </a:srgbClr>
            </a:outerShdw>
          </a:effectLst>
        </p:spPr>
      </p:sp>
      <p:sp>
        <p:nvSpPr>
          <p:cNvPr id="45" name="Text 43"/>
          <p:cNvSpPr/>
          <p:nvPr/>
        </p:nvSpPr>
        <p:spPr>
          <a:xfrm>
            <a:off x="7187184" y="4187952"/>
            <a:ext cx="1920240" cy="950976"/>
          </a:xfrm>
          <a:prstGeom prst="rect">
            <a:avLst/>
          </a:prstGeom>
          <a:noFill/>
          <a:ln/>
        </p:spPr>
        <p:txBody>
          <a:bodyPr wrap="square" rtlCol="0" anchor="ctr"/>
          <a:lstStyle/>
          <a:p>
            <a:pPr indent="0" marL="0">
              <a:buNone/>
            </a:pPr>
            <a:r>
              <a:rPr lang="en-US" sz="1200" b="1" dirty="0">
                <a:solidFill>
                  <a:srgbClr val="2B0A10"/>
                </a:solidFill>
                <a:latin typeface="Segoe UI" pitchFamily="34" charset="0"/>
                <a:ea typeface="Segoe UI" pitchFamily="34" charset="-122"/>
                <a:cs typeface="Segoe UI" pitchFamily="34" charset="-120"/>
              </a:rPr>
              <a:t>📝 Grounded briefing</a:t>
            </a:r>
            <a:endParaRPr lang="en-US" sz="1200" dirty="0"/>
          </a:p>
          <a:p>
            <a:pPr indent="0" marL="0">
              <a:buNone/>
            </a:pPr>
            <a:r>
              <a:rPr lang="en-US" sz="1000" dirty="0">
                <a:solidFill>
                  <a:srgbClr val="5F5F5F"/>
                </a:solidFill>
                <a:latin typeface="Segoe UI" pitchFamily="34" charset="0"/>
                <a:ea typeface="Segoe UI" pitchFamily="34" charset="-122"/>
                <a:cs typeface="Segoe UI" pitchFamily="34" charset="-120"/>
              </a:rPr>
              <a:t>drafts + suggested actions</a:t>
            </a:r>
            <a:endParaRPr lang="en-US" sz="1200" dirty="0"/>
          </a:p>
        </p:txBody>
      </p:sp>
      <p:sp>
        <p:nvSpPr>
          <p:cNvPr id="46" name="Shape 44"/>
          <p:cNvSpPr/>
          <p:nvPr/>
        </p:nvSpPr>
        <p:spPr>
          <a:xfrm>
            <a:off x="9198864" y="4663440"/>
            <a:ext cx="210312" cy="0"/>
          </a:xfrm>
          <a:prstGeom prst="line">
            <a:avLst/>
          </a:prstGeom>
          <a:noFill/>
          <a:ln w="22225">
            <a:solidFill>
              <a:srgbClr val="5A0F1C"/>
            </a:solidFill>
            <a:prstDash val="solid"/>
            <a:tailEnd type="triangle"/>
          </a:ln>
        </p:spPr>
      </p:sp>
      <p:sp>
        <p:nvSpPr>
          <p:cNvPr id="47" name="Shape 45"/>
          <p:cNvSpPr/>
          <p:nvPr/>
        </p:nvSpPr>
        <p:spPr>
          <a:xfrm>
            <a:off x="9427464" y="4187952"/>
            <a:ext cx="2103120" cy="950976"/>
          </a:xfrm>
          <a:prstGeom prst="roundRect">
            <a:avLst>
              <a:gd name="adj" fmla="val 9615"/>
            </a:avLst>
          </a:prstGeom>
          <a:solidFill>
            <a:srgbClr val="FFFFFF"/>
          </a:solidFill>
          <a:ln w="19050">
            <a:solidFill>
              <a:srgbClr val="5A0F1C"/>
            </a:solidFill>
            <a:prstDash val="solid"/>
          </a:ln>
          <a:effectLst>
            <a:outerShdw sx="100000" sy="100000" kx="0" ky="0" algn="bl" rotWithShape="0" blurRad="63500" dist="25400" dir="5400000">
              <a:srgbClr val="000000">
                <a:alpha val="10000"/>
              </a:srgbClr>
            </a:outerShdw>
          </a:effectLst>
        </p:spPr>
      </p:sp>
      <p:sp>
        <p:nvSpPr>
          <p:cNvPr id="48" name="Text 46"/>
          <p:cNvSpPr/>
          <p:nvPr/>
        </p:nvSpPr>
        <p:spPr>
          <a:xfrm>
            <a:off x="9537192" y="4187952"/>
            <a:ext cx="1920240" cy="950976"/>
          </a:xfrm>
          <a:prstGeom prst="rect">
            <a:avLst/>
          </a:prstGeom>
          <a:noFill/>
          <a:ln/>
        </p:spPr>
        <p:txBody>
          <a:bodyPr wrap="square" rtlCol="0" anchor="ctr"/>
          <a:lstStyle/>
          <a:p>
            <a:pPr indent="0" marL="0">
              <a:buNone/>
            </a:pPr>
            <a:r>
              <a:rPr lang="en-US" sz="1200" b="1" dirty="0">
                <a:solidFill>
                  <a:srgbClr val="2B0A10"/>
                </a:solidFill>
                <a:latin typeface="Segoe UI" pitchFamily="34" charset="0"/>
                <a:ea typeface="Segoe UI" pitchFamily="34" charset="-122"/>
                <a:cs typeface="Segoe UI" pitchFamily="34" charset="-120"/>
              </a:rPr>
              <a:t>✋ Human approval</a:t>
            </a:r>
            <a:endParaRPr lang="en-US" sz="1200" dirty="0"/>
          </a:p>
          <a:p>
            <a:pPr indent="0" marL="0">
              <a:buNone/>
            </a:pPr>
            <a:r>
              <a:rPr lang="en-US" sz="1000" dirty="0">
                <a:solidFill>
                  <a:srgbClr val="5F5F5F"/>
                </a:solidFill>
                <a:latin typeface="Segoe UI" pitchFamily="34" charset="0"/>
                <a:ea typeface="Segoe UI" pitchFamily="34" charset="-122"/>
                <a:cs typeface="Segoe UI" pitchFamily="34" charset="-120"/>
              </a:rPr>
              <a:t>nothing sent without a click</a:t>
            </a:r>
            <a:endParaRPr lang="en-US" sz="1200" dirty="0"/>
          </a:p>
        </p:txBody>
      </p:sp>
      <p:sp>
        <p:nvSpPr>
          <p:cNvPr id="49" name="Shape 47"/>
          <p:cNvSpPr/>
          <p:nvPr/>
        </p:nvSpPr>
        <p:spPr>
          <a:xfrm>
            <a:off x="548640" y="5440680"/>
            <a:ext cx="11064240" cy="548640"/>
          </a:xfrm>
          <a:prstGeom prst="roundRect">
            <a:avLst>
              <a:gd name="adj" fmla="val 16667"/>
            </a:avLst>
          </a:prstGeom>
          <a:solidFill>
            <a:srgbClr val="FBE4E6"/>
          </a:solidFill>
          <a:ln w="12700">
            <a:solidFill>
              <a:srgbClr val="C8102E"/>
            </a:solidFill>
            <a:prstDash val="solid"/>
          </a:ln>
        </p:spPr>
      </p:sp>
      <p:sp>
        <p:nvSpPr>
          <p:cNvPr id="50" name="Text 48"/>
          <p:cNvSpPr/>
          <p:nvPr/>
        </p:nvSpPr>
        <p:spPr>
          <a:xfrm>
            <a:off x="731520" y="5440680"/>
            <a:ext cx="10789920" cy="548640"/>
          </a:xfrm>
          <a:prstGeom prst="rect">
            <a:avLst/>
          </a:prstGeom>
          <a:noFill/>
          <a:ln/>
        </p:spPr>
        <p:txBody>
          <a:bodyPr wrap="square" rtlCol="0" anchor="ctr"/>
          <a:lstStyle/>
          <a:p>
            <a:pPr indent="0" marL="0">
              <a:buNone/>
            </a:pPr>
            <a:r>
              <a:rPr lang="en-US" sz="1200" b="1" dirty="0">
                <a:solidFill>
                  <a:srgbClr val="C8102E"/>
                </a:solidFill>
                <a:latin typeface="Segoe UI" pitchFamily="34" charset="0"/>
                <a:ea typeface="Segoe UI" pitchFamily="34" charset="-122"/>
                <a:cs typeface="Segoe UI" pitchFamily="34" charset="-120"/>
              </a:rPr>
              <a:t>Responsible AI: </a:t>
            </a:r>
            <a:pPr indent="0" marL="0">
              <a:buNone/>
            </a:pPr>
            <a:r>
              <a:rPr lang="en-US" sz="1200" dirty="0">
                <a:solidFill>
                  <a:srgbClr val="222222"/>
                </a:solidFill>
                <a:latin typeface="Segoe UI" pitchFamily="34" charset="0"/>
                <a:ea typeface="Segoe UI" pitchFamily="34" charset="-122"/>
                <a:cs typeface="Segoe UI" pitchFamily="34" charset="-120"/>
              </a:rPr>
              <a:t>AI handles language and insight. It never decides clinical urgency, fitness or verification. If one LLM provider is rate-limited, requests fail over to the other.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8F5"/>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102E"/>
          </a:solidFill>
          <a:ln w="12700">
            <a:solidFill>
              <a:srgbClr val="C8102E"/>
            </a:solidFill>
            <a:prstDash val="solid"/>
          </a:ln>
        </p:spPr>
      </p:sp>
      <p:sp>
        <p:nvSpPr>
          <p:cNvPr id="3" name="Text 1"/>
          <p:cNvSpPr/>
          <p:nvPr/>
        </p:nvSpPr>
        <p:spPr>
          <a:xfrm>
            <a:off x="411480" y="6446520"/>
            <a:ext cx="2743200" cy="274320"/>
          </a:xfrm>
          <a:prstGeom prst="rect">
            <a:avLst/>
          </a:prstGeom>
          <a:noFill/>
          <a:ln/>
        </p:spPr>
        <p:txBody>
          <a:bodyPr wrap="square" rtlCol="0" anchor="ctr"/>
          <a:lstStyle/>
          <a:p>
            <a:pPr indent="0" marL="0">
              <a:buNone/>
            </a:pPr>
            <a:r>
              <a:rPr lang="en-US" sz="1000" b="1" dirty="0">
                <a:solidFill>
                  <a:srgbClr val="C8102E"/>
                </a:solidFill>
                <a:latin typeface="Segoe UI" pitchFamily="34" charset="0"/>
                <a:ea typeface="Segoe UI" pitchFamily="34" charset="-122"/>
                <a:cs typeface="Segoe UI" pitchFamily="34" charset="-120"/>
              </a:rPr>
              <a:t>RaktDoot</a:t>
            </a:r>
            <a:endParaRPr lang="en-US" sz="1000" dirty="0"/>
          </a:p>
        </p:txBody>
      </p:sp>
      <p:sp>
        <p:nvSpPr>
          <p:cNvPr id="4" name="Text 2"/>
          <p:cNvSpPr/>
          <p:nvPr/>
        </p:nvSpPr>
        <p:spPr>
          <a:xfrm>
            <a:off x="11277295" y="6446520"/>
            <a:ext cx="548640" cy="274320"/>
          </a:xfrm>
          <a:prstGeom prst="rect">
            <a:avLst/>
          </a:prstGeom>
          <a:noFill/>
          <a:ln/>
        </p:spPr>
        <p:txBody>
          <a:bodyPr wrap="square" rtlCol="0" anchor="ctr"/>
          <a:lstStyle/>
          <a:p>
            <a:pPr algn="r" indent="0" marL="0">
              <a:buNone/>
            </a:pPr>
            <a:r>
              <a:rPr lang="en-US" sz="1000" dirty="0">
                <a:solidFill>
                  <a:srgbClr val="5F5F5F"/>
                </a:solidFill>
                <a:latin typeface="Segoe UI" pitchFamily="34" charset="0"/>
                <a:ea typeface="Segoe UI" pitchFamily="34" charset="-122"/>
                <a:cs typeface="Segoe UI" pitchFamily="34" charset="-120"/>
              </a:rPr>
              <a:t>15</a:t>
            </a:r>
            <a:endParaRPr lang="en-US" sz="1000" dirty="0"/>
          </a:p>
        </p:txBody>
      </p:sp>
      <p:sp>
        <p:nvSpPr>
          <p:cNvPr id="5" name="Text 3"/>
          <p:cNvSpPr/>
          <p:nvPr/>
        </p:nvSpPr>
        <p:spPr>
          <a:xfrm>
            <a:off x="548640" y="320040"/>
            <a:ext cx="9144000" cy="320040"/>
          </a:xfrm>
          <a:prstGeom prst="rect">
            <a:avLst/>
          </a:prstGeom>
          <a:noFill/>
          <a:ln/>
        </p:spPr>
        <p:txBody>
          <a:bodyPr wrap="square" rtlCol="0" anchor="ctr"/>
          <a:lstStyle/>
          <a:p>
            <a:pPr indent="0" marL="0">
              <a:buNone/>
            </a:pPr>
            <a:r>
              <a:rPr lang="en-US" sz="1200" b="1" spc="300" kern="0" dirty="0">
                <a:solidFill>
                  <a:srgbClr val="C8102E"/>
                </a:solidFill>
                <a:latin typeface="Segoe UI" pitchFamily="34" charset="0"/>
                <a:ea typeface="Segoe UI" pitchFamily="34" charset="-122"/>
                <a:cs typeface="Segoe UI" pitchFamily="34" charset="-120"/>
              </a:rPr>
              <a:t>PROGRESS &amp; LEARNINGS</a:t>
            </a:r>
            <a:endParaRPr lang="en-US" sz="1200" dirty="0"/>
          </a:p>
        </p:txBody>
      </p:sp>
      <p:sp>
        <p:nvSpPr>
          <p:cNvPr id="6" name="Text 4"/>
          <p:cNvSpPr/>
          <p:nvPr/>
        </p:nvSpPr>
        <p:spPr>
          <a:xfrm>
            <a:off x="548640" y="640080"/>
            <a:ext cx="11064240" cy="777240"/>
          </a:xfrm>
          <a:prstGeom prst="rect">
            <a:avLst/>
          </a:prstGeom>
          <a:noFill/>
          <a:ln/>
        </p:spPr>
        <p:txBody>
          <a:bodyPr wrap="square" rtlCol="0" anchor="ctr"/>
          <a:lstStyle/>
          <a:p>
            <a:pPr indent="0" marL="0">
              <a:buNone/>
            </a:pPr>
            <a:r>
              <a:rPr lang="en-US" sz="3000" b="1" dirty="0">
                <a:solidFill>
                  <a:srgbClr val="2B0A10"/>
                </a:solidFill>
                <a:latin typeface="Segoe UI" pitchFamily="34" charset="0"/>
                <a:ea typeface="Segoe UI" pitchFamily="34" charset="-122"/>
                <a:cs typeface="Segoe UI" pitchFamily="34" charset="-120"/>
              </a:rPr>
              <a:t>Where we are, and the hard problems we solved</a:t>
            </a:r>
            <a:endParaRPr lang="en-US" sz="3000" dirty="0"/>
          </a:p>
        </p:txBody>
      </p:sp>
      <p:sp>
        <p:nvSpPr>
          <p:cNvPr id="7" name="Shape 5"/>
          <p:cNvSpPr/>
          <p:nvPr/>
        </p:nvSpPr>
        <p:spPr>
          <a:xfrm>
            <a:off x="548640" y="1554480"/>
            <a:ext cx="4572000" cy="4389120"/>
          </a:xfrm>
          <a:prstGeom prst="roundRect">
            <a:avLst>
              <a:gd name="adj" fmla="val 2500"/>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685800" y="1554480"/>
            <a:ext cx="4297680" cy="64008"/>
          </a:xfrm>
          <a:prstGeom prst="rect">
            <a:avLst/>
          </a:prstGeom>
          <a:solidFill>
            <a:srgbClr val="1F8A70"/>
          </a:solidFill>
          <a:ln w="12700">
            <a:solidFill>
              <a:srgbClr val="1F8A70"/>
            </a:solidFill>
            <a:prstDash val="solid"/>
          </a:ln>
        </p:spPr>
      </p:sp>
      <p:sp>
        <p:nvSpPr>
          <p:cNvPr id="9" name="Text 7"/>
          <p:cNvSpPr/>
          <p:nvPr/>
        </p:nvSpPr>
        <p:spPr>
          <a:xfrm>
            <a:off x="777240" y="1691640"/>
            <a:ext cx="4206240" cy="365760"/>
          </a:xfrm>
          <a:prstGeom prst="rect">
            <a:avLst/>
          </a:prstGeom>
          <a:noFill/>
          <a:ln/>
        </p:spPr>
        <p:txBody>
          <a:bodyPr wrap="square" rtlCol="0" anchor="ctr"/>
          <a:lstStyle/>
          <a:p>
            <a:pPr indent="0" marL="0">
              <a:buNone/>
            </a:pPr>
            <a:r>
              <a:rPr lang="en-US" sz="1600" b="1" dirty="0">
                <a:solidFill>
                  <a:srgbClr val="1F8A70"/>
                </a:solidFill>
                <a:latin typeface="Segoe UI" pitchFamily="34" charset="0"/>
                <a:ea typeface="Segoe UI" pitchFamily="34" charset="-122"/>
                <a:cs typeface="Segoe UI" pitchFamily="34" charset="-120"/>
              </a:rPr>
              <a:t>✅ Built &amp; tested</a:t>
            </a:r>
            <a:endParaRPr lang="en-US" sz="1600" dirty="0"/>
          </a:p>
        </p:txBody>
      </p:sp>
      <p:sp>
        <p:nvSpPr>
          <p:cNvPr id="10" name="Text 8"/>
          <p:cNvSpPr/>
          <p:nvPr/>
        </p:nvSpPr>
        <p:spPr>
          <a:xfrm>
            <a:off x="777240" y="2148840"/>
            <a:ext cx="4206240" cy="3657600"/>
          </a:xfrm>
          <a:prstGeom prst="rect">
            <a:avLst/>
          </a:prstGeom>
          <a:noFill/>
          <a:ln/>
        </p:spPr>
        <p:txBody>
          <a:bodyPr wrap="square" rtlCol="0" anchor="t"/>
          <a:lstStyle/>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Shared domain rules: request lifecycle, role permissions, verification gate</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Provisional eligibility (90 / 120 days)</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Consent records, ~1 km location rounding, contracts</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Unit tests with node:test</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Full architecture, pipelines, data model &amp; policies documented</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Build-phase plan: 4 parallel workstreams, 8 hours</a:t>
            </a:r>
            <a:endParaRPr lang="en-US" sz="1300" dirty="0"/>
          </a:p>
        </p:txBody>
      </p:sp>
      <p:sp>
        <p:nvSpPr>
          <p:cNvPr id="11" name="Text 9"/>
          <p:cNvSpPr/>
          <p:nvPr/>
        </p:nvSpPr>
        <p:spPr>
          <a:xfrm>
            <a:off x="5349240" y="1554480"/>
            <a:ext cx="6217920" cy="365760"/>
          </a:xfrm>
          <a:prstGeom prst="rect">
            <a:avLst/>
          </a:prstGeom>
          <a:noFill/>
          <a:ln/>
        </p:spPr>
        <p:txBody>
          <a:bodyPr wrap="square" rtlCol="0" anchor="ctr"/>
          <a:lstStyle/>
          <a:p>
            <a:pPr indent="0" marL="0">
              <a:buNone/>
            </a:pPr>
            <a:r>
              <a:rPr lang="en-US" sz="1600" b="1" dirty="0">
                <a:solidFill>
                  <a:srgbClr val="C8102E"/>
                </a:solidFill>
                <a:latin typeface="Segoe UI" pitchFamily="34" charset="0"/>
                <a:ea typeface="Segoe UI" pitchFamily="34" charset="-122"/>
                <a:cs typeface="Segoe UI" pitchFamily="34" charset="-120"/>
              </a:rPr>
              <a:t>🧗 Challenges → our resolution</a:t>
            </a:r>
            <a:endParaRPr lang="en-US" sz="1600" dirty="0"/>
          </a:p>
        </p:txBody>
      </p:sp>
      <p:sp>
        <p:nvSpPr>
          <p:cNvPr id="12" name="Shape 10"/>
          <p:cNvSpPr/>
          <p:nvPr/>
        </p:nvSpPr>
        <p:spPr>
          <a:xfrm>
            <a:off x="5349240" y="2011680"/>
            <a:ext cx="3017520" cy="868680"/>
          </a:xfrm>
          <a:prstGeom prst="roundRect">
            <a:avLst>
              <a:gd name="adj" fmla="val 8421"/>
            </a:avLst>
          </a:prstGeom>
          <a:solidFill>
            <a:srgbClr val="FBE4E6"/>
          </a:solidFill>
          <a:ln w="12700">
            <a:solidFill>
              <a:srgbClr val="FBE4E6"/>
            </a:solidFill>
            <a:prstDash val="solid"/>
          </a:ln>
        </p:spPr>
      </p:sp>
      <p:sp>
        <p:nvSpPr>
          <p:cNvPr id="13" name="Text 11"/>
          <p:cNvSpPr/>
          <p:nvPr/>
        </p:nvSpPr>
        <p:spPr>
          <a:xfrm>
            <a:off x="5440680" y="2011680"/>
            <a:ext cx="2834640" cy="868680"/>
          </a:xfrm>
          <a:prstGeom prst="rect">
            <a:avLst/>
          </a:prstGeom>
          <a:noFill/>
          <a:ln/>
        </p:spPr>
        <p:txBody>
          <a:bodyPr wrap="square" rtlCol="0" anchor="ctr"/>
          <a:lstStyle/>
          <a:p>
            <a:pPr indent="0" marL="0">
              <a:buNone/>
            </a:pPr>
            <a:r>
              <a:rPr lang="en-US" sz="1100" dirty="0">
                <a:solidFill>
                  <a:srgbClr val="5A0F1C"/>
                </a:solidFill>
                <a:latin typeface="Segoe UI" pitchFamily="34" charset="0"/>
                <a:ea typeface="Segoe UI" pitchFamily="34" charset="-122"/>
                <a:cs typeface="Segoe UI" pitchFamily="34" charset="-120"/>
              </a:rPr>
              <a:t>WhatsApp doesn't stream donors' live location to bots</a:t>
            </a:r>
            <a:endParaRPr lang="en-US" sz="1100" dirty="0"/>
          </a:p>
        </p:txBody>
      </p:sp>
      <p:sp>
        <p:nvSpPr>
          <p:cNvPr id="14" name="Shape 12"/>
          <p:cNvSpPr/>
          <p:nvPr/>
        </p:nvSpPr>
        <p:spPr>
          <a:xfrm>
            <a:off x="8412480" y="2441448"/>
            <a:ext cx="274320" cy="0"/>
          </a:xfrm>
          <a:prstGeom prst="line">
            <a:avLst/>
          </a:prstGeom>
          <a:noFill/>
          <a:ln w="31750">
            <a:solidFill>
              <a:srgbClr val="5F5F5F"/>
            </a:solidFill>
            <a:prstDash val="solid"/>
            <a:tailEnd type="triangle"/>
          </a:ln>
        </p:spPr>
      </p:sp>
      <p:sp>
        <p:nvSpPr>
          <p:cNvPr id="15" name="Shape 13"/>
          <p:cNvSpPr/>
          <p:nvPr/>
        </p:nvSpPr>
        <p:spPr>
          <a:xfrm>
            <a:off x="8732520" y="2011680"/>
            <a:ext cx="2880360" cy="868680"/>
          </a:xfrm>
          <a:prstGeom prst="roundRect">
            <a:avLst>
              <a:gd name="adj" fmla="val 8421"/>
            </a:avLst>
          </a:prstGeom>
          <a:solidFill>
            <a:srgbClr val="FFFFFF"/>
          </a:solidFill>
          <a:ln w="12700">
            <a:solidFill>
              <a:srgbClr val="1F8A70"/>
            </a:solidFill>
            <a:prstDash val="solid"/>
          </a:ln>
        </p:spPr>
      </p:sp>
      <p:sp>
        <p:nvSpPr>
          <p:cNvPr id="16" name="Text 14"/>
          <p:cNvSpPr/>
          <p:nvPr/>
        </p:nvSpPr>
        <p:spPr>
          <a:xfrm>
            <a:off x="8823960" y="2011680"/>
            <a:ext cx="2697480" cy="868680"/>
          </a:xfrm>
          <a:prstGeom prst="rect">
            <a:avLst/>
          </a:prstGeom>
          <a:noFill/>
          <a:ln/>
        </p:spPr>
        <p:txBody>
          <a:bodyPr wrap="square" rtlCol="0" anchor="ctr"/>
          <a:lstStyle/>
          <a:p>
            <a:pPr indent="0" marL="0">
              <a:buNone/>
            </a:pPr>
            <a:r>
              <a:rPr lang="en-US" sz="1100" dirty="0">
                <a:solidFill>
                  <a:srgbClr val="222222"/>
                </a:solidFill>
                <a:latin typeface="Segoe UI" pitchFamily="34" charset="0"/>
                <a:ea typeface="Segoe UI" pitchFamily="34" charset="-122"/>
                <a:cs typeface="Segoe UI" pitchFamily="34" charset="-120"/>
              </a:rPr>
              <a:t>Manual location updates (pin / GPS / typed), stored at ~1 km</a:t>
            </a:r>
            <a:endParaRPr lang="en-US" sz="1100" dirty="0"/>
          </a:p>
        </p:txBody>
      </p:sp>
      <p:sp>
        <p:nvSpPr>
          <p:cNvPr id="17" name="Shape 15"/>
          <p:cNvSpPr/>
          <p:nvPr/>
        </p:nvSpPr>
        <p:spPr>
          <a:xfrm>
            <a:off x="5349240" y="2999232"/>
            <a:ext cx="3017520" cy="868680"/>
          </a:xfrm>
          <a:prstGeom prst="roundRect">
            <a:avLst>
              <a:gd name="adj" fmla="val 8421"/>
            </a:avLst>
          </a:prstGeom>
          <a:solidFill>
            <a:srgbClr val="FBE4E6"/>
          </a:solidFill>
          <a:ln w="12700">
            <a:solidFill>
              <a:srgbClr val="FBE4E6"/>
            </a:solidFill>
            <a:prstDash val="solid"/>
          </a:ln>
        </p:spPr>
      </p:sp>
      <p:sp>
        <p:nvSpPr>
          <p:cNvPr id="18" name="Text 16"/>
          <p:cNvSpPr/>
          <p:nvPr/>
        </p:nvSpPr>
        <p:spPr>
          <a:xfrm>
            <a:off x="5440680" y="2999232"/>
            <a:ext cx="2834640" cy="868680"/>
          </a:xfrm>
          <a:prstGeom prst="rect">
            <a:avLst/>
          </a:prstGeom>
          <a:noFill/>
          <a:ln/>
        </p:spPr>
        <p:txBody>
          <a:bodyPr wrap="square" rtlCol="0" anchor="ctr"/>
          <a:lstStyle/>
          <a:p>
            <a:pPr indent="0" marL="0">
              <a:buNone/>
            </a:pPr>
            <a:r>
              <a:rPr lang="en-US" sz="1100" dirty="0">
                <a:solidFill>
                  <a:srgbClr val="5A0F1C"/>
                </a:solidFill>
                <a:latin typeface="Segoe UI" pitchFamily="34" charset="0"/>
                <a:ea typeface="Segoe UI" pitchFamily="34" charset="-122"/>
                <a:cs typeface="Segoe UI" pitchFamily="34" charset="-120"/>
              </a:rPr>
              <a:t>Donor incentive rules: no cash or substantial gifts</a:t>
            </a:r>
            <a:endParaRPr lang="en-US" sz="1100" dirty="0"/>
          </a:p>
        </p:txBody>
      </p:sp>
      <p:sp>
        <p:nvSpPr>
          <p:cNvPr id="19" name="Shape 17"/>
          <p:cNvSpPr/>
          <p:nvPr/>
        </p:nvSpPr>
        <p:spPr>
          <a:xfrm>
            <a:off x="8412480" y="3429000"/>
            <a:ext cx="274320" cy="0"/>
          </a:xfrm>
          <a:prstGeom prst="line">
            <a:avLst/>
          </a:prstGeom>
          <a:noFill/>
          <a:ln w="31750">
            <a:solidFill>
              <a:srgbClr val="5F5F5F"/>
            </a:solidFill>
            <a:prstDash val="solid"/>
            <a:tailEnd type="triangle"/>
          </a:ln>
        </p:spPr>
      </p:sp>
      <p:sp>
        <p:nvSpPr>
          <p:cNvPr id="20" name="Shape 18"/>
          <p:cNvSpPr/>
          <p:nvPr/>
        </p:nvSpPr>
        <p:spPr>
          <a:xfrm>
            <a:off x="8732520" y="2999232"/>
            <a:ext cx="2880360" cy="868680"/>
          </a:xfrm>
          <a:prstGeom prst="roundRect">
            <a:avLst>
              <a:gd name="adj" fmla="val 8421"/>
            </a:avLst>
          </a:prstGeom>
          <a:solidFill>
            <a:srgbClr val="FFFFFF"/>
          </a:solidFill>
          <a:ln w="12700">
            <a:solidFill>
              <a:srgbClr val="1F8A70"/>
            </a:solidFill>
            <a:prstDash val="solid"/>
          </a:ln>
        </p:spPr>
      </p:sp>
      <p:sp>
        <p:nvSpPr>
          <p:cNvPr id="21" name="Text 19"/>
          <p:cNvSpPr/>
          <p:nvPr/>
        </p:nvSpPr>
        <p:spPr>
          <a:xfrm>
            <a:off x="8823960" y="2999232"/>
            <a:ext cx="2697480" cy="868680"/>
          </a:xfrm>
          <a:prstGeom prst="rect">
            <a:avLst/>
          </a:prstGeom>
          <a:noFill/>
          <a:ln/>
        </p:spPr>
        <p:txBody>
          <a:bodyPr wrap="square" rtlCol="0" anchor="ctr"/>
          <a:lstStyle/>
          <a:p>
            <a:pPr indent="0" marL="0">
              <a:buNone/>
            </a:pPr>
            <a:r>
              <a:rPr lang="en-US" sz="1100" dirty="0">
                <a:solidFill>
                  <a:srgbClr val="222222"/>
                </a:solidFill>
                <a:latin typeface="Segoe UI" pitchFamily="34" charset="0"/>
                <a:ea typeface="Segoe UI" pitchFamily="34" charset="-122"/>
                <a:cs typeface="Segoe UI" pitchFamily="34" charset="-120"/>
              </a:rPr>
              <a:t>Non-monetary recognition; token rewards flagged off</a:t>
            </a:r>
            <a:endParaRPr lang="en-US" sz="1100" dirty="0"/>
          </a:p>
        </p:txBody>
      </p:sp>
      <p:sp>
        <p:nvSpPr>
          <p:cNvPr id="22" name="Shape 20"/>
          <p:cNvSpPr/>
          <p:nvPr/>
        </p:nvSpPr>
        <p:spPr>
          <a:xfrm>
            <a:off x="5349240" y="3986784"/>
            <a:ext cx="3017520" cy="868680"/>
          </a:xfrm>
          <a:prstGeom prst="roundRect">
            <a:avLst>
              <a:gd name="adj" fmla="val 8421"/>
            </a:avLst>
          </a:prstGeom>
          <a:solidFill>
            <a:srgbClr val="FBE4E6"/>
          </a:solidFill>
          <a:ln w="12700">
            <a:solidFill>
              <a:srgbClr val="FBE4E6"/>
            </a:solidFill>
            <a:prstDash val="solid"/>
          </a:ln>
        </p:spPr>
      </p:sp>
      <p:sp>
        <p:nvSpPr>
          <p:cNvPr id="23" name="Text 21"/>
          <p:cNvSpPr/>
          <p:nvPr/>
        </p:nvSpPr>
        <p:spPr>
          <a:xfrm>
            <a:off x="5440680" y="3986784"/>
            <a:ext cx="2834640" cy="868680"/>
          </a:xfrm>
          <a:prstGeom prst="rect">
            <a:avLst/>
          </a:prstGeom>
          <a:noFill/>
          <a:ln/>
        </p:spPr>
        <p:txBody>
          <a:bodyPr wrap="square" rtlCol="0" anchor="ctr"/>
          <a:lstStyle/>
          <a:p>
            <a:pPr indent="0" marL="0">
              <a:buNone/>
            </a:pPr>
            <a:r>
              <a:rPr lang="en-US" sz="1100" dirty="0">
                <a:solidFill>
                  <a:srgbClr val="5A0F1C"/>
                </a:solidFill>
                <a:latin typeface="Segoe UI" pitchFamily="34" charset="0"/>
                <a:ea typeface="Segoe UI" pitchFamily="34" charset="-122"/>
                <a:cs typeface="Segoe UI" pitchFamily="34" charset="-120"/>
              </a:rPr>
              <a:t>AI can't authenticate prescription slips</a:t>
            </a:r>
            <a:endParaRPr lang="en-US" sz="1100" dirty="0"/>
          </a:p>
        </p:txBody>
      </p:sp>
      <p:sp>
        <p:nvSpPr>
          <p:cNvPr id="24" name="Shape 22"/>
          <p:cNvSpPr/>
          <p:nvPr/>
        </p:nvSpPr>
        <p:spPr>
          <a:xfrm>
            <a:off x="8412480" y="4416552"/>
            <a:ext cx="274320" cy="0"/>
          </a:xfrm>
          <a:prstGeom prst="line">
            <a:avLst/>
          </a:prstGeom>
          <a:noFill/>
          <a:ln w="31750">
            <a:solidFill>
              <a:srgbClr val="5F5F5F"/>
            </a:solidFill>
            <a:prstDash val="solid"/>
            <a:tailEnd type="triangle"/>
          </a:ln>
        </p:spPr>
      </p:sp>
      <p:sp>
        <p:nvSpPr>
          <p:cNvPr id="25" name="Shape 23"/>
          <p:cNvSpPr/>
          <p:nvPr/>
        </p:nvSpPr>
        <p:spPr>
          <a:xfrm>
            <a:off x="8732520" y="3986784"/>
            <a:ext cx="2880360" cy="868680"/>
          </a:xfrm>
          <a:prstGeom prst="roundRect">
            <a:avLst>
              <a:gd name="adj" fmla="val 8421"/>
            </a:avLst>
          </a:prstGeom>
          <a:solidFill>
            <a:srgbClr val="FFFFFF"/>
          </a:solidFill>
          <a:ln w="12700">
            <a:solidFill>
              <a:srgbClr val="1F8A70"/>
            </a:solidFill>
            <a:prstDash val="solid"/>
          </a:ln>
        </p:spPr>
      </p:sp>
      <p:sp>
        <p:nvSpPr>
          <p:cNvPr id="26" name="Text 24"/>
          <p:cNvSpPr/>
          <p:nvPr/>
        </p:nvSpPr>
        <p:spPr>
          <a:xfrm>
            <a:off x="8823960" y="3986784"/>
            <a:ext cx="2697480" cy="868680"/>
          </a:xfrm>
          <a:prstGeom prst="rect">
            <a:avLst/>
          </a:prstGeom>
          <a:noFill/>
          <a:ln/>
        </p:spPr>
        <p:txBody>
          <a:bodyPr wrap="square" rtlCol="0" anchor="ctr"/>
          <a:lstStyle/>
          <a:p>
            <a:pPr indent="0" marL="0">
              <a:buNone/>
            </a:pPr>
            <a:r>
              <a:rPr lang="en-US" sz="1100" dirty="0">
                <a:solidFill>
                  <a:srgbClr val="222222"/>
                </a:solidFill>
                <a:latin typeface="Segoe UI" pitchFamily="34" charset="0"/>
                <a:ea typeface="Segoe UI" pitchFamily="34" charset="-122"/>
                <a:cs typeface="Segoe UI" pitchFamily="34" charset="-120"/>
              </a:rPr>
              <a:t>Removed slip reading; staff verification gates outreach</a:t>
            </a:r>
            <a:endParaRPr lang="en-US" sz="1100" dirty="0"/>
          </a:p>
        </p:txBody>
      </p:sp>
      <p:sp>
        <p:nvSpPr>
          <p:cNvPr id="27" name="Shape 25"/>
          <p:cNvSpPr/>
          <p:nvPr/>
        </p:nvSpPr>
        <p:spPr>
          <a:xfrm>
            <a:off x="5349240" y="4974336"/>
            <a:ext cx="3017520" cy="868680"/>
          </a:xfrm>
          <a:prstGeom prst="roundRect">
            <a:avLst>
              <a:gd name="adj" fmla="val 8421"/>
            </a:avLst>
          </a:prstGeom>
          <a:solidFill>
            <a:srgbClr val="FBE4E6"/>
          </a:solidFill>
          <a:ln w="12700">
            <a:solidFill>
              <a:srgbClr val="FBE4E6"/>
            </a:solidFill>
            <a:prstDash val="solid"/>
          </a:ln>
        </p:spPr>
      </p:sp>
      <p:sp>
        <p:nvSpPr>
          <p:cNvPr id="28" name="Text 26"/>
          <p:cNvSpPr/>
          <p:nvPr/>
        </p:nvSpPr>
        <p:spPr>
          <a:xfrm>
            <a:off x="5440680" y="4974336"/>
            <a:ext cx="2834640" cy="868680"/>
          </a:xfrm>
          <a:prstGeom prst="rect">
            <a:avLst/>
          </a:prstGeom>
          <a:noFill/>
          <a:ln/>
        </p:spPr>
        <p:txBody>
          <a:bodyPr wrap="square" rtlCol="0" anchor="ctr"/>
          <a:lstStyle/>
          <a:p>
            <a:pPr indent="0" marL="0">
              <a:buNone/>
            </a:pPr>
            <a:r>
              <a:rPr lang="en-US" sz="1100" dirty="0">
                <a:solidFill>
                  <a:srgbClr val="5A0F1C"/>
                </a:solidFill>
                <a:latin typeface="Segoe UI" pitchFamily="34" charset="0"/>
                <a:ea typeface="Segoe UI" pitchFamily="34" charset="-122"/>
                <a:cs typeface="Segoe UI" pitchFamily="34" charset="-120"/>
              </a:rPr>
              <a:t>WhatsApp donor templates outside 24 h cost money</a:t>
            </a:r>
            <a:endParaRPr lang="en-US" sz="1100" dirty="0"/>
          </a:p>
        </p:txBody>
      </p:sp>
      <p:sp>
        <p:nvSpPr>
          <p:cNvPr id="29" name="Shape 27"/>
          <p:cNvSpPr/>
          <p:nvPr/>
        </p:nvSpPr>
        <p:spPr>
          <a:xfrm>
            <a:off x="8412480" y="5404104"/>
            <a:ext cx="274320" cy="0"/>
          </a:xfrm>
          <a:prstGeom prst="line">
            <a:avLst/>
          </a:prstGeom>
          <a:noFill/>
          <a:ln w="31750">
            <a:solidFill>
              <a:srgbClr val="5F5F5F"/>
            </a:solidFill>
            <a:prstDash val="solid"/>
            <a:tailEnd type="triangle"/>
          </a:ln>
        </p:spPr>
      </p:sp>
      <p:sp>
        <p:nvSpPr>
          <p:cNvPr id="30" name="Shape 28"/>
          <p:cNvSpPr/>
          <p:nvPr/>
        </p:nvSpPr>
        <p:spPr>
          <a:xfrm>
            <a:off x="8732520" y="4974336"/>
            <a:ext cx="2880360" cy="868680"/>
          </a:xfrm>
          <a:prstGeom prst="roundRect">
            <a:avLst>
              <a:gd name="adj" fmla="val 8421"/>
            </a:avLst>
          </a:prstGeom>
          <a:solidFill>
            <a:srgbClr val="FFFFFF"/>
          </a:solidFill>
          <a:ln w="12700">
            <a:solidFill>
              <a:srgbClr val="1F8A70"/>
            </a:solidFill>
            <a:prstDash val="solid"/>
          </a:ln>
        </p:spPr>
      </p:sp>
      <p:sp>
        <p:nvSpPr>
          <p:cNvPr id="31" name="Text 29"/>
          <p:cNvSpPr/>
          <p:nvPr/>
        </p:nvSpPr>
        <p:spPr>
          <a:xfrm>
            <a:off x="8823960" y="4974336"/>
            <a:ext cx="2697480" cy="868680"/>
          </a:xfrm>
          <a:prstGeom prst="rect">
            <a:avLst/>
          </a:prstGeom>
          <a:noFill/>
          <a:ln/>
        </p:spPr>
        <p:txBody>
          <a:bodyPr wrap="square" rtlCol="0" anchor="ctr"/>
          <a:lstStyle/>
          <a:p>
            <a:pPr indent="0" marL="0">
              <a:buNone/>
            </a:pPr>
            <a:r>
              <a:rPr lang="en-US" sz="1100" dirty="0">
                <a:solidFill>
                  <a:srgbClr val="222222"/>
                </a:solidFill>
                <a:latin typeface="Segoe UI" pitchFamily="34" charset="0"/>
                <a:ea typeface="Segoe UI" pitchFamily="34" charset="-122"/>
                <a:cs typeface="Segoe UI" pitchFamily="34" charset="-120"/>
              </a:rPr>
              <a:t>Free Web Push fallback for reminders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8F5"/>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102E"/>
          </a:solidFill>
          <a:ln w="12700">
            <a:solidFill>
              <a:srgbClr val="C8102E"/>
            </a:solidFill>
            <a:prstDash val="solid"/>
          </a:ln>
        </p:spPr>
      </p:sp>
      <p:sp>
        <p:nvSpPr>
          <p:cNvPr id="3" name="Text 1"/>
          <p:cNvSpPr/>
          <p:nvPr/>
        </p:nvSpPr>
        <p:spPr>
          <a:xfrm>
            <a:off x="411480" y="6446520"/>
            <a:ext cx="2743200" cy="274320"/>
          </a:xfrm>
          <a:prstGeom prst="rect">
            <a:avLst/>
          </a:prstGeom>
          <a:noFill/>
          <a:ln/>
        </p:spPr>
        <p:txBody>
          <a:bodyPr wrap="square" rtlCol="0" anchor="ctr"/>
          <a:lstStyle/>
          <a:p>
            <a:pPr indent="0" marL="0">
              <a:buNone/>
            </a:pPr>
            <a:r>
              <a:rPr lang="en-US" sz="1000" b="1" dirty="0">
                <a:solidFill>
                  <a:srgbClr val="C8102E"/>
                </a:solidFill>
                <a:latin typeface="Segoe UI" pitchFamily="34" charset="0"/>
                <a:ea typeface="Segoe UI" pitchFamily="34" charset="-122"/>
                <a:cs typeface="Segoe UI" pitchFamily="34" charset="-120"/>
              </a:rPr>
              <a:t>RaktDoot</a:t>
            </a:r>
            <a:endParaRPr lang="en-US" sz="1000" dirty="0"/>
          </a:p>
        </p:txBody>
      </p:sp>
      <p:sp>
        <p:nvSpPr>
          <p:cNvPr id="4" name="Text 2"/>
          <p:cNvSpPr/>
          <p:nvPr/>
        </p:nvSpPr>
        <p:spPr>
          <a:xfrm>
            <a:off x="11277295" y="6446520"/>
            <a:ext cx="548640" cy="274320"/>
          </a:xfrm>
          <a:prstGeom prst="rect">
            <a:avLst/>
          </a:prstGeom>
          <a:noFill/>
          <a:ln/>
        </p:spPr>
        <p:txBody>
          <a:bodyPr wrap="square" rtlCol="0" anchor="ctr"/>
          <a:lstStyle/>
          <a:p>
            <a:pPr algn="r" indent="0" marL="0">
              <a:buNone/>
            </a:pPr>
            <a:r>
              <a:rPr lang="en-US" sz="1000" dirty="0">
                <a:solidFill>
                  <a:srgbClr val="5F5F5F"/>
                </a:solidFill>
                <a:latin typeface="Segoe UI" pitchFamily="34" charset="0"/>
                <a:ea typeface="Segoe UI" pitchFamily="34" charset="-122"/>
                <a:cs typeface="Segoe UI" pitchFamily="34" charset="-120"/>
              </a:rPr>
              <a:t>16</a:t>
            </a:r>
            <a:endParaRPr lang="en-US" sz="1000" dirty="0"/>
          </a:p>
        </p:txBody>
      </p:sp>
      <p:sp>
        <p:nvSpPr>
          <p:cNvPr id="5" name="Text 3"/>
          <p:cNvSpPr/>
          <p:nvPr/>
        </p:nvSpPr>
        <p:spPr>
          <a:xfrm>
            <a:off x="548640" y="320040"/>
            <a:ext cx="9144000" cy="320040"/>
          </a:xfrm>
          <a:prstGeom prst="rect">
            <a:avLst/>
          </a:prstGeom>
          <a:noFill/>
          <a:ln/>
        </p:spPr>
        <p:txBody>
          <a:bodyPr wrap="square" rtlCol="0" anchor="ctr"/>
          <a:lstStyle/>
          <a:p>
            <a:pPr indent="0" marL="0">
              <a:buNone/>
            </a:pPr>
            <a:r>
              <a:rPr lang="en-US" sz="1200" b="1" spc="300" kern="0" dirty="0">
                <a:solidFill>
                  <a:srgbClr val="C8102E"/>
                </a:solidFill>
                <a:latin typeface="Segoe UI" pitchFamily="34" charset="0"/>
                <a:ea typeface="Segoe UI" pitchFamily="34" charset="-122"/>
                <a:cs typeface="Segoe UI" pitchFamily="34" charset="-120"/>
              </a:rPr>
              <a:t>WHAT'S NEXT</a:t>
            </a:r>
            <a:endParaRPr lang="en-US" sz="1200" dirty="0"/>
          </a:p>
        </p:txBody>
      </p:sp>
      <p:sp>
        <p:nvSpPr>
          <p:cNvPr id="6" name="Text 4"/>
          <p:cNvSpPr/>
          <p:nvPr/>
        </p:nvSpPr>
        <p:spPr>
          <a:xfrm>
            <a:off x="548640" y="640080"/>
            <a:ext cx="11064240" cy="777240"/>
          </a:xfrm>
          <a:prstGeom prst="rect">
            <a:avLst/>
          </a:prstGeom>
          <a:noFill/>
          <a:ln/>
        </p:spPr>
        <p:txBody>
          <a:bodyPr wrap="square" rtlCol="0" anchor="ctr"/>
          <a:lstStyle/>
          <a:p>
            <a:pPr indent="0" marL="0">
              <a:buNone/>
            </a:pPr>
            <a:r>
              <a:rPr lang="en-US" sz="3000" b="1" dirty="0">
                <a:solidFill>
                  <a:srgbClr val="2B0A10"/>
                </a:solidFill>
                <a:latin typeface="Segoe UI" pitchFamily="34" charset="0"/>
                <a:ea typeface="Segoe UI" pitchFamily="34" charset="-122"/>
                <a:cs typeface="Segoe UI" pitchFamily="34" charset="-120"/>
              </a:rPr>
              <a:t>Future roadmap</a:t>
            </a:r>
            <a:endParaRPr lang="en-US" sz="3000" dirty="0"/>
          </a:p>
        </p:txBody>
      </p:sp>
      <p:sp>
        <p:nvSpPr>
          <p:cNvPr id="7" name="Shape 5"/>
          <p:cNvSpPr/>
          <p:nvPr/>
        </p:nvSpPr>
        <p:spPr>
          <a:xfrm>
            <a:off x="548640" y="1600200"/>
            <a:ext cx="3566160" cy="685800"/>
          </a:xfrm>
          <a:prstGeom prst="rect">
            <a:avLst/>
          </a:prstGeom>
          <a:solidFill>
            <a:srgbClr val="C8102E"/>
          </a:solidFill>
          <a:ln w="12700">
            <a:solidFill>
              <a:srgbClr val="C8102E"/>
            </a:solidFill>
            <a:prstDash val="solid"/>
          </a:ln>
        </p:spPr>
      </p:sp>
      <p:sp>
        <p:nvSpPr>
          <p:cNvPr id="8" name="Text 6"/>
          <p:cNvSpPr/>
          <p:nvPr/>
        </p:nvSpPr>
        <p:spPr>
          <a:xfrm>
            <a:off x="731520" y="1600200"/>
            <a:ext cx="3291840" cy="685800"/>
          </a:xfrm>
          <a:prstGeom prst="rect">
            <a:avLst/>
          </a:prstGeom>
          <a:noFill/>
          <a:ln/>
        </p:spPr>
        <p:txBody>
          <a:bodyPr wrap="square" rtlCol="0" anchor="ctr"/>
          <a:lstStyle/>
          <a:p>
            <a:pPr indent="0" marL="0">
              <a:buNone/>
            </a:pPr>
            <a:r>
              <a:rPr lang="en-US" sz="1300" b="1" dirty="0">
                <a:solidFill>
                  <a:srgbClr val="F4A259"/>
                </a:solidFill>
                <a:latin typeface="Segoe UI" pitchFamily="34" charset="0"/>
                <a:ea typeface="Segoe UI" pitchFamily="34" charset="-122"/>
                <a:cs typeface="Segoe UI" pitchFamily="34" charset="-120"/>
              </a:rPr>
              <a:t>NEXT  </a:t>
            </a:r>
            <a:pPr indent="0" marL="0">
              <a:buNone/>
            </a:pPr>
            <a:r>
              <a:rPr lang="en-US" sz="1800" b="1" dirty="0">
                <a:solidFill>
                  <a:srgbClr val="FFFFFF"/>
                </a:solidFill>
                <a:latin typeface="Segoe UI" pitchFamily="34" charset="0"/>
                <a:ea typeface="Segoe UI" pitchFamily="34" charset="-122"/>
                <a:cs typeface="Segoe UI" pitchFamily="34" charset="-120"/>
              </a:rPr>
              <a:t>Pilot-ready</a:t>
            </a:r>
            <a:endParaRPr lang="en-US" sz="1300" dirty="0"/>
          </a:p>
        </p:txBody>
      </p:sp>
      <p:sp>
        <p:nvSpPr>
          <p:cNvPr id="9" name="Shape 7"/>
          <p:cNvSpPr/>
          <p:nvPr/>
        </p:nvSpPr>
        <p:spPr>
          <a:xfrm>
            <a:off x="548640" y="2286000"/>
            <a:ext cx="3566160" cy="3657600"/>
          </a:xfrm>
          <a:prstGeom prst="roundRect">
            <a:avLst>
              <a:gd name="adj" fmla="val 3077"/>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10" name="Text 8"/>
          <p:cNvSpPr/>
          <p:nvPr/>
        </p:nvSpPr>
        <p:spPr>
          <a:xfrm>
            <a:off x="731520" y="2468880"/>
            <a:ext cx="3246120" cy="3383280"/>
          </a:xfrm>
          <a:prstGeom prst="rect">
            <a:avLst/>
          </a:prstGeom>
          <a:noFill/>
          <a:ln/>
        </p:spPr>
        <p:txBody>
          <a:bodyPr wrap="square" rtlCol="0" anchor="t"/>
          <a:lstStyle/>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Pilot in one city with partner blood centres &amp; NGOs</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2nd regional language + voice-first flows</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Partner org accounts &amp; donation camp listings</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One-tap hospital confirmation links</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Multilingual eval score published</a:t>
            </a:r>
            <a:endParaRPr lang="en-US" sz="1300" dirty="0"/>
          </a:p>
        </p:txBody>
      </p:sp>
      <p:sp>
        <p:nvSpPr>
          <p:cNvPr id="11" name="Shape 9"/>
          <p:cNvSpPr/>
          <p:nvPr/>
        </p:nvSpPr>
        <p:spPr>
          <a:xfrm>
            <a:off x="4133088" y="1938528"/>
            <a:ext cx="146304" cy="0"/>
          </a:xfrm>
          <a:prstGeom prst="line">
            <a:avLst/>
          </a:prstGeom>
          <a:noFill/>
          <a:ln w="31750">
            <a:solidFill>
              <a:srgbClr val="5F5F5F"/>
            </a:solidFill>
            <a:prstDash val="solid"/>
            <a:tailEnd type="triangle"/>
          </a:ln>
        </p:spPr>
      </p:sp>
      <p:sp>
        <p:nvSpPr>
          <p:cNvPr id="12" name="Shape 10"/>
          <p:cNvSpPr/>
          <p:nvPr/>
        </p:nvSpPr>
        <p:spPr>
          <a:xfrm>
            <a:off x="4297680" y="1600200"/>
            <a:ext cx="3566160" cy="685800"/>
          </a:xfrm>
          <a:prstGeom prst="rect">
            <a:avLst/>
          </a:prstGeom>
          <a:solidFill>
            <a:srgbClr val="1F8A70"/>
          </a:solidFill>
          <a:ln w="12700">
            <a:solidFill>
              <a:srgbClr val="1F8A70"/>
            </a:solidFill>
            <a:prstDash val="solid"/>
          </a:ln>
        </p:spPr>
      </p:sp>
      <p:sp>
        <p:nvSpPr>
          <p:cNvPr id="13" name="Text 11"/>
          <p:cNvSpPr/>
          <p:nvPr/>
        </p:nvSpPr>
        <p:spPr>
          <a:xfrm>
            <a:off x="4480560" y="1600200"/>
            <a:ext cx="3291840" cy="685800"/>
          </a:xfrm>
          <a:prstGeom prst="rect">
            <a:avLst/>
          </a:prstGeom>
          <a:noFill/>
          <a:ln/>
        </p:spPr>
        <p:txBody>
          <a:bodyPr wrap="square" rtlCol="0" anchor="ctr"/>
          <a:lstStyle/>
          <a:p>
            <a:pPr indent="0" marL="0">
              <a:buNone/>
            </a:pPr>
            <a:r>
              <a:rPr lang="en-US" sz="1300" b="1" dirty="0">
                <a:solidFill>
                  <a:srgbClr val="F4A259"/>
                </a:solidFill>
                <a:latin typeface="Segoe UI" pitchFamily="34" charset="0"/>
                <a:ea typeface="Segoe UI" pitchFamily="34" charset="-122"/>
                <a:cs typeface="Segoe UI" pitchFamily="34" charset="-120"/>
              </a:rPr>
              <a:t>SOON  </a:t>
            </a:r>
            <a:pPr indent="0" marL="0">
              <a:buNone/>
            </a:pPr>
            <a:r>
              <a:rPr lang="en-US" sz="1800" b="1" dirty="0">
                <a:solidFill>
                  <a:srgbClr val="FFFFFF"/>
                </a:solidFill>
                <a:latin typeface="Segoe UI" pitchFamily="34" charset="0"/>
                <a:ea typeface="Segoe UI" pitchFamily="34" charset="-122"/>
                <a:cs typeface="Segoe UI" pitchFamily="34" charset="-120"/>
              </a:rPr>
              <a:t>Integrate &amp; scale</a:t>
            </a:r>
            <a:endParaRPr lang="en-US" sz="1300" dirty="0"/>
          </a:p>
        </p:txBody>
      </p:sp>
      <p:sp>
        <p:nvSpPr>
          <p:cNvPr id="14" name="Shape 12"/>
          <p:cNvSpPr/>
          <p:nvPr/>
        </p:nvSpPr>
        <p:spPr>
          <a:xfrm>
            <a:off x="4297680" y="2286000"/>
            <a:ext cx="3566160" cy="3657600"/>
          </a:xfrm>
          <a:prstGeom prst="roundRect">
            <a:avLst>
              <a:gd name="adj" fmla="val 3077"/>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15" name="Text 13"/>
          <p:cNvSpPr/>
          <p:nvPr/>
        </p:nvSpPr>
        <p:spPr>
          <a:xfrm>
            <a:off x="4480560" y="2468880"/>
            <a:ext cx="3246120" cy="3383280"/>
          </a:xfrm>
          <a:prstGeom prst="rect">
            <a:avLst/>
          </a:prstGeom>
          <a:noFill/>
          <a:ln/>
        </p:spPr>
        <p:txBody>
          <a:bodyPr wrap="square" rtlCol="0" anchor="t"/>
          <a:lstStyle/>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Live stock sync with eRaktKosh / BBMS (with official approval)</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Train forecasts on real request &amp; stock data</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Rare-blood-group &amp; thalassemia recurring-need registries</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Stock-expiry alerts → redistribution between centres</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More Indian languages (Bengali, Tamil, Telugu…)</a:t>
            </a:r>
            <a:endParaRPr lang="en-US" sz="1300" dirty="0"/>
          </a:p>
        </p:txBody>
      </p:sp>
      <p:sp>
        <p:nvSpPr>
          <p:cNvPr id="16" name="Shape 14"/>
          <p:cNvSpPr/>
          <p:nvPr/>
        </p:nvSpPr>
        <p:spPr>
          <a:xfrm>
            <a:off x="7882128" y="1938528"/>
            <a:ext cx="146304" cy="0"/>
          </a:xfrm>
          <a:prstGeom prst="line">
            <a:avLst/>
          </a:prstGeom>
          <a:noFill/>
          <a:ln w="31750">
            <a:solidFill>
              <a:srgbClr val="5F5F5F"/>
            </a:solidFill>
            <a:prstDash val="solid"/>
            <a:tailEnd type="triangle"/>
          </a:ln>
        </p:spPr>
      </p:sp>
      <p:sp>
        <p:nvSpPr>
          <p:cNvPr id="17" name="Shape 15"/>
          <p:cNvSpPr/>
          <p:nvPr/>
        </p:nvSpPr>
        <p:spPr>
          <a:xfrm>
            <a:off x="8046720" y="1600200"/>
            <a:ext cx="3566160" cy="685800"/>
          </a:xfrm>
          <a:prstGeom prst="rect">
            <a:avLst/>
          </a:prstGeom>
          <a:solidFill>
            <a:srgbClr val="5A0F1C"/>
          </a:solidFill>
          <a:ln w="12700">
            <a:solidFill>
              <a:srgbClr val="5A0F1C"/>
            </a:solidFill>
            <a:prstDash val="solid"/>
          </a:ln>
        </p:spPr>
      </p:sp>
      <p:sp>
        <p:nvSpPr>
          <p:cNvPr id="18" name="Text 16"/>
          <p:cNvSpPr/>
          <p:nvPr/>
        </p:nvSpPr>
        <p:spPr>
          <a:xfrm>
            <a:off x="8229600" y="1600200"/>
            <a:ext cx="3291840" cy="685800"/>
          </a:xfrm>
          <a:prstGeom prst="rect">
            <a:avLst/>
          </a:prstGeom>
          <a:noFill/>
          <a:ln/>
        </p:spPr>
        <p:txBody>
          <a:bodyPr wrap="square" rtlCol="0" anchor="ctr"/>
          <a:lstStyle/>
          <a:p>
            <a:pPr indent="0" marL="0">
              <a:buNone/>
            </a:pPr>
            <a:r>
              <a:rPr lang="en-US" sz="1300" b="1" dirty="0">
                <a:solidFill>
                  <a:srgbClr val="F4A259"/>
                </a:solidFill>
                <a:latin typeface="Segoe UI" pitchFamily="34" charset="0"/>
                <a:ea typeface="Segoe UI" pitchFamily="34" charset="-122"/>
                <a:cs typeface="Segoe UI" pitchFamily="34" charset="-120"/>
              </a:rPr>
              <a:t>LATER  </a:t>
            </a:r>
            <a:pPr indent="0" marL="0">
              <a:buNone/>
            </a:pPr>
            <a:r>
              <a:rPr lang="en-US" sz="1800" b="1" dirty="0">
                <a:solidFill>
                  <a:srgbClr val="FFFFFF"/>
                </a:solidFill>
                <a:latin typeface="Segoe UI" pitchFamily="34" charset="0"/>
                <a:ea typeface="Segoe UI" pitchFamily="34" charset="-122"/>
                <a:cs typeface="Segoe UI" pitchFamily="34" charset="-120"/>
              </a:rPr>
              <a:t>National impact</a:t>
            </a:r>
            <a:endParaRPr lang="en-US" sz="1300" dirty="0"/>
          </a:p>
        </p:txBody>
      </p:sp>
      <p:sp>
        <p:nvSpPr>
          <p:cNvPr id="19" name="Shape 17"/>
          <p:cNvSpPr/>
          <p:nvPr/>
        </p:nvSpPr>
        <p:spPr>
          <a:xfrm>
            <a:off x="8046720" y="2286000"/>
            <a:ext cx="3566160" cy="3657600"/>
          </a:xfrm>
          <a:prstGeom prst="roundRect">
            <a:avLst>
              <a:gd name="adj" fmla="val 3077"/>
            </a:avLst>
          </a:prstGeom>
          <a:solidFill>
            <a:srgbClr val="FFFFFF"/>
          </a:solidFill>
          <a:ln w="12700">
            <a:solidFill>
              <a:srgbClr val="E9E9E9"/>
            </a:solidFill>
            <a:prstDash val="solid"/>
          </a:ln>
          <a:effectLst>
            <a:outerShdw sx="100000" sy="100000" kx="0" ky="0" algn="bl" rotWithShape="0" blurRad="76200" dist="25400" dir="5400000">
              <a:srgbClr val="000000">
                <a:alpha val="12000"/>
              </a:srgbClr>
            </a:outerShdw>
          </a:effectLst>
        </p:spPr>
      </p:sp>
      <p:sp>
        <p:nvSpPr>
          <p:cNvPr id="20" name="Text 18"/>
          <p:cNvSpPr/>
          <p:nvPr/>
        </p:nvSpPr>
        <p:spPr>
          <a:xfrm>
            <a:off x="8229600" y="2468880"/>
            <a:ext cx="3246120" cy="3383280"/>
          </a:xfrm>
          <a:prstGeom prst="rect">
            <a:avLst/>
          </a:prstGeom>
          <a:noFill/>
          <a:ln/>
        </p:spPr>
        <p:txBody>
          <a:bodyPr wrap="square" rtlCol="0" anchor="t"/>
          <a:lstStyle/>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ABHA (Ayushman Bharat) linked donor identity</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State / district shortage dashboards for health depts</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Approved token rewards via blood centres (if guidance allows)</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Ambulance / 108 &amp; hospital HIS integration</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IVR / SMS channel for feature phones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B0A1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102E"/>
          </a:solidFill>
          <a:ln w="12700">
            <a:solidFill>
              <a:srgbClr val="C8102E"/>
            </a:solidFill>
            <a:prstDash val="solid"/>
          </a:ln>
        </p:spPr>
      </p:sp>
      <p:sp>
        <p:nvSpPr>
          <p:cNvPr id="3" name="Text 1"/>
          <p:cNvSpPr/>
          <p:nvPr/>
        </p:nvSpPr>
        <p:spPr>
          <a:xfrm>
            <a:off x="411480" y="6446520"/>
            <a:ext cx="2743200" cy="274320"/>
          </a:xfrm>
          <a:prstGeom prst="rect">
            <a:avLst/>
          </a:prstGeom>
          <a:noFill/>
          <a:ln/>
        </p:spPr>
        <p:txBody>
          <a:bodyPr wrap="square" rtlCol="0" anchor="ctr"/>
          <a:lstStyle/>
          <a:p>
            <a:pPr indent="0" marL="0">
              <a:buNone/>
            </a:pPr>
            <a:r>
              <a:rPr lang="en-US" sz="1000" b="1" dirty="0">
                <a:solidFill>
                  <a:srgbClr val="F4A259"/>
                </a:solidFill>
                <a:latin typeface="Segoe UI" pitchFamily="34" charset="0"/>
                <a:ea typeface="Segoe UI" pitchFamily="34" charset="-122"/>
                <a:cs typeface="Segoe UI" pitchFamily="34" charset="-120"/>
              </a:rPr>
              <a:t>RaktDoot</a:t>
            </a:r>
            <a:endParaRPr lang="en-US" sz="1000" dirty="0"/>
          </a:p>
        </p:txBody>
      </p:sp>
      <p:sp>
        <p:nvSpPr>
          <p:cNvPr id="4" name="Text 2"/>
          <p:cNvSpPr/>
          <p:nvPr/>
        </p:nvSpPr>
        <p:spPr>
          <a:xfrm>
            <a:off x="11277295" y="6446520"/>
            <a:ext cx="548640" cy="274320"/>
          </a:xfrm>
          <a:prstGeom prst="rect">
            <a:avLst/>
          </a:prstGeom>
          <a:noFill/>
          <a:ln/>
        </p:spPr>
        <p:txBody>
          <a:bodyPr wrap="square" rtlCol="0" anchor="ctr"/>
          <a:lstStyle/>
          <a:p>
            <a:pPr algn="r" indent="0" marL="0">
              <a:buNone/>
            </a:pPr>
            <a:r>
              <a:rPr lang="en-US" sz="1000" dirty="0">
                <a:solidFill>
                  <a:srgbClr val="BBBBBB"/>
                </a:solidFill>
                <a:latin typeface="Segoe UI" pitchFamily="34" charset="0"/>
                <a:ea typeface="Segoe UI" pitchFamily="34" charset="-122"/>
                <a:cs typeface="Segoe UI" pitchFamily="34" charset="-120"/>
              </a:rPr>
              <a:t>17</a:t>
            </a:r>
            <a:endParaRPr lang="en-US" sz="1000" dirty="0"/>
          </a:p>
        </p:txBody>
      </p:sp>
      <p:sp>
        <p:nvSpPr>
          <p:cNvPr id="5" name="Text 3"/>
          <p:cNvSpPr/>
          <p:nvPr/>
        </p:nvSpPr>
        <p:spPr>
          <a:xfrm>
            <a:off x="640080" y="822960"/>
            <a:ext cx="1280160" cy="1280160"/>
          </a:xfrm>
          <a:prstGeom prst="rect">
            <a:avLst/>
          </a:prstGeom>
          <a:noFill/>
          <a:ln/>
        </p:spPr>
        <p:txBody>
          <a:bodyPr wrap="square" rtlCol="0" anchor="ctr"/>
          <a:lstStyle/>
          <a:p>
            <a:pPr indent="0" marL="0">
              <a:buNone/>
            </a:pPr>
            <a:r>
              <a:rPr lang="en-US" sz="6000" dirty="0">
                <a:solidFill>
                  <a:srgbClr val="000000"/>
                </a:solidFill>
              </a:rPr>
              <a:t>🩸</a:t>
            </a:r>
            <a:endParaRPr lang="en-US" sz="6000" dirty="0"/>
          </a:p>
        </p:txBody>
      </p:sp>
      <p:sp>
        <p:nvSpPr>
          <p:cNvPr id="6" name="Text 4"/>
          <p:cNvSpPr/>
          <p:nvPr/>
        </p:nvSpPr>
        <p:spPr>
          <a:xfrm>
            <a:off x="640080" y="2103120"/>
            <a:ext cx="10789920" cy="1280160"/>
          </a:xfrm>
          <a:prstGeom prst="rect">
            <a:avLst/>
          </a:prstGeom>
          <a:noFill/>
          <a:ln/>
        </p:spPr>
        <p:txBody>
          <a:bodyPr wrap="square" rtlCol="0" anchor="ctr"/>
          <a:lstStyle/>
          <a:p>
            <a:pPr indent="0" marL="0">
              <a:buNone/>
            </a:pPr>
            <a:r>
              <a:rPr lang="en-US" sz="4000" b="1" dirty="0">
                <a:solidFill>
                  <a:srgbClr val="FFFFFF"/>
                </a:solidFill>
                <a:latin typeface="Segoe UI" pitchFamily="34" charset="0"/>
                <a:ea typeface="Segoe UI" pitchFamily="34" charset="-122"/>
                <a:cs typeface="Segoe UI" pitchFamily="34" charset="-120"/>
              </a:rPr>
              <a:t>Every drop collected should reach a patient in time.</a:t>
            </a:r>
            <a:endParaRPr lang="en-US" sz="4000" dirty="0"/>
          </a:p>
        </p:txBody>
      </p:sp>
      <p:sp>
        <p:nvSpPr>
          <p:cNvPr id="7" name="Text 5"/>
          <p:cNvSpPr/>
          <p:nvPr/>
        </p:nvSpPr>
        <p:spPr>
          <a:xfrm>
            <a:off x="640080" y="3474720"/>
            <a:ext cx="10515600" cy="914400"/>
          </a:xfrm>
          <a:prstGeom prst="rect">
            <a:avLst/>
          </a:prstGeom>
          <a:noFill/>
          <a:ln/>
        </p:spPr>
        <p:txBody>
          <a:bodyPr wrap="square" rtlCol="0" anchor="ctr"/>
          <a:lstStyle/>
          <a:p>
            <a:pPr indent="0" marL="0">
              <a:buNone/>
            </a:pPr>
            <a:r>
              <a:rPr lang="en-US" sz="2000" dirty="0">
                <a:solidFill>
                  <a:srgbClr val="DDDDDD"/>
                </a:solidFill>
                <a:latin typeface="Segoe UI" pitchFamily="34" charset="0"/>
                <a:ea typeface="Segoe UI" pitchFamily="34" charset="-122"/>
                <a:cs typeface="Segoe UI" pitchFamily="34" charset="-120"/>
              </a:rPr>
              <a:t>RaktDoot turns a frightened request into a verified, tracked, closed case: families use a simple app, donors respond on WhatsApp, staff confirm every outcome.</a:t>
            </a:r>
            <a:endParaRPr lang="en-US" sz="2000" dirty="0"/>
          </a:p>
        </p:txBody>
      </p:sp>
      <p:sp>
        <p:nvSpPr>
          <p:cNvPr id="8" name="Shape 6"/>
          <p:cNvSpPr/>
          <p:nvPr/>
        </p:nvSpPr>
        <p:spPr>
          <a:xfrm>
            <a:off x="640080" y="4754880"/>
            <a:ext cx="7498080" cy="502920"/>
          </a:xfrm>
          <a:prstGeom prst="roundRect">
            <a:avLst>
              <a:gd name="adj" fmla="val 36364"/>
            </a:avLst>
          </a:prstGeom>
          <a:solidFill>
            <a:srgbClr val="C8102E"/>
          </a:solidFill>
          <a:ln w="12700">
            <a:solidFill>
              <a:srgbClr val="C8102E"/>
            </a:solidFill>
            <a:prstDash val="solid"/>
          </a:ln>
        </p:spPr>
      </p:sp>
      <p:sp>
        <p:nvSpPr>
          <p:cNvPr id="9" name="Text 7"/>
          <p:cNvSpPr/>
          <p:nvPr/>
        </p:nvSpPr>
        <p:spPr>
          <a:xfrm>
            <a:off x="640080" y="4754880"/>
            <a:ext cx="7498080" cy="50292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Partner with us: blood centres · hospitals · NGOs · state councils</a:t>
            </a:r>
            <a:endParaRPr lang="en-US" sz="1400" dirty="0"/>
          </a:p>
        </p:txBody>
      </p:sp>
      <p:sp>
        <p:nvSpPr>
          <p:cNvPr id="10" name="Text 8"/>
          <p:cNvSpPr/>
          <p:nvPr/>
        </p:nvSpPr>
        <p:spPr>
          <a:xfrm>
            <a:off x="640080" y="5577840"/>
            <a:ext cx="7315200" cy="457200"/>
          </a:xfrm>
          <a:prstGeom prst="rect">
            <a:avLst/>
          </a:prstGeom>
          <a:noFill/>
          <a:ln/>
        </p:spPr>
        <p:txBody>
          <a:bodyPr wrap="square" rtlCol="0" anchor="ctr"/>
          <a:lstStyle/>
          <a:p>
            <a:pPr indent="0" marL="0">
              <a:buNone/>
            </a:pPr>
            <a:r>
              <a:rPr lang="en-US" sz="2000" b="1" dirty="0">
                <a:solidFill>
                  <a:srgbClr val="F4A259"/>
                </a:solidFill>
                <a:latin typeface="Segoe UI" pitchFamily="34" charset="0"/>
                <a:ea typeface="Segoe UI" pitchFamily="34" charset="-122"/>
                <a:cs typeface="Segoe UI" pitchFamily="34" charset="-120"/>
              </a:rPr>
              <a:t>Thank you  ·  धन्यवाद</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8F5"/>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102E"/>
          </a:solidFill>
          <a:ln w="12700">
            <a:solidFill>
              <a:srgbClr val="C8102E"/>
            </a:solidFill>
            <a:prstDash val="solid"/>
          </a:ln>
        </p:spPr>
      </p:sp>
      <p:sp>
        <p:nvSpPr>
          <p:cNvPr id="3" name="Text 1"/>
          <p:cNvSpPr/>
          <p:nvPr/>
        </p:nvSpPr>
        <p:spPr>
          <a:xfrm>
            <a:off x="411480" y="6446520"/>
            <a:ext cx="2743200" cy="274320"/>
          </a:xfrm>
          <a:prstGeom prst="rect">
            <a:avLst/>
          </a:prstGeom>
          <a:noFill/>
          <a:ln/>
        </p:spPr>
        <p:txBody>
          <a:bodyPr wrap="square" rtlCol="0" anchor="ctr"/>
          <a:lstStyle/>
          <a:p>
            <a:pPr indent="0" marL="0">
              <a:buNone/>
            </a:pPr>
            <a:r>
              <a:rPr lang="en-US" sz="1000" b="1" dirty="0">
                <a:solidFill>
                  <a:srgbClr val="C8102E"/>
                </a:solidFill>
                <a:latin typeface="Segoe UI" pitchFamily="34" charset="0"/>
                <a:ea typeface="Segoe UI" pitchFamily="34" charset="-122"/>
                <a:cs typeface="Segoe UI" pitchFamily="34" charset="-120"/>
              </a:rPr>
              <a:t>RaktDoot</a:t>
            </a:r>
            <a:endParaRPr lang="en-US" sz="1000" dirty="0"/>
          </a:p>
        </p:txBody>
      </p:sp>
      <p:sp>
        <p:nvSpPr>
          <p:cNvPr id="4" name="Text 2"/>
          <p:cNvSpPr/>
          <p:nvPr/>
        </p:nvSpPr>
        <p:spPr>
          <a:xfrm>
            <a:off x="11277295" y="6446520"/>
            <a:ext cx="548640" cy="274320"/>
          </a:xfrm>
          <a:prstGeom prst="rect">
            <a:avLst/>
          </a:prstGeom>
          <a:noFill/>
          <a:ln/>
        </p:spPr>
        <p:txBody>
          <a:bodyPr wrap="square" rtlCol="0" anchor="ctr"/>
          <a:lstStyle/>
          <a:p>
            <a:pPr algn="r" indent="0" marL="0">
              <a:buNone/>
            </a:pPr>
            <a:r>
              <a:rPr lang="en-US" sz="1000" dirty="0">
                <a:solidFill>
                  <a:srgbClr val="5F5F5F"/>
                </a:solidFill>
                <a:latin typeface="Segoe UI" pitchFamily="34" charset="0"/>
                <a:ea typeface="Segoe UI" pitchFamily="34" charset="-122"/>
                <a:cs typeface="Segoe UI" pitchFamily="34" charset="-120"/>
              </a:rPr>
              <a:t>18</a:t>
            </a:r>
            <a:endParaRPr lang="en-US" sz="1000" dirty="0"/>
          </a:p>
        </p:txBody>
      </p:sp>
      <p:sp>
        <p:nvSpPr>
          <p:cNvPr id="5" name="Text 3"/>
          <p:cNvSpPr/>
          <p:nvPr/>
        </p:nvSpPr>
        <p:spPr>
          <a:xfrm>
            <a:off x="548640" y="320040"/>
            <a:ext cx="9144000" cy="320040"/>
          </a:xfrm>
          <a:prstGeom prst="rect">
            <a:avLst/>
          </a:prstGeom>
          <a:noFill/>
          <a:ln/>
        </p:spPr>
        <p:txBody>
          <a:bodyPr wrap="square" rtlCol="0" anchor="ctr"/>
          <a:lstStyle/>
          <a:p>
            <a:pPr indent="0" marL="0">
              <a:buNone/>
            </a:pPr>
            <a:r>
              <a:rPr lang="en-US" sz="1200" b="1" spc="300" kern="0" dirty="0">
                <a:solidFill>
                  <a:srgbClr val="C8102E"/>
                </a:solidFill>
                <a:latin typeface="Segoe UI" pitchFamily="34" charset="0"/>
                <a:ea typeface="Segoe UI" pitchFamily="34" charset="-122"/>
                <a:cs typeface="Segoe UI" pitchFamily="34" charset="-120"/>
              </a:rPr>
              <a:t>REFERENCES</a:t>
            </a:r>
            <a:endParaRPr lang="en-US" sz="1200" dirty="0"/>
          </a:p>
        </p:txBody>
      </p:sp>
      <p:sp>
        <p:nvSpPr>
          <p:cNvPr id="6" name="Text 4"/>
          <p:cNvSpPr/>
          <p:nvPr/>
        </p:nvSpPr>
        <p:spPr>
          <a:xfrm>
            <a:off x="548640" y="640080"/>
            <a:ext cx="11064240" cy="777240"/>
          </a:xfrm>
          <a:prstGeom prst="rect">
            <a:avLst/>
          </a:prstGeom>
          <a:noFill/>
          <a:ln/>
        </p:spPr>
        <p:txBody>
          <a:bodyPr wrap="square" rtlCol="0" anchor="ctr"/>
          <a:lstStyle/>
          <a:p>
            <a:pPr indent="0" marL="0">
              <a:buNone/>
            </a:pPr>
            <a:r>
              <a:rPr lang="en-US" sz="3000" b="1" dirty="0">
                <a:solidFill>
                  <a:srgbClr val="2B0A10"/>
                </a:solidFill>
                <a:latin typeface="Segoe UI" pitchFamily="34" charset="0"/>
                <a:ea typeface="Segoe UI" pitchFamily="34" charset="-122"/>
                <a:cs typeface="Segoe UI" pitchFamily="34" charset="-120"/>
              </a:rPr>
              <a:t>Sources for statistics</a:t>
            </a:r>
            <a:endParaRPr lang="en-US" sz="3000" dirty="0"/>
          </a:p>
        </p:txBody>
      </p:sp>
      <p:sp>
        <p:nvSpPr>
          <p:cNvPr id="7" name="Text 5"/>
          <p:cNvSpPr/>
          <p:nvPr/>
        </p:nvSpPr>
        <p:spPr>
          <a:xfrm>
            <a:off x="548640" y="1508760"/>
            <a:ext cx="11064240" cy="4572000"/>
          </a:xfrm>
          <a:prstGeom prst="rect">
            <a:avLst/>
          </a:prstGeom>
          <a:noFill/>
          <a:ln/>
        </p:spPr>
        <p:txBody>
          <a:bodyPr wrap="square" rtlCol="0" anchor="t"/>
          <a:lstStyle/>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Govt. of India in Parliament (2025): annual requirement ~14.6 million units; 14.6M collected in 2024-25 (via ORF Expert Speak, Oct 2025)</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Rajya Sabha state-wise data via Times of India (Aug 2026): 1.58 Cr units collected and 17.4 L components discarded in 2025; expiry the leading reason</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Union Health Ministry / NACO review via Outlook India (Apr 2026): ~10% districts lack a blood centre; many centres not on eRaktKosh / BBMS</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Kundu et al., BMJ Global Health 2024; 9:e015637: blood deserts in 8 northern states; only 61% can reach a blood-equipped facility within 1 hour</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Jindal &amp; Nair, ISBT Transfusion Today (Jul 2025): ~4,263 blood centres, 29% govt hospital-based; platelet supply ~77.5% of demand</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Mammen et al., PLOS One 2022; 17(4):e0265951: national clinical demand &amp; supply of blood in India</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MoRTH, Road Accidents in India 2023: ~1.73 lakh deaths</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Montgomery et al. (Million Death Study), PLOS One 2014: haemorrhage caused 38% of maternal deaths (2001-03)</a:t>
            </a:r>
            <a:endParaRPr lang="en-US" sz="1300" dirty="0"/>
          </a:p>
          <a:p>
            <a:pPr marL="342900" indent="-342900">
              <a:spcAft>
                <a:spcPts val="600"/>
              </a:spcAft>
              <a:buSzPct val="100000"/>
              <a:buChar char="●"/>
            </a:pPr>
            <a:r>
              <a:rPr lang="en-US" sz="1300" dirty="0">
                <a:solidFill>
                  <a:srgbClr val="222222"/>
                </a:solidFill>
                <a:latin typeface="Segoe UI" pitchFamily="34" charset="0"/>
                <a:ea typeface="Segoe UI" pitchFamily="34" charset="-122"/>
                <a:cs typeface="Segoe UI" pitchFamily="34" charset="-120"/>
              </a:rPr>
              <a:t>WHO Fact sheet, Blood safety and availability (Jun 2026)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Team RaktDoot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RaktDoot - from blood request to confirmed response</dc:title>
  <dc:subject>PptxGenJS Presentation</dc:subject>
  <dc:creator>PptxGenJS</dc:creator>
  <cp:lastModifiedBy>PptxGenJS</cp:lastModifiedBy>
  <cp:revision>1</cp:revision>
  <dcterms:created xsi:type="dcterms:W3CDTF">2026-10-10T12:24:24Z</dcterms:created>
  <dcterms:modified xsi:type="dcterms:W3CDTF">2026-10-10T12:24:24Z</dcterms:modified>
</cp:coreProperties>
</file>